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We are Group 2. Our topic is AI failure prediction under changing data. Can a model warn us when it may be wrong, even when its inputs change? We will connect our three papers and explain our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models often give a confidence score with each answer. We may think a high score means the answer is safe. But models can be confident and still wrong, especially when data changes after deployment. Our goal is not only accurate predictions. We also want to know when we should not trust an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paper compares confidence calibration with failure prediction. It shows that better calibration does not always mean better error detection. Some methods make correct and wrong predictions look too similar in confidence. The authors propose FMFP, a method that encourages flatter minima during training. In our project, FMFP gives us the main image classifier and its confidence score. We want to know if this score still works when data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second paper introduces Risk Advisor. Instead of changing the classifier, it trains a separate model to estimate when the classifier may be wrong. It also studies sources of uncertainty, like noisy data and unseen examples. One confidence score may not tell us why a prediction is risky. In our project, we plan to train a Risk Advisor using validation predictions. Then we compare its risk score with the confidence score from FMFP.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third paper studies AI model aging. The authors tested four models on 32 datasets. Model quality became worse over time in many cases, sometimes slowly and sometimes suddenly. So, good performance today may not last. Our project does not repeat this real-time experiment. Instead, we use CIFAR-10-C to make images harder. This is a different kind of test, but it helps us study whether error warnings stay useful when conditions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papers lead to one question: when data becomes harder, which warning signal can we trust? Paper 1 gives us FMFP confidence. Paper 2 gives us a separate risk model. Paper 3 motivates testing reliability when conditions change. We bring these ideas together in one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planned workflow. First, we train FMFP using CIFAR-10, with training, validation, and test sets. Next, we use validation predictions to train Risk Advisor to recognize the base model's mistakes. Then we test both warning signals on clean CIFAR-10 and on CIFAR-10-C at severity levels one through five. As images become more damaged, which score is better at finding wrong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 with CIFAR-10. Our reported split is 45,000 training images, 5,000 validation images, and 10,000 test images. CIFAR-10-C provides image damage at five severity levels. We plan to measure AUROC and AURC, plus E-AURC and FPR95. These numbers help us see how well each method separates mistakes from correct answers and ranks risky predictions. We compare both methods under the same test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latest code check-in reports several development steps. We started the official FMFP code with CIFAR-10 and fixed a Windows issue. We added code for Risk Advisor, CIFAR-10-C, metrics, severity testing, and plots. We also checked that our AURC calculation matches the original code. These are development steps, not final results. We have not yet confirmed a complete table of comparison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experiment compares FMFP confidence with Risk Advisor's risk score. At each severity level, we will check how well both methods find wrong predictions. We will show the results in tables and graphs, not just one number. There is an important limit: more image damage is not the same as more time passing. So CIFAR-10-C does not directly test model 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will finish full training and evaluation, check the Risk Advisor results, and make comparison graphs. We also need to prepare a public GitHub repository and dataset links. Then we can discuss which signal is more reliable and when it fails. Our main question is practical: can AI warn us when it may be wrong, even when data changes?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426"/>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47DAC5"/>
          </a:solidFill>
          <a:ln w="12700">
            <a:solidFill>
              <a:srgbClr val="47DAC5">
                <a:alpha val="0"/>
              </a:srgbClr>
            </a:solidFill>
            <a:prstDash val="solid"/>
          </a:ln>
        </p:spPr>
      </p:sp>
      <p:sp>
        <p:nvSpPr>
          <p:cNvPr id="3" name="Shape 1"/>
          <p:cNvSpPr/>
          <p:nvPr/>
        </p:nvSpPr>
        <p:spPr>
          <a:xfrm>
            <a:off x="676656" y="457200"/>
            <a:ext cx="10844784" cy="0"/>
          </a:xfrm>
          <a:prstGeom prst="line">
            <a:avLst/>
          </a:prstGeom>
          <a:noFill/>
          <a:ln w="8890">
            <a:solidFill>
              <a:srgbClr val="304861"/>
            </a:solidFill>
            <a:prstDash val="solid"/>
          </a:ln>
        </p:spPr>
      </p:sp>
      <p:sp>
        <p:nvSpPr>
          <p:cNvPr id="4" name="Text 2"/>
          <p:cNvSpPr/>
          <p:nvPr/>
        </p:nvSpPr>
        <p:spPr>
          <a:xfrm>
            <a:off x="676656" y="182880"/>
            <a:ext cx="4572000" cy="201168"/>
          </a:xfrm>
          <a:prstGeom prst="rect">
            <a:avLst/>
          </a:prstGeom>
          <a:noFill/>
          <a:ln/>
        </p:spPr>
        <p:txBody>
          <a:bodyPr wrap="square" lIns="0" tIns="0" rIns="0" bIns="0" rtlCol="0" anchor="ctr">
            <a:normAutofit/>
          </a:bodyPr>
          <a:lstStyle/>
          <a:p>
            <a:pPr indent="0" marL="0">
              <a:buNone/>
            </a:pPr>
            <a:r>
              <a:rPr lang="en-US" sz="970" b="1" spc="120" kern="0" dirty="0">
                <a:solidFill>
                  <a:srgbClr val="AFBED0"/>
                </a:solidFill>
                <a:latin typeface="Aptos" pitchFamily="34" charset="0"/>
                <a:ea typeface="Aptos" pitchFamily="34" charset="-122"/>
                <a:cs typeface="Aptos" pitchFamily="34" charset="-120"/>
              </a:rPr>
              <a:t>DS 340W  /  GROUP 2</a:t>
            </a:r>
            <a:endParaRPr lang="en-US" sz="970" dirty="0"/>
          </a:p>
        </p:txBody>
      </p:sp>
      <p:sp>
        <p:nvSpPr>
          <p:cNvPr id="5" name="Text 3"/>
          <p:cNvSpPr/>
          <p:nvPr/>
        </p:nvSpPr>
        <p:spPr>
          <a:xfrm>
            <a:off x="9235440" y="201168"/>
            <a:ext cx="2212848" cy="164592"/>
          </a:xfrm>
          <a:prstGeom prst="rect">
            <a:avLst/>
          </a:prstGeom>
          <a:noFill/>
          <a:ln/>
        </p:spPr>
        <p:txBody>
          <a:bodyPr wrap="square" lIns="0" tIns="0" rIns="0" bIns="0" rtlCol="0" anchor="ctr">
            <a:normAutofit/>
          </a:bodyPr>
          <a:lstStyle/>
          <a:p>
            <a:pPr algn="r" indent="0" marL="0">
              <a:buNone/>
            </a:pPr>
            <a:r>
              <a:rPr lang="en-US" sz="920" b="1" dirty="0">
                <a:solidFill>
                  <a:srgbClr val="AFBED0"/>
                </a:solidFill>
                <a:latin typeface="Aptos" pitchFamily="34" charset="0"/>
                <a:ea typeface="Aptos" pitchFamily="34" charset="-122"/>
                <a:cs typeface="Aptos" pitchFamily="34" charset="-120"/>
              </a:rPr>
              <a:t>INTRODUCTION</a:t>
            </a:r>
            <a:endParaRPr lang="en-US" sz="920" dirty="0"/>
          </a:p>
        </p:txBody>
      </p:sp>
      <p:sp>
        <p:nvSpPr>
          <p:cNvPr id="6" name="Shape 4"/>
          <p:cNvSpPr/>
          <p:nvPr/>
        </p:nvSpPr>
        <p:spPr>
          <a:xfrm>
            <a:off x="676656" y="6382512"/>
            <a:ext cx="10853928" cy="0"/>
          </a:xfrm>
          <a:prstGeom prst="line">
            <a:avLst/>
          </a:prstGeom>
          <a:noFill/>
          <a:ln w="8890">
            <a:solidFill>
              <a:srgbClr val="304861"/>
            </a:solidFill>
            <a:prstDash val="solid"/>
          </a:ln>
        </p:spPr>
      </p:sp>
      <p:sp>
        <p:nvSpPr>
          <p:cNvPr id="7" name="Text 5"/>
          <p:cNvSpPr/>
          <p:nvPr/>
        </p:nvSpPr>
        <p:spPr>
          <a:xfrm>
            <a:off x="694944" y="6519672"/>
            <a:ext cx="1188720" cy="155448"/>
          </a:xfrm>
          <a:prstGeom prst="rect">
            <a:avLst/>
          </a:prstGeom>
          <a:noFill/>
          <a:ln/>
        </p:spPr>
        <p:txBody>
          <a:bodyPr wrap="square" lIns="0" tIns="0" rIns="0" bIns="0" rtlCol="0" anchor="ctr">
            <a:normAutofit/>
          </a:bodyPr>
          <a:lstStyle/>
          <a:p>
            <a:pPr indent="0" marL="0">
              <a:buNone/>
            </a:pPr>
            <a:r>
              <a:rPr lang="en-US" sz="1000" b="1" dirty="0">
                <a:solidFill>
                  <a:srgbClr val="AFBED0"/>
                </a:solidFill>
                <a:latin typeface="Aptos" pitchFamily="34" charset="0"/>
                <a:ea typeface="Aptos" pitchFamily="34" charset="-122"/>
                <a:cs typeface="Aptos" pitchFamily="34" charset="-120"/>
              </a:rPr>
              <a:t>01 / 11</a:t>
            </a:r>
            <a:endParaRPr lang="en-US" sz="1000" dirty="0"/>
          </a:p>
        </p:txBody>
      </p:sp>
      <p:sp>
        <p:nvSpPr>
          <p:cNvPr id="8" name="Text 6"/>
          <p:cNvSpPr/>
          <p:nvPr/>
        </p:nvSpPr>
        <p:spPr>
          <a:xfrm>
            <a:off x="8503920" y="6510528"/>
            <a:ext cx="2971800" cy="173736"/>
          </a:xfrm>
          <a:prstGeom prst="rect">
            <a:avLst/>
          </a:prstGeom>
          <a:noFill/>
          <a:ln/>
        </p:spPr>
        <p:txBody>
          <a:bodyPr wrap="square" lIns="0" tIns="0" rIns="0" bIns="0" rtlCol="0" anchor="ctr">
            <a:normAutofit/>
          </a:bodyPr>
          <a:lstStyle/>
          <a:p>
            <a:pPr algn="r" indent="0" marL="0">
              <a:buNone/>
            </a:pPr>
            <a:r>
              <a:rPr lang="en-US" sz="970" b="1" dirty="0">
                <a:solidFill>
                  <a:srgbClr val="AFBED0"/>
                </a:solidFill>
                <a:latin typeface="Aptos" pitchFamily="34" charset="0"/>
                <a:ea typeface="Aptos" pitchFamily="34" charset="-122"/>
                <a:cs typeface="Aptos" pitchFamily="34" charset="-120"/>
              </a:rPr>
              <a:t>SPEAKER  TAEGWON</a:t>
            </a:r>
            <a:endParaRPr lang="en-US" sz="970" dirty="0"/>
          </a:p>
        </p:txBody>
      </p:sp>
      <p:sp>
        <p:nvSpPr>
          <p:cNvPr id="10" name="Text 7"/>
          <p:cNvSpPr/>
          <p:nvPr/>
        </p:nvSpPr>
        <p:spPr>
          <a:xfrm>
            <a:off x="731520" y="1060704"/>
            <a:ext cx="7315200" cy="201168"/>
          </a:xfrm>
          <a:prstGeom prst="rect">
            <a:avLst/>
          </a:prstGeom>
          <a:noFill/>
          <a:ln/>
        </p:spPr>
        <p:txBody>
          <a:bodyPr wrap="square" lIns="0" tIns="0" rIns="0" bIns="0" rtlCol="0" anchor="ctr">
            <a:normAutofit/>
          </a:bodyPr>
          <a:lstStyle/>
          <a:p>
            <a:pPr indent="0" marL="0">
              <a:buNone/>
            </a:pPr>
            <a:r>
              <a:rPr lang="en-US" sz="970" b="1" spc="120" kern="0" dirty="0">
                <a:solidFill>
                  <a:srgbClr val="47DAC5"/>
                </a:solidFill>
                <a:latin typeface="Aptos" pitchFamily="34" charset="0"/>
                <a:ea typeface="Aptos" pitchFamily="34" charset="-122"/>
                <a:cs typeface="Aptos" pitchFamily="34" charset="-120"/>
              </a:rPr>
              <a:t>MIDTERM RESEARCH PRESENTATION</a:t>
            </a:r>
            <a:endParaRPr lang="en-US" sz="970" dirty="0"/>
          </a:p>
        </p:txBody>
      </p:sp>
      <p:sp>
        <p:nvSpPr>
          <p:cNvPr id="11" name="Text 8"/>
          <p:cNvSpPr/>
          <p:nvPr/>
        </p:nvSpPr>
        <p:spPr>
          <a:xfrm>
            <a:off x="713232" y="1508760"/>
            <a:ext cx="7498080" cy="2011680"/>
          </a:xfrm>
          <a:prstGeom prst="rect">
            <a:avLst/>
          </a:prstGeom>
          <a:noFill/>
          <a:ln/>
        </p:spPr>
        <p:txBody>
          <a:bodyPr wrap="square" lIns="0" tIns="0" rIns="0" bIns="0" rtlCol="0" anchor="ctr">
            <a:normAutofit/>
          </a:bodyPr>
          <a:lstStyle/>
          <a:p>
            <a:pPr indent="0" marL="0">
              <a:buNone/>
            </a:pPr>
            <a:r>
              <a:rPr lang="en-US" sz="4800" b="1" dirty="0">
                <a:solidFill>
                  <a:srgbClr val="F4F9FC"/>
                </a:solidFill>
                <a:latin typeface="Aptos" pitchFamily="34" charset="0"/>
                <a:ea typeface="Aptos" pitchFamily="34" charset="-122"/>
                <a:cs typeface="Aptos" pitchFamily="34" charset="-120"/>
              </a:rPr>
              <a:t>When AI Confidence</a:t>
            </a:r>
            <a:endParaRPr lang="en-US" sz="4800" dirty="0"/>
          </a:p>
          <a:p>
            <a:pPr indent="0" marL="0">
              <a:buNone/>
            </a:pPr>
            <a:r>
              <a:rPr lang="en-US" sz="4800" b="1" dirty="0">
                <a:solidFill>
                  <a:srgbClr val="F4F9FC"/>
                </a:solidFill>
                <a:latin typeface="Aptos" pitchFamily="34" charset="0"/>
                <a:ea typeface="Aptos" pitchFamily="34" charset="-122"/>
                <a:cs typeface="Aptos" pitchFamily="34" charset="-120"/>
              </a:rPr>
              <a:t>Fails</a:t>
            </a:r>
            <a:endParaRPr lang="en-US" sz="4800" dirty="0"/>
          </a:p>
        </p:txBody>
      </p:sp>
      <p:sp>
        <p:nvSpPr>
          <p:cNvPr id="12" name="Text 9"/>
          <p:cNvSpPr/>
          <p:nvPr/>
        </p:nvSpPr>
        <p:spPr>
          <a:xfrm>
            <a:off x="740664" y="3877056"/>
            <a:ext cx="7863840" cy="438912"/>
          </a:xfrm>
          <a:prstGeom prst="rect">
            <a:avLst/>
          </a:prstGeom>
          <a:noFill/>
          <a:ln/>
        </p:spPr>
        <p:txBody>
          <a:bodyPr wrap="square" lIns="0" tIns="0" rIns="0" bIns="0" rtlCol="0" anchor="ctr">
            <a:normAutofit/>
          </a:bodyPr>
          <a:lstStyle/>
          <a:p>
            <a:pPr indent="0" marL="0">
              <a:buNone/>
            </a:pPr>
            <a:r>
              <a:rPr lang="en-US" sz="2100" dirty="0">
                <a:solidFill>
                  <a:srgbClr val="D3DEE8"/>
                </a:solidFill>
                <a:latin typeface="Aptos" pitchFamily="34" charset="0"/>
                <a:ea typeface="Aptos" pitchFamily="34" charset="-122"/>
                <a:cs typeface="Aptos" pitchFamily="34" charset="-120"/>
              </a:rPr>
              <a:t>Reliable failure prediction under changing data</a:t>
            </a:r>
            <a:endParaRPr lang="en-US" sz="2100" dirty="0"/>
          </a:p>
        </p:txBody>
      </p:sp>
      <p:sp>
        <p:nvSpPr>
          <p:cNvPr id="13" name="Shape 10"/>
          <p:cNvSpPr/>
          <p:nvPr/>
        </p:nvSpPr>
        <p:spPr>
          <a:xfrm>
            <a:off x="740664" y="4718304"/>
            <a:ext cx="2148840" cy="365760"/>
          </a:xfrm>
          <a:prstGeom prst="roundRect">
            <a:avLst>
              <a:gd name="adj" fmla="val 37500"/>
            </a:avLst>
          </a:prstGeom>
          <a:solidFill>
            <a:srgbClr val="192E47"/>
          </a:solidFill>
          <a:ln w="10795">
            <a:solidFill>
              <a:srgbClr val="304861"/>
            </a:solidFill>
            <a:prstDash val="solid"/>
          </a:ln>
        </p:spPr>
      </p:sp>
      <p:sp>
        <p:nvSpPr>
          <p:cNvPr id="14" name="Text 11"/>
          <p:cNvSpPr/>
          <p:nvPr/>
        </p:nvSpPr>
        <p:spPr>
          <a:xfrm>
            <a:off x="822960" y="4768596"/>
            <a:ext cx="1984248" cy="246888"/>
          </a:xfrm>
          <a:prstGeom prst="rect">
            <a:avLst/>
          </a:prstGeom>
          <a:noFill/>
          <a:ln/>
        </p:spPr>
        <p:txBody>
          <a:bodyPr wrap="square" lIns="0" tIns="0" rIns="0" bIns="0" rtlCol="0" anchor="ctr">
            <a:normAutofit/>
          </a:bodyPr>
          <a:lstStyle/>
          <a:p>
            <a:pPr algn="ctr" indent="0" marL="0">
              <a:buNone/>
            </a:pPr>
            <a:r>
              <a:rPr lang="en-US" sz="1140" b="1" dirty="0">
                <a:solidFill>
                  <a:srgbClr val="47DAC5"/>
                </a:solidFill>
                <a:latin typeface="Aptos" pitchFamily="34" charset="0"/>
                <a:ea typeface="Aptos" pitchFamily="34" charset="-122"/>
                <a:cs typeface="Aptos" pitchFamily="34" charset="-120"/>
              </a:rPr>
              <a:t>PAPER 1  •  FMFP</a:t>
            </a:r>
            <a:endParaRPr lang="en-US" sz="1140" dirty="0"/>
          </a:p>
        </p:txBody>
      </p:sp>
      <p:sp>
        <p:nvSpPr>
          <p:cNvPr id="15" name="Shape 12"/>
          <p:cNvSpPr/>
          <p:nvPr/>
        </p:nvSpPr>
        <p:spPr>
          <a:xfrm>
            <a:off x="3017520" y="4718304"/>
            <a:ext cx="2148840" cy="365760"/>
          </a:xfrm>
          <a:prstGeom prst="roundRect">
            <a:avLst>
              <a:gd name="adj" fmla="val 37500"/>
            </a:avLst>
          </a:prstGeom>
          <a:solidFill>
            <a:srgbClr val="192E47"/>
          </a:solidFill>
          <a:ln w="10795">
            <a:solidFill>
              <a:srgbClr val="304861"/>
            </a:solidFill>
            <a:prstDash val="solid"/>
          </a:ln>
        </p:spPr>
      </p:sp>
      <p:sp>
        <p:nvSpPr>
          <p:cNvPr id="16" name="Text 13"/>
          <p:cNvSpPr/>
          <p:nvPr/>
        </p:nvSpPr>
        <p:spPr>
          <a:xfrm>
            <a:off x="3099816" y="4768596"/>
            <a:ext cx="1984248" cy="246888"/>
          </a:xfrm>
          <a:prstGeom prst="rect">
            <a:avLst/>
          </a:prstGeom>
          <a:noFill/>
          <a:ln/>
        </p:spPr>
        <p:txBody>
          <a:bodyPr wrap="square" lIns="0" tIns="0" rIns="0" bIns="0" rtlCol="0" anchor="ctr">
            <a:normAutofit/>
          </a:bodyPr>
          <a:lstStyle/>
          <a:p>
            <a:pPr algn="ctr" indent="0" marL="0">
              <a:buNone/>
            </a:pPr>
            <a:r>
              <a:rPr lang="en-US" sz="1140" b="1" dirty="0">
                <a:solidFill>
                  <a:srgbClr val="F5BE70"/>
                </a:solidFill>
                <a:latin typeface="Aptos" pitchFamily="34" charset="0"/>
                <a:ea typeface="Aptos" pitchFamily="34" charset="-122"/>
                <a:cs typeface="Aptos" pitchFamily="34" charset="-120"/>
              </a:rPr>
              <a:t>PAPER 2  •  RISK</a:t>
            </a:r>
            <a:endParaRPr lang="en-US" sz="1140" dirty="0"/>
          </a:p>
        </p:txBody>
      </p:sp>
      <p:sp>
        <p:nvSpPr>
          <p:cNvPr id="17" name="Shape 14"/>
          <p:cNvSpPr/>
          <p:nvPr/>
        </p:nvSpPr>
        <p:spPr>
          <a:xfrm>
            <a:off x="5294376" y="4718304"/>
            <a:ext cx="2240280" cy="365760"/>
          </a:xfrm>
          <a:prstGeom prst="roundRect">
            <a:avLst>
              <a:gd name="adj" fmla="val 37500"/>
            </a:avLst>
          </a:prstGeom>
          <a:solidFill>
            <a:srgbClr val="192E47"/>
          </a:solidFill>
          <a:ln w="10795">
            <a:solidFill>
              <a:srgbClr val="304861"/>
            </a:solidFill>
            <a:prstDash val="solid"/>
          </a:ln>
        </p:spPr>
      </p:sp>
      <p:sp>
        <p:nvSpPr>
          <p:cNvPr id="18" name="Text 15"/>
          <p:cNvSpPr/>
          <p:nvPr/>
        </p:nvSpPr>
        <p:spPr>
          <a:xfrm>
            <a:off x="5376672" y="4768596"/>
            <a:ext cx="2075688" cy="246888"/>
          </a:xfrm>
          <a:prstGeom prst="rect">
            <a:avLst/>
          </a:prstGeom>
          <a:noFill/>
          <a:ln/>
        </p:spPr>
        <p:txBody>
          <a:bodyPr wrap="square" lIns="0" tIns="0" rIns="0" bIns="0" rtlCol="0" anchor="ctr">
            <a:normAutofit/>
          </a:bodyPr>
          <a:lstStyle/>
          <a:p>
            <a:pPr algn="ctr" indent="0" marL="0">
              <a:buNone/>
            </a:pPr>
            <a:r>
              <a:rPr lang="en-US" sz="1140" b="1" dirty="0">
                <a:solidFill>
                  <a:srgbClr val="B4A3F5"/>
                </a:solidFill>
                <a:latin typeface="Aptos" pitchFamily="34" charset="0"/>
                <a:ea typeface="Aptos" pitchFamily="34" charset="-122"/>
                <a:cs typeface="Aptos" pitchFamily="34" charset="-120"/>
              </a:rPr>
              <a:t>PAPER 3  •  AGING</a:t>
            </a:r>
            <a:endParaRPr lang="en-US" sz="1140" dirty="0"/>
          </a:p>
        </p:txBody>
      </p:sp>
      <p:sp>
        <p:nvSpPr>
          <p:cNvPr id="19" name="Shape 16"/>
          <p:cNvSpPr/>
          <p:nvPr/>
        </p:nvSpPr>
        <p:spPr>
          <a:xfrm>
            <a:off x="8641080" y="1234440"/>
            <a:ext cx="2843784" cy="4480560"/>
          </a:xfrm>
          <a:prstGeom prst="roundRect">
            <a:avLst>
              <a:gd name="adj" fmla="val 7395"/>
            </a:avLst>
          </a:prstGeom>
          <a:solidFill>
            <a:srgbClr val="14273F"/>
          </a:solidFill>
          <a:ln w="10795">
            <a:solidFill>
              <a:srgbClr val="304861"/>
            </a:solidFill>
            <a:prstDash val="solid"/>
          </a:ln>
        </p:spPr>
      </p:sp>
      <p:sp>
        <p:nvSpPr>
          <p:cNvPr id="20" name="Text 17"/>
          <p:cNvSpPr/>
          <p:nvPr/>
        </p:nvSpPr>
        <p:spPr>
          <a:xfrm>
            <a:off x="8988552" y="1691640"/>
            <a:ext cx="2057400" cy="201168"/>
          </a:xfrm>
          <a:prstGeom prst="rect">
            <a:avLst/>
          </a:prstGeom>
          <a:noFill/>
          <a:ln/>
        </p:spPr>
        <p:txBody>
          <a:bodyPr wrap="square" lIns="0" tIns="0" rIns="0" bIns="0" rtlCol="0" anchor="ctr">
            <a:normAutofit/>
          </a:bodyPr>
          <a:lstStyle/>
          <a:p>
            <a:pPr indent="0" marL="0">
              <a:buNone/>
            </a:pPr>
            <a:r>
              <a:rPr lang="en-US" sz="970" b="1" spc="120" kern="0" dirty="0">
                <a:solidFill>
                  <a:srgbClr val="F5BE70"/>
                </a:solidFill>
                <a:latin typeface="Aptos" pitchFamily="34" charset="0"/>
                <a:ea typeface="Aptos" pitchFamily="34" charset="-122"/>
                <a:cs typeface="Aptos" pitchFamily="34" charset="-120"/>
              </a:rPr>
              <a:t>RESEARCH QUESTION</a:t>
            </a:r>
            <a:endParaRPr lang="en-US" sz="970" dirty="0"/>
          </a:p>
        </p:txBody>
      </p:sp>
      <p:sp>
        <p:nvSpPr>
          <p:cNvPr id="21" name="Text 18"/>
          <p:cNvSpPr/>
          <p:nvPr/>
        </p:nvSpPr>
        <p:spPr>
          <a:xfrm>
            <a:off x="8988552" y="2267712"/>
            <a:ext cx="2240280" cy="2103120"/>
          </a:xfrm>
          <a:prstGeom prst="rect">
            <a:avLst/>
          </a:prstGeom>
          <a:noFill/>
          <a:ln/>
        </p:spPr>
        <p:txBody>
          <a:bodyPr wrap="square" lIns="0" tIns="0" rIns="0" bIns="0" rtlCol="0" anchor="ctr">
            <a:normAutofit/>
          </a:bodyPr>
          <a:lstStyle/>
          <a:p>
            <a:pPr indent="0" marL="0">
              <a:buNone/>
            </a:pPr>
            <a:r>
              <a:rPr lang="en-US" sz="3100" b="1" dirty="0">
                <a:solidFill>
                  <a:srgbClr val="F4F9FC"/>
                </a:solidFill>
                <a:latin typeface="Aptos" pitchFamily="34" charset="0"/>
                <a:ea typeface="Aptos" pitchFamily="34" charset="-122"/>
                <a:cs typeface="Aptos" pitchFamily="34" charset="-120"/>
              </a:rPr>
              <a:t>Can we still</a:t>
            </a:r>
            <a:endParaRPr lang="en-US" sz="3100" dirty="0"/>
          </a:p>
          <a:p>
            <a:pPr indent="0" marL="0">
              <a:buNone/>
            </a:pPr>
            <a:r>
              <a:rPr lang="en-US" sz="3100" b="1" dirty="0">
                <a:solidFill>
                  <a:srgbClr val="F4F9FC"/>
                </a:solidFill>
                <a:latin typeface="Aptos" pitchFamily="34" charset="0"/>
                <a:ea typeface="Aptos" pitchFamily="34" charset="-122"/>
                <a:cs typeface="Aptos" pitchFamily="34" charset="-120"/>
              </a:rPr>
              <a:t>trust the</a:t>
            </a:r>
            <a:endParaRPr lang="en-US" sz="3100" dirty="0"/>
          </a:p>
          <a:p>
            <a:pPr indent="0" marL="0">
              <a:buNone/>
            </a:pPr>
            <a:r>
              <a:rPr lang="en-US" sz="3100" b="1" dirty="0">
                <a:solidFill>
                  <a:srgbClr val="F4F9FC"/>
                </a:solidFill>
                <a:latin typeface="Aptos" pitchFamily="34" charset="0"/>
                <a:ea typeface="Aptos" pitchFamily="34" charset="-122"/>
                <a:cs typeface="Aptos" pitchFamily="34" charset="-120"/>
              </a:rPr>
              <a:t>warning?</a:t>
            </a:r>
            <a:endParaRPr lang="en-US" sz="3100" dirty="0"/>
          </a:p>
        </p:txBody>
      </p:sp>
      <p:sp>
        <p:nvSpPr>
          <p:cNvPr id="22" name="Text 19"/>
          <p:cNvSpPr/>
          <p:nvPr/>
        </p:nvSpPr>
        <p:spPr>
          <a:xfrm>
            <a:off x="740664" y="5779008"/>
            <a:ext cx="6949440" cy="246888"/>
          </a:xfrm>
          <a:prstGeom prst="rect">
            <a:avLst/>
          </a:prstGeom>
          <a:noFill/>
          <a:ln/>
        </p:spPr>
        <p:txBody>
          <a:bodyPr wrap="square" lIns="0" tIns="0" rIns="0" bIns="0" rtlCol="0" anchor="ctr">
            <a:normAutofit/>
          </a:bodyPr>
          <a:lstStyle/>
          <a:p>
            <a:pPr indent="0" marL="0">
              <a:buNone/>
            </a:pPr>
            <a:r>
              <a:rPr lang="en-US" sz="1500" dirty="0">
                <a:solidFill>
                  <a:srgbClr val="AFBED0"/>
                </a:solidFill>
                <a:latin typeface="Aptos" pitchFamily="34" charset="0"/>
                <a:ea typeface="Aptos" pitchFamily="34" charset="-122"/>
                <a:cs typeface="Aptos" pitchFamily="34" charset="-120"/>
              </a:rPr>
              <a:t>Taegwon  ·  Woojoo  ·  Junbo</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426"/>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47DAC5"/>
          </a:solidFill>
          <a:ln w="12700">
            <a:solidFill>
              <a:srgbClr val="47DAC5">
                <a:alpha val="0"/>
              </a:srgbClr>
            </a:solidFill>
            <a:prstDash val="solid"/>
          </a:ln>
        </p:spPr>
      </p:sp>
      <p:sp>
        <p:nvSpPr>
          <p:cNvPr id="3" name="Shape 1"/>
          <p:cNvSpPr/>
          <p:nvPr/>
        </p:nvSpPr>
        <p:spPr>
          <a:xfrm>
            <a:off x="676656" y="457200"/>
            <a:ext cx="10844784" cy="0"/>
          </a:xfrm>
          <a:prstGeom prst="line">
            <a:avLst/>
          </a:prstGeom>
          <a:noFill/>
          <a:ln w="8890">
            <a:solidFill>
              <a:srgbClr val="304861"/>
            </a:solidFill>
            <a:prstDash val="solid"/>
          </a:ln>
        </p:spPr>
      </p:sp>
      <p:sp>
        <p:nvSpPr>
          <p:cNvPr id="4" name="Text 2"/>
          <p:cNvSpPr/>
          <p:nvPr/>
        </p:nvSpPr>
        <p:spPr>
          <a:xfrm>
            <a:off x="676656" y="182880"/>
            <a:ext cx="4572000" cy="201168"/>
          </a:xfrm>
          <a:prstGeom prst="rect">
            <a:avLst/>
          </a:prstGeom>
          <a:noFill/>
          <a:ln/>
        </p:spPr>
        <p:txBody>
          <a:bodyPr wrap="square" lIns="0" tIns="0" rIns="0" bIns="0" rtlCol="0" anchor="ctr">
            <a:normAutofit/>
          </a:bodyPr>
          <a:lstStyle/>
          <a:p>
            <a:pPr indent="0" marL="0">
              <a:buNone/>
            </a:pPr>
            <a:r>
              <a:rPr lang="en-US" sz="970" b="1" spc="120" kern="0" dirty="0">
                <a:solidFill>
                  <a:srgbClr val="AFBED0"/>
                </a:solidFill>
                <a:latin typeface="Aptos" pitchFamily="34" charset="0"/>
                <a:ea typeface="Aptos" pitchFamily="34" charset="-122"/>
                <a:cs typeface="Aptos" pitchFamily="34" charset="-120"/>
              </a:rPr>
              <a:t>DS 340W  /  GROUP 2</a:t>
            </a:r>
            <a:endParaRPr lang="en-US" sz="970" dirty="0"/>
          </a:p>
        </p:txBody>
      </p:sp>
      <p:sp>
        <p:nvSpPr>
          <p:cNvPr id="5" name="Text 3"/>
          <p:cNvSpPr/>
          <p:nvPr/>
        </p:nvSpPr>
        <p:spPr>
          <a:xfrm>
            <a:off x="9235440" y="201168"/>
            <a:ext cx="2212848" cy="164592"/>
          </a:xfrm>
          <a:prstGeom prst="rect">
            <a:avLst/>
          </a:prstGeom>
          <a:noFill/>
          <a:ln/>
        </p:spPr>
        <p:txBody>
          <a:bodyPr wrap="square" lIns="0" tIns="0" rIns="0" bIns="0" rtlCol="0" anchor="ctr">
            <a:normAutofit/>
          </a:bodyPr>
          <a:lstStyle/>
          <a:p>
            <a:pPr algn="r" indent="0" marL="0">
              <a:buNone/>
            </a:pPr>
            <a:r>
              <a:rPr lang="en-US" sz="920" b="1" dirty="0">
                <a:solidFill>
                  <a:srgbClr val="AFBED0"/>
                </a:solidFill>
                <a:latin typeface="Aptos" pitchFamily="34" charset="0"/>
                <a:ea typeface="Aptos" pitchFamily="34" charset="-122"/>
                <a:cs typeface="Aptos" pitchFamily="34" charset="-120"/>
              </a:rPr>
              <a:t>PART 1  /  BACKGROUND</a:t>
            </a:r>
            <a:endParaRPr lang="en-US" sz="920" dirty="0"/>
          </a:p>
        </p:txBody>
      </p:sp>
      <p:sp>
        <p:nvSpPr>
          <p:cNvPr id="6" name="Shape 4"/>
          <p:cNvSpPr/>
          <p:nvPr/>
        </p:nvSpPr>
        <p:spPr>
          <a:xfrm>
            <a:off x="676656" y="6382512"/>
            <a:ext cx="10853928" cy="0"/>
          </a:xfrm>
          <a:prstGeom prst="line">
            <a:avLst/>
          </a:prstGeom>
          <a:noFill/>
          <a:ln w="8890">
            <a:solidFill>
              <a:srgbClr val="304861"/>
            </a:solidFill>
            <a:prstDash val="solid"/>
          </a:ln>
        </p:spPr>
      </p:sp>
      <p:sp>
        <p:nvSpPr>
          <p:cNvPr id="7" name="Text 5"/>
          <p:cNvSpPr/>
          <p:nvPr/>
        </p:nvSpPr>
        <p:spPr>
          <a:xfrm>
            <a:off x="694944" y="6519672"/>
            <a:ext cx="1188720" cy="155448"/>
          </a:xfrm>
          <a:prstGeom prst="rect">
            <a:avLst/>
          </a:prstGeom>
          <a:noFill/>
          <a:ln/>
        </p:spPr>
        <p:txBody>
          <a:bodyPr wrap="square" lIns="0" tIns="0" rIns="0" bIns="0" rtlCol="0" anchor="ctr">
            <a:normAutofit/>
          </a:bodyPr>
          <a:lstStyle/>
          <a:p>
            <a:pPr indent="0" marL="0">
              <a:buNone/>
            </a:pPr>
            <a:r>
              <a:rPr lang="en-US" sz="1000" b="1" dirty="0">
                <a:solidFill>
                  <a:srgbClr val="AFBED0"/>
                </a:solidFill>
                <a:latin typeface="Aptos" pitchFamily="34" charset="0"/>
                <a:ea typeface="Aptos" pitchFamily="34" charset="-122"/>
                <a:cs typeface="Aptos" pitchFamily="34" charset="-120"/>
              </a:rPr>
              <a:t>02 / 11</a:t>
            </a:r>
            <a:endParaRPr lang="en-US" sz="1000" dirty="0"/>
          </a:p>
        </p:txBody>
      </p:sp>
      <p:sp>
        <p:nvSpPr>
          <p:cNvPr id="8" name="Text 6"/>
          <p:cNvSpPr/>
          <p:nvPr/>
        </p:nvSpPr>
        <p:spPr>
          <a:xfrm>
            <a:off x="8503920" y="6510528"/>
            <a:ext cx="2971800" cy="173736"/>
          </a:xfrm>
          <a:prstGeom prst="rect">
            <a:avLst/>
          </a:prstGeom>
          <a:noFill/>
          <a:ln/>
        </p:spPr>
        <p:txBody>
          <a:bodyPr wrap="square" lIns="0" tIns="0" rIns="0" bIns="0" rtlCol="0" anchor="ctr">
            <a:normAutofit/>
          </a:bodyPr>
          <a:lstStyle/>
          <a:p>
            <a:pPr algn="r" indent="0" marL="0">
              <a:buNone/>
            </a:pPr>
            <a:r>
              <a:rPr lang="en-US" sz="970" b="1" dirty="0">
                <a:solidFill>
                  <a:srgbClr val="AFBED0"/>
                </a:solidFill>
                <a:latin typeface="Aptos" pitchFamily="34" charset="0"/>
                <a:ea typeface="Aptos" pitchFamily="34" charset="-122"/>
                <a:cs typeface="Aptos" pitchFamily="34" charset="-120"/>
              </a:rPr>
              <a:t>SPEAKER  TAEGWON</a:t>
            </a:r>
            <a:endParaRPr lang="en-US" sz="970" dirty="0"/>
          </a:p>
        </p:txBody>
      </p:sp>
      <p:sp>
        <p:nvSpPr>
          <p:cNvPr id="10" name="Text 7"/>
          <p:cNvSpPr/>
          <p:nvPr/>
        </p:nvSpPr>
        <p:spPr>
          <a:xfrm>
            <a:off x="658368" y="621792"/>
            <a:ext cx="6400800" cy="201168"/>
          </a:xfrm>
          <a:prstGeom prst="rect">
            <a:avLst/>
          </a:prstGeom>
          <a:noFill/>
          <a:ln/>
        </p:spPr>
        <p:txBody>
          <a:bodyPr wrap="square" lIns="0" tIns="0" rIns="0" bIns="0" rtlCol="0" anchor="ctr">
            <a:normAutofit/>
          </a:bodyPr>
          <a:lstStyle/>
          <a:p>
            <a:pPr indent="0" marL="0">
              <a:buNone/>
            </a:pPr>
            <a:r>
              <a:rPr lang="en-US" sz="970" b="1" spc="120" kern="0" dirty="0">
                <a:solidFill>
                  <a:srgbClr val="47DAC5"/>
                </a:solidFill>
                <a:latin typeface="Aptos" pitchFamily="34" charset="0"/>
                <a:ea typeface="Aptos" pitchFamily="34" charset="-122"/>
                <a:cs typeface="Aptos" pitchFamily="34" charset="-120"/>
              </a:rPr>
              <a:t>01  /  THE PROBLEM</a:t>
            </a:r>
            <a:endParaRPr lang="en-US" sz="970" dirty="0"/>
          </a:p>
        </p:txBody>
      </p:sp>
      <p:sp>
        <p:nvSpPr>
          <p:cNvPr id="11" name="Text 8"/>
          <p:cNvSpPr/>
          <p:nvPr/>
        </p:nvSpPr>
        <p:spPr>
          <a:xfrm>
            <a:off x="658368" y="941832"/>
            <a:ext cx="10881360" cy="594360"/>
          </a:xfrm>
          <a:prstGeom prst="rect">
            <a:avLst/>
          </a:prstGeom>
          <a:noFill/>
          <a:ln/>
        </p:spPr>
        <p:txBody>
          <a:bodyPr wrap="square" lIns="0" tIns="0" rIns="0" bIns="0" rtlCol="0" anchor="ctr">
            <a:normAutofit/>
          </a:bodyPr>
          <a:lstStyle/>
          <a:p>
            <a:pPr indent="0" marL="0">
              <a:buNone/>
            </a:pPr>
            <a:r>
              <a:rPr lang="en-US" sz="3100" b="1" dirty="0">
                <a:solidFill>
                  <a:srgbClr val="F4F9FC"/>
                </a:solidFill>
                <a:latin typeface="Aptos" pitchFamily="34" charset="0"/>
                <a:ea typeface="Aptos" pitchFamily="34" charset="-122"/>
                <a:cs typeface="Aptos" pitchFamily="34" charset="-120"/>
              </a:rPr>
              <a:t>A confident answer can still be wrong.</a:t>
            </a:r>
            <a:endParaRPr lang="en-US" sz="3100" dirty="0"/>
          </a:p>
        </p:txBody>
      </p:sp>
      <p:sp>
        <p:nvSpPr>
          <p:cNvPr id="12" name="Text 9"/>
          <p:cNvSpPr/>
          <p:nvPr/>
        </p:nvSpPr>
        <p:spPr>
          <a:xfrm>
            <a:off x="676656" y="1627632"/>
            <a:ext cx="10698480" cy="585216"/>
          </a:xfrm>
          <a:prstGeom prst="rect">
            <a:avLst/>
          </a:prstGeom>
          <a:noFill/>
          <a:ln/>
        </p:spPr>
        <p:txBody>
          <a:bodyPr wrap="square" lIns="0" tIns="0" rIns="0" bIns="0" rtlCol="0" anchor="t">
            <a:normAutofit/>
          </a:bodyPr>
          <a:lstStyle/>
          <a:p>
            <a:pPr indent="0" marL="0">
              <a:buNone/>
            </a:pPr>
            <a:r>
              <a:rPr lang="en-US" sz="1630" dirty="0">
                <a:solidFill>
                  <a:srgbClr val="AFBED0"/>
                </a:solidFill>
                <a:latin typeface="Aptos" pitchFamily="34" charset="0"/>
                <a:ea typeface="Aptos" pitchFamily="34" charset="-122"/>
                <a:cs typeface="Aptos" pitchFamily="34" charset="-120"/>
              </a:rPr>
              <a:t>A high score is not always a safe prediction — especially when inputs change.</a:t>
            </a:r>
            <a:endParaRPr lang="en-US" sz="1630" dirty="0"/>
          </a:p>
        </p:txBody>
      </p:sp>
      <p:sp>
        <p:nvSpPr>
          <p:cNvPr id="13" name="Shape 10"/>
          <p:cNvSpPr/>
          <p:nvPr/>
        </p:nvSpPr>
        <p:spPr>
          <a:xfrm>
            <a:off x="694944" y="2423160"/>
            <a:ext cx="3218688" cy="2450592"/>
          </a:xfrm>
          <a:prstGeom prst="roundRect">
            <a:avLst>
              <a:gd name="adj" fmla="val 7463"/>
            </a:avLst>
          </a:prstGeom>
          <a:solidFill>
            <a:srgbClr val="14273F"/>
          </a:solidFill>
          <a:ln w="10795">
            <a:solidFill>
              <a:srgbClr val="304861"/>
            </a:solidFill>
            <a:prstDash val="solid"/>
          </a:ln>
        </p:spPr>
      </p:sp>
      <p:sp>
        <p:nvSpPr>
          <p:cNvPr id="14" name="Shape 11"/>
          <p:cNvSpPr/>
          <p:nvPr/>
        </p:nvSpPr>
        <p:spPr>
          <a:xfrm>
            <a:off x="914400" y="2688336"/>
            <a:ext cx="59436" cy="402336"/>
          </a:xfrm>
          <a:prstGeom prst="rect">
            <a:avLst/>
          </a:prstGeom>
          <a:solidFill>
            <a:srgbClr val="6EABF3"/>
          </a:solidFill>
          <a:ln w="12700">
            <a:solidFill>
              <a:srgbClr val="6EABF3">
                <a:alpha val="0"/>
              </a:srgbClr>
            </a:solidFill>
            <a:prstDash val="solid"/>
          </a:ln>
        </p:spPr>
      </p:sp>
      <p:sp>
        <p:nvSpPr>
          <p:cNvPr id="15" name="Text 12"/>
          <p:cNvSpPr/>
          <p:nvPr/>
        </p:nvSpPr>
        <p:spPr>
          <a:xfrm>
            <a:off x="1078992" y="2660904"/>
            <a:ext cx="2560320" cy="347472"/>
          </a:xfrm>
          <a:prstGeom prst="rect">
            <a:avLst/>
          </a:prstGeom>
          <a:noFill/>
          <a:ln/>
        </p:spPr>
        <p:txBody>
          <a:bodyPr wrap="square" lIns="0" tIns="0" rIns="0" bIns="0" rtlCol="0" anchor="ctr">
            <a:normAutofit/>
          </a:bodyPr>
          <a:lstStyle/>
          <a:p>
            <a:pPr indent="0" marL="0">
              <a:buNone/>
            </a:pPr>
            <a:r>
              <a:rPr lang="en-US" sz="1900" b="1" dirty="0">
                <a:solidFill>
                  <a:srgbClr val="F4F9FC"/>
                </a:solidFill>
                <a:latin typeface="Aptos" pitchFamily="34" charset="0"/>
                <a:ea typeface="Aptos" pitchFamily="34" charset="-122"/>
                <a:cs typeface="Aptos" pitchFamily="34" charset="-120"/>
              </a:rPr>
              <a:t>Predict</a:t>
            </a:r>
            <a:endParaRPr lang="en-US" sz="1900" dirty="0"/>
          </a:p>
        </p:txBody>
      </p:sp>
      <p:sp>
        <p:nvSpPr>
          <p:cNvPr id="16" name="Text 13"/>
          <p:cNvSpPr/>
          <p:nvPr/>
        </p:nvSpPr>
        <p:spPr>
          <a:xfrm>
            <a:off x="950976" y="3246120"/>
            <a:ext cx="2715768" cy="1499616"/>
          </a:xfrm>
          <a:prstGeom prst="rect">
            <a:avLst/>
          </a:prstGeom>
          <a:noFill/>
          <a:ln/>
        </p:spPr>
        <p:txBody>
          <a:bodyPr wrap="square" lIns="0" tIns="0" rIns="0" bIns="0" rtlCol="0" anchor="t">
            <a:normAutofit/>
          </a:bodyPr>
          <a:lstStyle/>
          <a:p>
            <a:pPr indent="0" marL="0">
              <a:buNone/>
            </a:pPr>
            <a:r>
              <a:rPr lang="en-US" sz="1600" dirty="0">
                <a:solidFill>
                  <a:srgbClr val="AFBED0"/>
                </a:solidFill>
                <a:latin typeface="Aptos" pitchFamily="34" charset="0"/>
                <a:ea typeface="Aptos" pitchFamily="34" charset="-122"/>
                <a:cs typeface="Aptos" pitchFamily="34" charset="-120"/>
              </a:rPr>
              <a:t>A model gives an answer.</a:t>
            </a:r>
            <a:endParaRPr lang="en-US" sz="1600" dirty="0"/>
          </a:p>
        </p:txBody>
      </p:sp>
      <p:sp>
        <p:nvSpPr>
          <p:cNvPr id="17" name="Shape 14"/>
          <p:cNvSpPr/>
          <p:nvPr/>
        </p:nvSpPr>
        <p:spPr>
          <a:xfrm>
            <a:off x="4142232" y="2423160"/>
            <a:ext cx="3218688" cy="2450592"/>
          </a:xfrm>
          <a:prstGeom prst="roundRect">
            <a:avLst>
              <a:gd name="adj" fmla="val 7463"/>
            </a:avLst>
          </a:prstGeom>
          <a:solidFill>
            <a:srgbClr val="14273F"/>
          </a:solidFill>
          <a:ln w="10795">
            <a:solidFill>
              <a:srgbClr val="304861"/>
            </a:solidFill>
            <a:prstDash val="solid"/>
          </a:ln>
        </p:spPr>
      </p:sp>
      <p:sp>
        <p:nvSpPr>
          <p:cNvPr id="18" name="Shape 15"/>
          <p:cNvSpPr/>
          <p:nvPr/>
        </p:nvSpPr>
        <p:spPr>
          <a:xfrm>
            <a:off x="4361688" y="2688336"/>
            <a:ext cx="59436" cy="402336"/>
          </a:xfrm>
          <a:prstGeom prst="rect">
            <a:avLst/>
          </a:prstGeom>
          <a:solidFill>
            <a:srgbClr val="F5BE70"/>
          </a:solidFill>
          <a:ln w="12700">
            <a:solidFill>
              <a:srgbClr val="F5BE70">
                <a:alpha val="0"/>
              </a:srgbClr>
            </a:solidFill>
            <a:prstDash val="solid"/>
          </a:ln>
        </p:spPr>
      </p:sp>
      <p:sp>
        <p:nvSpPr>
          <p:cNvPr id="19" name="Text 16"/>
          <p:cNvSpPr/>
          <p:nvPr/>
        </p:nvSpPr>
        <p:spPr>
          <a:xfrm>
            <a:off x="4526280" y="2660904"/>
            <a:ext cx="2560320" cy="347472"/>
          </a:xfrm>
          <a:prstGeom prst="rect">
            <a:avLst/>
          </a:prstGeom>
          <a:noFill/>
          <a:ln/>
        </p:spPr>
        <p:txBody>
          <a:bodyPr wrap="square" lIns="0" tIns="0" rIns="0" bIns="0" rtlCol="0" anchor="ctr">
            <a:normAutofit/>
          </a:bodyPr>
          <a:lstStyle/>
          <a:p>
            <a:pPr indent="0" marL="0">
              <a:buNone/>
            </a:pPr>
            <a:r>
              <a:rPr lang="en-US" sz="1900" b="1" dirty="0">
                <a:solidFill>
                  <a:srgbClr val="F4F9FC"/>
                </a:solidFill>
                <a:latin typeface="Aptos" pitchFamily="34" charset="0"/>
                <a:ea typeface="Aptos" pitchFamily="34" charset="-122"/>
                <a:cs typeface="Aptos" pitchFamily="34" charset="-120"/>
              </a:rPr>
              <a:t>Trust</a:t>
            </a:r>
            <a:endParaRPr lang="en-US" sz="1900" dirty="0"/>
          </a:p>
        </p:txBody>
      </p:sp>
      <p:sp>
        <p:nvSpPr>
          <p:cNvPr id="20" name="Text 17"/>
          <p:cNvSpPr/>
          <p:nvPr/>
        </p:nvSpPr>
        <p:spPr>
          <a:xfrm>
            <a:off x="4398264" y="3246120"/>
            <a:ext cx="2715768" cy="1499616"/>
          </a:xfrm>
          <a:prstGeom prst="rect">
            <a:avLst/>
          </a:prstGeom>
          <a:noFill/>
          <a:ln/>
        </p:spPr>
        <p:txBody>
          <a:bodyPr wrap="square" lIns="0" tIns="0" rIns="0" bIns="0" rtlCol="0" anchor="t">
            <a:normAutofit/>
          </a:bodyPr>
          <a:lstStyle/>
          <a:p>
            <a:pPr indent="0" marL="0">
              <a:buNone/>
            </a:pPr>
            <a:r>
              <a:rPr lang="en-US" sz="1600" dirty="0">
                <a:solidFill>
                  <a:srgbClr val="AFBED0"/>
                </a:solidFill>
                <a:latin typeface="Aptos" pitchFamily="34" charset="0"/>
                <a:ea typeface="Aptos" pitchFamily="34" charset="-122"/>
                <a:cs typeface="Aptos" pitchFamily="34" charset="-120"/>
              </a:rPr>
              <a:t>It reports high confidence.</a:t>
            </a:r>
            <a:endParaRPr lang="en-US" sz="1600" dirty="0"/>
          </a:p>
        </p:txBody>
      </p:sp>
      <p:sp>
        <p:nvSpPr>
          <p:cNvPr id="21" name="Shape 18"/>
          <p:cNvSpPr/>
          <p:nvPr/>
        </p:nvSpPr>
        <p:spPr>
          <a:xfrm>
            <a:off x="7580376" y="2423160"/>
            <a:ext cx="3886200" cy="2450592"/>
          </a:xfrm>
          <a:prstGeom prst="roundRect">
            <a:avLst>
              <a:gd name="adj" fmla="val 7463"/>
            </a:avLst>
          </a:prstGeom>
          <a:solidFill>
            <a:srgbClr val="14273F"/>
          </a:solidFill>
          <a:ln w="10795">
            <a:solidFill>
              <a:srgbClr val="304861"/>
            </a:solidFill>
            <a:prstDash val="solid"/>
          </a:ln>
        </p:spPr>
      </p:sp>
      <p:sp>
        <p:nvSpPr>
          <p:cNvPr id="22" name="Shape 19"/>
          <p:cNvSpPr/>
          <p:nvPr/>
        </p:nvSpPr>
        <p:spPr>
          <a:xfrm>
            <a:off x="7799832" y="2688336"/>
            <a:ext cx="59436" cy="402336"/>
          </a:xfrm>
          <a:prstGeom prst="rect">
            <a:avLst/>
          </a:prstGeom>
          <a:solidFill>
            <a:srgbClr val="47DAC5"/>
          </a:solidFill>
          <a:ln w="12700">
            <a:solidFill>
              <a:srgbClr val="47DAC5">
                <a:alpha val="0"/>
              </a:srgbClr>
            </a:solidFill>
            <a:prstDash val="solid"/>
          </a:ln>
        </p:spPr>
      </p:sp>
      <p:sp>
        <p:nvSpPr>
          <p:cNvPr id="23" name="Text 20"/>
          <p:cNvSpPr/>
          <p:nvPr/>
        </p:nvSpPr>
        <p:spPr>
          <a:xfrm>
            <a:off x="7964424" y="2660904"/>
            <a:ext cx="3227832" cy="347472"/>
          </a:xfrm>
          <a:prstGeom prst="rect">
            <a:avLst/>
          </a:prstGeom>
          <a:noFill/>
          <a:ln/>
        </p:spPr>
        <p:txBody>
          <a:bodyPr wrap="square" lIns="0" tIns="0" rIns="0" bIns="0" rtlCol="0" anchor="ctr">
            <a:normAutofit/>
          </a:bodyPr>
          <a:lstStyle/>
          <a:p>
            <a:pPr indent="0" marL="0">
              <a:buNone/>
            </a:pPr>
            <a:r>
              <a:rPr lang="en-US" sz="1900" b="1" dirty="0">
                <a:solidFill>
                  <a:srgbClr val="F4F9FC"/>
                </a:solidFill>
                <a:latin typeface="Aptos" pitchFamily="34" charset="0"/>
                <a:ea typeface="Aptos" pitchFamily="34" charset="-122"/>
                <a:cs typeface="Aptos" pitchFamily="34" charset="-120"/>
              </a:rPr>
              <a:t>Question</a:t>
            </a:r>
            <a:endParaRPr lang="en-US" sz="1900" dirty="0"/>
          </a:p>
        </p:txBody>
      </p:sp>
      <p:sp>
        <p:nvSpPr>
          <p:cNvPr id="24" name="Text 21"/>
          <p:cNvSpPr/>
          <p:nvPr/>
        </p:nvSpPr>
        <p:spPr>
          <a:xfrm>
            <a:off x="7836408" y="3246120"/>
            <a:ext cx="3383280" cy="1499616"/>
          </a:xfrm>
          <a:prstGeom prst="rect">
            <a:avLst/>
          </a:prstGeom>
          <a:noFill/>
          <a:ln/>
        </p:spPr>
        <p:txBody>
          <a:bodyPr wrap="square" lIns="0" tIns="0" rIns="0" bIns="0" rtlCol="0" anchor="t">
            <a:normAutofit/>
          </a:bodyPr>
          <a:lstStyle/>
          <a:p>
            <a:pPr indent="0" marL="0">
              <a:buNone/>
            </a:pPr>
            <a:r>
              <a:rPr lang="en-US" sz="1600" dirty="0">
                <a:solidFill>
                  <a:srgbClr val="AFBED0"/>
                </a:solidFill>
                <a:latin typeface="Aptos" pitchFamily="34" charset="0"/>
                <a:ea typeface="Aptos" pitchFamily="34" charset="-122"/>
                <a:cs typeface="Aptos" pitchFamily="34" charset="-120"/>
              </a:rPr>
              <a:t>Can we identify errors?</a:t>
            </a:r>
            <a:endParaRPr lang="en-US" sz="1600" dirty="0"/>
          </a:p>
        </p:txBody>
      </p:sp>
      <p:sp>
        <p:nvSpPr>
          <p:cNvPr id="25" name="Text 22"/>
          <p:cNvSpPr/>
          <p:nvPr/>
        </p:nvSpPr>
        <p:spPr>
          <a:xfrm>
            <a:off x="777240" y="5257800"/>
            <a:ext cx="10424160" cy="466344"/>
          </a:xfrm>
          <a:prstGeom prst="rect">
            <a:avLst/>
          </a:prstGeom>
          <a:noFill/>
          <a:ln/>
        </p:spPr>
        <p:txBody>
          <a:bodyPr wrap="square" lIns="0" tIns="0" rIns="0" bIns="0" rtlCol="0" anchor="ctr">
            <a:normAutofit/>
          </a:bodyPr>
          <a:lstStyle/>
          <a:p>
            <a:pPr indent="0" marL="0">
              <a:buNone/>
            </a:pPr>
            <a:r>
              <a:rPr lang="en-US" sz="2050" b="1" dirty="0">
                <a:solidFill>
                  <a:srgbClr val="F4F9FC"/>
                </a:solidFill>
                <a:latin typeface="Aptos" pitchFamily="34" charset="0"/>
                <a:ea typeface="Aptos" pitchFamily="34" charset="-122"/>
                <a:cs typeface="Aptos" pitchFamily="34" charset="-120"/>
              </a:rPr>
              <a:t>Our goal: detect wrong predictions, not only improve accuracy.</a:t>
            </a:r>
            <a:endParaRPr lang="en-US" sz="2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426"/>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47DAC5"/>
          </a:solidFill>
          <a:ln w="12700">
            <a:solidFill>
              <a:srgbClr val="47DAC5">
                <a:alpha val="0"/>
              </a:srgbClr>
            </a:solidFill>
            <a:prstDash val="solid"/>
          </a:ln>
        </p:spPr>
      </p:sp>
      <p:sp>
        <p:nvSpPr>
          <p:cNvPr id="3" name="Shape 1"/>
          <p:cNvSpPr/>
          <p:nvPr/>
        </p:nvSpPr>
        <p:spPr>
          <a:xfrm>
            <a:off x="676656" y="457200"/>
            <a:ext cx="10844784" cy="0"/>
          </a:xfrm>
          <a:prstGeom prst="line">
            <a:avLst/>
          </a:prstGeom>
          <a:noFill/>
          <a:ln w="8890">
            <a:solidFill>
              <a:srgbClr val="304861"/>
            </a:solidFill>
            <a:prstDash val="solid"/>
          </a:ln>
        </p:spPr>
      </p:sp>
      <p:sp>
        <p:nvSpPr>
          <p:cNvPr id="4" name="Text 2"/>
          <p:cNvSpPr/>
          <p:nvPr/>
        </p:nvSpPr>
        <p:spPr>
          <a:xfrm>
            <a:off x="676656" y="182880"/>
            <a:ext cx="4572000" cy="201168"/>
          </a:xfrm>
          <a:prstGeom prst="rect">
            <a:avLst/>
          </a:prstGeom>
          <a:noFill/>
          <a:ln/>
        </p:spPr>
        <p:txBody>
          <a:bodyPr wrap="square" lIns="0" tIns="0" rIns="0" bIns="0" rtlCol="0" anchor="ctr">
            <a:normAutofit/>
          </a:bodyPr>
          <a:lstStyle/>
          <a:p>
            <a:pPr indent="0" marL="0">
              <a:buNone/>
            </a:pPr>
            <a:r>
              <a:rPr lang="en-US" sz="970" b="1" spc="120" kern="0" dirty="0">
                <a:solidFill>
                  <a:srgbClr val="AFBED0"/>
                </a:solidFill>
                <a:latin typeface="Aptos" pitchFamily="34" charset="0"/>
                <a:ea typeface="Aptos" pitchFamily="34" charset="-122"/>
                <a:cs typeface="Aptos" pitchFamily="34" charset="-120"/>
              </a:rPr>
              <a:t>DS 340W  /  GROUP 2</a:t>
            </a:r>
            <a:endParaRPr lang="en-US" sz="970" dirty="0"/>
          </a:p>
        </p:txBody>
      </p:sp>
      <p:sp>
        <p:nvSpPr>
          <p:cNvPr id="5" name="Text 3"/>
          <p:cNvSpPr/>
          <p:nvPr/>
        </p:nvSpPr>
        <p:spPr>
          <a:xfrm>
            <a:off x="9235440" y="201168"/>
            <a:ext cx="2212848" cy="164592"/>
          </a:xfrm>
          <a:prstGeom prst="rect">
            <a:avLst/>
          </a:prstGeom>
          <a:noFill/>
          <a:ln/>
        </p:spPr>
        <p:txBody>
          <a:bodyPr wrap="square" lIns="0" tIns="0" rIns="0" bIns="0" rtlCol="0" anchor="ctr">
            <a:normAutofit/>
          </a:bodyPr>
          <a:lstStyle/>
          <a:p>
            <a:pPr algn="r" indent="0" marL="0">
              <a:buNone/>
            </a:pPr>
            <a:r>
              <a:rPr lang="en-US" sz="920" b="1" dirty="0">
                <a:solidFill>
                  <a:srgbClr val="AFBED0"/>
                </a:solidFill>
                <a:latin typeface="Aptos" pitchFamily="34" charset="0"/>
                <a:ea typeface="Aptos" pitchFamily="34" charset="-122"/>
                <a:cs typeface="Aptos" pitchFamily="34" charset="-120"/>
              </a:rPr>
              <a:t>PART 1  /  PARENT PAPERS</a:t>
            </a:r>
            <a:endParaRPr lang="en-US" sz="920" dirty="0"/>
          </a:p>
        </p:txBody>
      </p:sp>
      <p:sp>
        <p:nvSpPr>
          <p:cNvPr id="6" name="Shape 4"/>
          <p:cNvSpPr/>
          <p:nvPr/>
        </p:nvSpPr>
        <p:spPr>
          <a:xfrm>
            <a:off x="676656" y="6382512"/>
            <a:ext cx="10853928" cy="0"/>
          </a:xfrm>
          <a:prstGeom prst="line">
            <a:avLst/>
          </a:prstGeom>
          <a:noFill/>
          <a:ln w="8890">
            <a:solidFill>
              <a:srgbClr val="304861"/>
            </a:solidFill>
            <a:prstDash val="solid"/>
          </a:ln>
        </p:spPr>
      </p:sp>
      <p:sp>
        <p:nvSpPr>
          <p:cNvPr id="7" name="Text 5"/>
          <p:cNvSpPr/>
          <p:nvPr/>
        </p:nvSpPr>
        <p:spPr>
          <a:xfrm>
            <a:off x="694944" y="6519672"/>
            <a:ext cx="1188720" cy="155448"/>
          </a:xfrm>
          <a:prstGeom prst="rect">
            <a:avLst/>
          </a:prstGeom>
          <a:noFill/>
          <a:ln/>
        </p:spPr>
        <p:txBody>
          <a:bodyPr wrap="square" lIns="0" tIns="0" rIns="0" bIns="0" rtlCol="0" anchor="ctr">
            <a:normAutofit/>
          </a:bodyPr>
          <a:lstStyle/>
          <a:p>
            <a:pPr indent="0" marL="0">
              <a:buNone/>
            </a:pPr>
            <a:r>
              <a:rPr lang="en-US" sz="1000" b="1" dirty="0">
                <a:solidFill>
                  <a:srgbClr val="AFBED0"/>
                </a:solidFill>
                <a:latin typeface="Aptos" pitchFamily="34" charset="0"/>
                <a:ea typeface="Aptos" pitchFamily="34" charset="-122"/>
                <a:cs typeface="Aptos" pitchFamily="34" charset="-120"/>
              </a:rPr>
              <a:t>03 / 11</a:t>
            </a:r>
            <a:endParaRPr lang="en-US" sz="1000" dirty="0"/>
          </a:p>
        </p:txBody>
      </p:sp>
      <p:sp>
        <p:nvSpPr>
          <p:cNvPr id="8" name="Text 6"/>
          <p:cNvSpPr/>
          <p:nvPr/>
        </p:nvSpPr>
        <p:spPr>
          <a:xfrm>
            <a:off x="8503920" y="6510528"/>
            <a:ext cx="2971800" cy="173736"/>
          </a:xfrm>
          <a:prstGeom prst="rect">
            <a:avLst/>
          </a:prstGeom>
          <a:noFill/>
          <a:ln/>
        </p:spPr>
        <p:txBody>
          <a:bodyPr wrap="square" lIns="0" tIns="0" rIns="0" bIns="0" rtlCol="0" anchor="ctr">
            <a:normAutofit/>
          </a:bodyPr>
          <a:lstStyle/>
          <a:p>
            <a:pPr algn="r" indent="0" marL="0">
              <a:buNone/>
            </a:pPr>
            <a:r>
              <a:rPr lang="en-US" sz="970" b="1" dirty="0">
                <a:solidFill>
                  <a:srgbClr val="AFBED0"/>
                </a:solidFill>
                <a:latin typeface="Aptos" pitchFamily="34" charset="0"/>
                <a:ea typeface="Aptos" pitchFamily="34" charset="-122"/>
                <a:cs typeface="Aptos" pitchFamily="34" charset="-120"/>
              </a:rPr>
              <a:t>SPEAKER  TAEGWON</a:t>
            </a:r>
            <a:endParaRPr lang="en-US" sz="970" dirty="0"/>
          </a:p>
        </p:txBody>
      </p:sp>
      <p:sp>
        <p:nvSpPr>
          <p:cNvPr id="9" name="Text 7"/>
          <p:cNvSpPr/>
          <p:nvPr/>
        </p:nvSpPr>
        <p:spPr>
          <a:xfrm>
            <a:off x="694944" y="6144768"/>
            <a:ext cx="10881360" cy="164592"/>
          </a:xfrm>
          <a:prstGeom prst="rect">
            <a:avLst/>
          </a:prstGeom>
          <a:noFill/>
          <a:ln/>
        </p:spPr>
        <p:txBody>
          <a:bodyPr wrap="square" lIns="0" tIns="0" rIns="0" bIns="0" rtlCol="0" anchor="ctr">
            <a:normAutofit/>
          </a:bodyPr>
          <a:lstStyle/>
          <a:p>
            <a:pPr indent="0" marL="0">
              <a:buNone/>
            </a:pPr>
            <a:r>
              <a:rPr lang="en-US" sz="910" dirty="0">
                <a:solidFill>
                  <a:srgbClr val="AFBED0"/>
                </a:solidFill>
                <a:latin typeface="Aptos" pitchFamily="34" charset="0"/>
                <a:ea typeface="Aptos" pitchFamily="34" charset="-122"/>
                <a:cs typeface="Aptos" pitchFamily="34" charset="-120"/>
              </a:rPr>
              <a:t>Zhu et al., Rethinking Confidence Calibration for Failure Prediction (ECCV 2022)</a:t>
            </a:r>
            <a:endParaRPr lang="en-US" sz="910" dirty="0"/>
          </a:p>
        </p:txBody>
      </p:sp>
      <p:sp>
        <p:nvSpPr>
          <p:cNvPr id="11" name="Text 8"/>
          <p:cNvSpPr/>
          <p:nvPr/>
        </p:nvSpPr>
        <p:spPr>
          <a:xfrm>
            <a:off x="658368" y="621792"/>
            <a:ext cx="6400800" cy="201168"/>
          </a:xfrm>
          <a:prstGeom prst="rect">
            <a:avLst/>
          </a:prstGeom>
          <a:noFill/>
          <a:ln/>
        </p:spPr>
        <p:txBody>
          <a:bodyPr wrap="square" lIns="0" tIns="0" rIns="0" bIns="0" rtlCol="0" anchor="ctr">
            <a:normAutofit/>
          </a:bodyPr>
          <a:lstStyle/>
          <a:p>
            <a:pPr indent="0" marL="0">
              <a:buNone/>
            </a:pPr>
            <a:r>
              <a:rPr lang="en-US" sz="970" b="1" spc="120" kern="0" dirty="0">
                <a:solidFill>
                  <a:srgbClr val="47DAC5"/>
                </a:solidFill>
                <a:latin typeface="Aptos" pitchFamily="34" charset="0"/>
                <a:ea typeface="Aptos" pitchFamily="34" charset="-122"/>
                <a:cs typeface="Aptos" pitchFamily="34" charset="-120"/>
              </a:rPr>
              <a:t>PAPER 1  /  FMFP</a:t>
            </a:r>
            <a:endParaRPr lang="en-US" sz="970" dirty="0"/>
          </a:p>
        </p:txBody>
      </p:sp>
      <p:sp>
        <p:nvSpPr>
          <p:cNvPr id="12" name="Text 9"/>
          <p:cNvSpPr/>
          <p:nvPr/>
        </p:nvSpPr>
        <p:spPr>
          <a:xfrm>
            <a:off x="658368" y="941832"/>
            <a:ext cx="10881360" cy="594360"/>
          </a:xfrm>
          <a:prstGeom prst="rect">
            <a:avLst/>
          </a:prstGeom>
          <a:noFill/>
          <a:ln/>
        </p:spPr>
        <p:txBody>
          <a:bodyPr wrap="square" lIns="0" tIns="0" rIns="0" bIns="0" rtlCol="0" anchor="ctr">
            <a:normAutofit/>
          </a:bodyPr>
          <a:lstStyle/>
          <a:p>
            <a:pPr indent="0" marL="0">
              <a:buNone/>
            </a:pPr>
            <a:r>
              <a:rPr lang="en-US" sz="3100" b="1" dirty="0">
                <a:solidFill>
                  <a:srgbClr val="F4F9FC"/>
                </a:solidFill>
                <a:latin typeface="Aptos" pitchFamily="34" charset="0"/>
                <a:ea typeface="Aptos" pitchFamily="34" charset="-122"/>
                <a:cs typeface="Aptos" pitchFamily="34" charset="-120"/>
              </a:rPr>
              <a:t>Calibration is not the same as error detection.</a:t>
            </a:r>
            <a:endParaRPr lang="en-US" sz="3100" dirty="0"/>
          </a:p>
        </p:txBody>
      </p:sp>
      <p:sp>
        <p:nvSpPr>
          <p:cNvPr id="13" name="Text 10"/>
          <p:cNvSpPr/>
          <p:nvPr/>
        </p:nvSpPr>
        <p:spPr>
          <a:xfrm>
            <a:off x="676656" y="1627632"/>
            <a:ext cx="10698480" cy="585216"/>
          </a:xfrm>
          <a:prstGeom prst="rect">
            <a:avLst/>
          </a:prstGeom>
          <a:noFill/>
          <a:ln/>
        </p:spPr>
        <p:txBody>
          <a:bodyPr wrap="square" lIns="0" tIns="0" rIns="0" bIns="0" rtlCol="0" anchor="t">
            <a:normAutofit/>
          </a:bodyPr>
          <a:lstStyle/>
          <a:p>
            <a:pPr indent="0" marL="0">
              <a:buNone/>
            </a:pPr>
            <a:r>
              <a:rPr lang="en-US" sz="1630" dirty="0">
                <a:solidFill>
                  <a:srgbClr val="AFBED0"/>
                </a:solidFill>
                <a:latin typeface="Aptos" pitchFamily="34" charset="0"/>
                <a:ea typeface="Aptos" pitchFamily="34" charset="-122"/>
                <a:cs typeface="Aptos" pitchFamily="34" charset="-120"/>
              </a:rPr>
              <a:t>The paper asks whether confidence can rank correct vs. incorrect answers.</a:t>
            </a:r>
            <a:endParaRPr lang="en-US" sz="1630" dirty="0"/>
          </a:p>
        </p:txBody>
      </p:sp>
      <p:sp>
        <p:nvSpPr>
          <p:cNvPr id="14" name="Shape 11"/>
          <p:cNvSpPr/>
          <p:nvPr/>
        </p:nvSpPr>
        <p:spPr>
          <a:xfrm>
            <a:off x="704088" y="2487168"/>
            <a:ext cx="5074920" cy="2176272"/>
          </a:xfrm>
          <a:prstGeom prst="roundRect">
            <a:avLst>
              <a:gd name="adj" fmla="val 7563"/>
            </a:avLst>
          </a:prstGeom>
          <a:solidFill>
            <a:srgbClr val="14273F"/>
          </a:solidFill>
          <a:ln w="10795">
            <a:solidFill>
              <a:srgbClr val="304861"/>
            </a:solidFill>
            <a:prstDash val="solid"/>
          </a:ln>
        </p:spPr>
      </p:sp>
      <p:sp>
        <p:nvSpPr>
          <p:cNvPr id="15" name="Text 12"/>
          <p:cNvSpPr/>
          <p:nvPr/>
        </p:nvSpPr>
        <p:spPr>
          <a:xfrm>
            <a:off x="978408" y="2788920"/>
            <a:ext cx="3657600" cy="201168"/>
          </a:xfrm>
          <a:prstGeom prst="rect">
            <a:avLst/>
          </a:prstGeom>
          <a:noFill/>
          <a:ln/>
        </p:spPr>
        <p:txBody>
          <a:bodyPr wrap="square" lIns="0" tIns="0" rIns="0" bIns="0" rtlCol="0" anchor="ctr">
            <a:normAutofit/>
          </a:bodyPr>
          <a:lstStyle/>
          <a:p>
            <a:pPr indent="0" marL="0">
              <a:buNone/>
            </a:pPr>
            <a:r>
              <a:rPr lang="en-US" sz="970" b="1" spc="120" kern="0" dirty="0">
                <a:solidFill>
                  <a:srgbClr val="F5BE70"/>
                </a:solidFill>
                <a:latin typeface="Aptos" pitchFamily="34" charset="0"/>
                <a:ea typeface="Aptos" pitchFamily="34" charset="-122"/>
                <a:cs typeface="Aptos" pitchFamily="34" charset="-120"/>
              </a:rPr>
              <a:t>CALIBRATION</a:t>
            </a:r>
            <a:endParaRPr lang="en-US" sz="970" dirty="0"/>
          </a:p>
        </p:txBody>
      </p:sp>
      <p:sp>
        <p:nvSpPr>
          <p:cNvPr id="16" name="Text 13"/>
          <p:cNvSpPr/>
          <p:nvPr/>
        </p:nvSpPr>
        <p:spPr>
          <a:xfrm>
            <a:off x="996696" y="3182112"/>
            <a:ext cx="4425696" cy="914400"/>
          </a:xfrm>
          <a:prstGeom prst="rect">
            <a:avLst/>
          </a:prstGeom>
          <a:noFill/>
          <a:ln/>
        </p:spPr>
        <p:txBody>
          <a:bodyPr wrap="square" lIns="0" tIns="0" rIns="0" bIns="0" rtlCol="0" anchor="t">
            <a:normAutofit/>
          </a:bodyPr>
          <a:lstStyle/>
          <a:p>
            <a:pPr indent="0" marL="0">
              <a:buNone/>
            </a:pPr>
            <a:r>
              <a:rPr lang="en-US" sz="2100" b="1" dirty="0">
                <a:solidFill>
                  <a:srgbClr val="F4F9FC"/>
                </a:solidFill>
                <a:latin typeface="Aptos" pitchFamily="34" charset="0"/>
                <a:ea typeface="Aptos" pitchFamily="34" charset="-122"/>
                <a:cs typeface="Aptos" pitchFamily="34" charset="-120"/>
              </a:rPr>
              <a:t>Does 80% confidence mean about 80% accuracy?</a:t>
            </a:r>
            <a:endParaRPr lang="en-US" sz="2100" dirty="0"/>
          </a:p>
        </p:txBody>
      </p:sp>
      <p:sp>
        <p:nvSpPr>
          <p:cNvPr id="17" name="Shape 14"/>
          <p:cNvSpPr/>
          <p:nvPr/>
        </p:nvSpPr>
        <p:spPr>
          <a:xfrm>
            <a:off x="6007608" y="2487168"/>
            <a:ext cx="5458968" cy="2176272"/>
          </a:xfrm>
          <a:prstGeom prst="roundRect">
            <a:avLst>
              <a:gd name="adj" fmla="val 7563"/>
            </a:avLst>
          </a:prstGeom>
          <a:solidFill>
            <a:srgbClr val="14273F"/>
          </a:solidFill>
          <a:ln w="10795">
            <a:solidFill>
              <a:srgbClr val="304861"/>
            </a:solidFill>
            <a:prstDash val="solid"/>
          </a:ln>
        </p:spPr>
      </p:sp>
      <p:sp>
        <p:nvSpPr>
          <p:cNvPr id="18" name="Text 15"/>
          <p:cNvSpPr/>
          <p:nvPr/>
        </p:nvSpPr>
        <p:spPr>
          <a:xfrm>
            <a:off x="6281928" y="2788920"/>
            <a:ext cx="3657600" cy="201168"/>
          </a:xfrm>
          <a:prstGeom prst="rect">
            <a:avLst/>
          </a:prstGeom>
          <a:noFill/>
          <a:ln/>
        </p:spPr>
        <p:txBody>
          <a:bodyPr wrap="square" lIns="0" tIns="0" rIns="0" bIns="0" rtlCol="0" anchor="ctr">
            <a:normAutofit/>
          </a:bodyPr>
          <a:lstStyle/>
          <a:p>
            <a:pPr indent="0" marL="0">
              <a:buNone/>
            </a:pPr>
            <a:r>
              <a:rPr lang="en-US" sz="970" b="1" spc="120" kern="0" dirty="0">
                <a:solidFill>
                  <a:srgbClr val="47DAC5"/>
                </a:solidFill>
                <a:latin typeface="Aptos" pitchFamily="34" charset="0"/>
                <a:ea typeface="Aptos" pitchFamily="34" charset="-122"/>
                <a:cs typeface="Aptos" pitchFamily="34" charset="-120"/>
              </a:rPr>
              <a:t>FAILURE PREDICTION</a:t>
            </a:r>
            <a:endParaRPr lang="en-US" sz="970" dirty="0"/>
          </a:p>
        </p:txBody>
      </p:sp>
      <p:sp>
        <p:nvSpPr>
          <p:cNvPr id="19" name="Text 16"/>
          <p:cNvSpPr/>
          <p:nvPr/>
        </p:nvSpPr>
        <p:spPr>
          <a:xfrm>
            <a:off x="6309360" y="3182112"/>
            <a:ext cx="4608576" cy="914400"/>
          </a:xfrm>
          <a:prstGeom prst="rect">
            <a:avLst/>
          </a:prstGeom>
          <a:noFill/>
          <a:ln/>
        </p:spPr>
        <p:txBody>
          <a:bodyPr wrap="square" lIns="0" tIns="0" rIns="0" bIns="0" rtlCol="0" anchor="t">
            <a:normAutofit/>
          </a:bodyPr>
          <a:lstStyle/>
          <a:p>
            <a:pPr indent="0" marL="0">
              <a:buNone/>
            </a:pPr>
            <a:r>
              <a:rPr lang="en-US" sz="2100" b="1" dirty="0">
                <a:solidFill>
                  <a:srgbClr val="F4F9FC"/>
                </a:solidFill>
                <a:latin typeface="Aptos" pitchFamily="34" charset="0"/>
                <a:ea typeface="Aptos" pitchFamily="34" charset="-122"/>
                <a:cs typeface="Aptos" pitchFamily="34" charset="-120"/>
              </a:rPr>
              <a:t>Can we rank risky answers below safe ones?</a:t>
            </a:r>
            <a:endParaRPr lang="en-US" sz="2100" dirty="0"/>
          </a:p>
        </p:txBody>
      </p:sp>
      <p:sp>
        <p:nvSpPr>
          <p:cNvPr id="20" name="Shape 17"/>
          <p:cNvSpPr/>
          <p:nvPr/>
        </p:nvSpPr>
        <p:spPr>
          <a:xfrm>
            <a:off x="694944" y="4919472"/>
            <a:ext cx="10771632" cy="886968"/>
          </a:xfrm>
          <a:prstGeom prst="roundRect">
            <a:avLst>
              <a:gd name="adj" fmla="val 18557"/>
            </a:avLst>
          </a:prstGeom>
          <a:solidFill>
            <a:srgbClr val="111F34"/>
          </a:solidFill>
          <a:ln w="10795">
            <a:solidFill>
              <a:srgbClr val="304861"/>
            </a:solidFill>
            <a:prstDash val="solid"/>
          </a:ln>
        </p:spPr>
      </p:sp>
      <p:sp>
        <p:nvSpPr>
          <p:cNvPr id="21" name="Shape 18"/>
          <p:cNvSpPr/>
          <p:nvPr/>
        </p:nvSpPr>
        <p:spPr>
          <a:xfrm>
            <a:off x="950976" y="5120640"/>
            <a:ext cx="64008" cy="384048"/>
          </a:xfrm>
          <a:prstGeom prst="rect">
            <a:avLst/>
          </a:prstGeom>
          <a:solidFill>
            <a:srgbClr val="47DAC5"/>
          </a:solidFill>
          <a:ln w="12700">
            <a:solidFill>
              <a:srgbClr val="47DAC5">
                <a:alpha val="0"/>
              </a:srgbClr>
            </a:solidFill>
            <a:prstDash val="solid"/>
          </a:ln>
        </p:spPr>
      </p:sp>
      <p:sp>
        <p:nvSpPr>
          <p:cNvPr id="22" name="Text 19"/>
          <p:cNvSpPr/>
          <p:nvPr/>
        </p:nvSpPr>
        <p:spPr>
          <a:xfrm>
            <a:off x="1161288" y="5047488"/>
            <a:ext cx="9985248" cy="576072"/>
          </a:xfrm>
          <a:prstGeom prst="rect">
            <a:avLst/>
          </a:prstGeom>
          <a:noFill/>
          <a:ln/>
        </p:spPr>
        <p:txBody>
          <a:bodyPr wrap="square" lIns="0" tIns="0" rIns="0" bIns="0" rtlCol="0" anchor="ctr">
            <a:normAutofit/>
          </a:bodyPr>
          <a:lstStyle/>
          <a:p>
            <a:pPr indent="0" marL="0">
              <a:buNone/>
            </a:pPr>
            <a:r>
              <a:rPr lang="en-US" sz="1820" b="1" dirty="0">
                <a:solidFill>
                  <a:srgbClr val="D3DEE8"/>
                </a:solidFill>
                <a:latin typeface="Aptos" pitchFamily="34" charset="0"/>
                <a:ea typeface="Aptos" pitchFamily="34" charset="-122"/>
                <a:cs typeface="Aptos" pitchFamily="34" charset="-120"/>
              </a:rPr>
              <a:t>FMFP: flatter-minima training  →  a stronger confidence baseline for our test</a:t>
            </a:r>
            <a:endParaRPr lang="en-US" sz="18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426"/>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47DAC5"/>
          </a:solidFill>
          <a:ln w="12700">
            <a:solidFill>
              <a:srgbClr val="47DAC5">
                <a:alpha val="0"/>
              </a:srgbClr>
            </a:solidFill>
            <a:prstDash val="solid"/>
          </a:ln>
        </p:spPr>
      </p:sp>
      <p:sp>
        <p:nvSpPr>
          <p:cNvPr id="3" name="Shape 1"/>
          <p:cNvSpPr/>
          <p:nvPr/>
        </p:nvSpPr>
        <p:spPr>
          <a:xfrm>
            <a:off x="676656" y="457200"/>
            <a:ext cx="10844784" cy="0"/>
          </a:xfrm>
          <a:prstGeom prst="line">
            <a:avLst/>
          </a:prstGeom>
          <a:noFill/>
          <a:ln w="8890">
            <a:solidFill>
              <a:srgbClr val="304861"/>
            </a:solidFill>
            <a:prstDash val="solid"/>
          </a:ln>
        </p:spPr>
      </p:sp>
      <p:sp>
        <p:nvSpPr>
          <p:cNvPr id="4" name="Text 2"/>
          <p:cNvSpPr/>
          <p:nvPr/>
        </p:nvSpPr>
        <p:spPr>
          <a:xfrm>
            <a:off x="676656" y="182880"/>
            <a:ext cx="4572000" cy="201168"/>
          </a:xfrm>
          <a:prstGeom prst="rect">
            <a:avLst/>
          </a:prstGeom>
          <a:noFill/>
          <a:ln/>
        </p:spPr>
        <p:txBody>
          <a:bodyPr wrap="square" lIns="0" tIns="0" rIns="0" bIns="0" rtlCol="0" anchor="ctr">
            <a:normAutofit/>
          </a:bodyPr>
          <a:lstStyle/>
          <a:p>
            <a:pPr indent="0" marL="0">
              <a:buNone/>
            </a:pPr>
            <a:r>
              <a:rPr lang="en-US" sz="970" b="1" spc="120" kern="0" dirty="0">
                <a:solidFill>
                  <a:srgbClr val="AFBED0"/>
                </a:solidFill>
                <a:latin typeface="Aptos" pitchFamily="34" charset="0"/>
                <a:ea typeface="Aptos" pitchFamily="34" charset="-122"/>
                <a:cs typeface="Aptos" pitchFamily="34" charset="-120"/>
              </a:rPr>
              <a:t>DS 340W  /  GROUP 2</a:t>
            </a:r>
            <a:endParaRPr lang="en-US" sz="970" dirty="0"/>
          </a:p>
        </p:txBody>
      </p:sp>
      <p:sp>
        <p:nvSpPr>
          <p:cNvPr id="5" name="Text 3"/>
          <p:cNvSpPr/>
          <p:nvPr/>
        </p:nvSpPr>
        <p:spPr>
          <a:xfrm>
            <a:off x="9235440" y="201168"/>
            <a:ext cx="2212848" cy="164592"/>
          </a:xfrm>
          <a:prstGeom prst="rect">
            <a:avLst/>
          </a:prstGeom>
          <a:noFill/>
          <a:ln/>
        </p:spPr>
        <p:txBody>
          <a:bodyPr wrap="square" lIns="0" tIns="0" rIns="0" bIns="0" rtlCol="0" anchor="ctr">
            <a:normAutofit/>
          </a:bodyPr>
          <a:lstStyle/>
          <a:p>
            <a:pPr algn="r" indent="0" marL="0">
              <a:buNone/>
            </a:pPr>
            <a:r>
              <a:rPr lang="en-US" sz="920" b="1" dirty="0">
                <a:solidFill>
                  <a:srgbClr val="AFBED0"/>
                </a:solidFill>
                <a:latin typeface="Aptos" pitchFamily="34" charset="0"/>
                <a:ea typeface="Aptos" pitchFamily="34" charset="-122"/>
                <a:cs typeface="Aptos" pitchFamily="34" charset="-120"/>
              </a:rPr>
              <a:t>PART 1  /  PARENT PAPERS</a:t>
            </a:r>
            <a:endParaRPr lang="en-US" sz="920" dirty="0"/>
          </a:p>
        </p:txBody>
      </p:sp>
      <p:sp>
        <p:nvSpPr>
          <p:cNvPr id="6" name="Shape 4"/>
          <p:cNvSpPr/>
          <p:nvPr/>
        </p:nvSpPr>
        <p:spPr>
          <a:xfrm>
            <a:off x="676656" y="6382512"/>
            <a:ext cx="10853928" cy="0"/>
          </a:xfrm>
          <a:prstGeom prst="line">
            <a:avLst/>
          </a:prstGeom>
          <a:noFill/>
          <a:ln w="8890">
            <a:solidFill>
              <a:srgbClr val="304861"/>
            </a:solidFill>
            <a:prstDash val="solid"/>
          </a:ln>
        </p:spPr>
      </p:sp>
      <p:sp>
        <p:nvSpPr>
          <p:cNvPr id="7" name="Text 5"/>
          <p:cNvSpPr/>
          <p:nvPr/>
        </p:nvSpPr>
        <p:spPr>
          <a:xfrm>
            <a:off x="694944" y="6519672"/>
            <a:ext cx="1188720" cy="155448"/>
          </a:xfrm>
          <a:prstGeom prst="rect">
            <a:avLst/>
          </a:prstGeom>
          <a:noFill/>
          <a:ln/>
        </p:spPr>
        <p:txBody>
          <a:bodyPr wrap="square" lIns="0" tIns="0" rIns="0" bIns="0" rtlCol="0" anchor="ctr">
            <a:normAutofit/>
          </a:bodyPr>
          <a:lstStyle/>
          <a:p>
            <a:pPr indent="0" marL="0">
              <a:buNone/>
            </a:pPr>
            <a:r>
              <a:rPr lang="en-US" sz="1000" b="1" dirty="0">
                <a:solidFill>
                  <a:srgbClr val="AFBED0"/>
                </a:solidFill>
                <a:latin typeface="Aptos" pitchFamily="34" charset="0"/>
                <a:ea typeface="Aptos" pitchFamily="34" charset="-122"/>
                <a:cs typeface="Aptos" pitchFamily="34" charset="-120"/>
              </a:rPr>
              <a:t>04 / 11</a:t>
            </a:r>
            <a:endParaRPr lang="en-US" sz="1000" dirty="0"/>
          </a:p>
        </p:txBody>
      </p:sp>
      <p:sp>
        <p:nvSpPr>
          <p:cNvPr id="8" name="Text 6"/>
          <p:cNvSpPr/>
          <p:nvPr/>
        </p:nvSpPr>
        <p:spPr>
          <a:xfrm>
            <a:off x="8503920" y="6510528"/>
            <a:ext cx="2971800" cy="173736"/>
          </a:xfrm>
          <a:prstGeom prst="rect">
            <a:avLst/>
          </a:prstGeom>
          <a:noFill/>
          <a:ln/>
        </p:spPr>
        <p:txBody>
          <a:bodyPr wrap="square" lIns="0" tIns="0" rIns="0" bIns="0" rtlCol="0" anchor="ctr">
            <a:normAutofit/>
          </a:bodyPr>
          <a:lstStyle/>
          <a:p>
            <a:pPr algn="r" indent="0" marL="0">
              <a:buNone/>
            </a:pPr>
            <a:r>
              <a:rPr lang="en-US" sz="970" b="1" dirty="0">
                <a:solidFill>
                  <a:srgbClr val="AFBED0"/>
                </a:solidFill>
                <a:latin typeface="Aptos" pitchFamily="34" charset="0"/>
                <a:ea typeface="Aptos" pitchFamily="34" charset="-122"/>
                <a:cs typeface="Aptos" pitchFamily="34" charset="-120"/>
              </a:rPr>
              <a:t>SPEAKER  WOOJOO</a:t>
            </a:r>
            <a:endParaRPr lang="en-US" sz="970" dirty="0"/>
          </a:p>
        </p:txBody>
      </p:sp>
      <p:sp>
        <p:nvSpPr>
          <p:cNvPr id="9" name="Text 7"/>
          <p:cNvSpPr/>
          <p:nvPr/>
        </p:nvSpPr>
        <p:spPr>
          <a:xfrm>
            <a:off x="694944" y="6144768"/>
            <a:ext cx="10881360" cy="164592"/>
          </a:xfrm>
          <a:prstGeom prst="rect">
            <a:avLst/>
          </a:prstGeom>
          <a:noFill/>
          <a:ln/>
        </p:spPr>
        <p:txBody>
          <a:bodyPr wrap="square" lIns="0" tIns="0" rIns="0" bIns="0" rtlCol="0" anchor="ctr">
            <a:normAutofit/>
          </a:bodyPr>
          <a:lstStyle/>
          <a:p>
            <a:pPr indent="0" marL="0">
              <a:buNone/>
            </a:pPr>
            <a:r>
              <a:rPr lang="en-US" sz="910" dirty="0">
                <a:solidFill>
                  <a:srgbClr val="AFBED0"/>
                </a:solidFill>
                <a:latin typeface="Aptos" pitchFamily="34" charset="0"/>
                <a:ea typeface="Aptos" pitchFamily="34" charset="-122"/>
                <a:cs typeface="Aptos" pitchFamily="34" charset="-120"/>
              </a:rPr>
              <a:t>Lahoti, Gummadi &amp; Weikum, Responsible model deployment... (Machine Learning, 2023)</a:t>
            </a:r>
            <a:endParaRPr lang="en-US" sz="910" dirty="0"/>
          </a:p>
        </p:txBody>
      </p:sp>
      <p:sp>
        <p:nvSpPr>
          <p:cNvPr id="11" name="Text 8"/>
          <p:cNvSpPr/>
          <p:nvPr/>
        </p:nvSpPr>
        <p:spPr>
          <a:xfrm>
            <a:off x="658368" y="621792"/>
            <a:ext cx="6400800" cy="201168"/>
          </a:xfrm>
          <a:prstGeom prst="rect">
            <a:avLst/>
          </a:prstGeom>
          <a:noFill/>
          <a:ln/>
        </p:spPr>
        <p:txBody>
          <a:bodyPr wrap="square" lIns="0" tIns="0" rIns="0" bIns="0" rtlCol="0" anchor="ctr">
            <a:normAutofit/>
          </a:bodyPr>
          <a:lstStyle/>
          <a:p>
            <a:pPr indent="0" marL="0">
              <a:buNone/>
            </a:pPr>
            <a:r>
              <a:rPr lang="en-US" sz="970" b="1" spc="120" kern="0" dirty="0">
                <a:solidFill>
                  <a:srgbClr val="47DAC5"/>
                </a:solidFill>
                <a:latin typeface="Aptos" pitchFamily="34" charset="0"/>
                <a:ea typeface="Aptos" pitchFamily="34" charset="-122"/>
                <a:cs typeface="Aptos" pitchFamily="34" charset="-120"/>
              </a:rPr>
              <a:t>PAPER 2  /  RISK ADVISOR</a:t>
            </a:r>
            <a:endParaRPr lang="en-US" sz="970" dirty="0"/>
          </a:p>
        </p:txBody>
      </p:sp>
      <p:sp>
        <p:nvSpPr>
          <p:cNvPr id="12" name="Text 9"/>
          <p:cNvSpPr/>
          <p:nvPr/>
        </p:nvSpPr>
        <p:spPr>
          <a:xfrm>
            <a:off x="658368" y="941832"/>
            <a:ext cx="10881360" cy="594360"/>
          </a:xfrm>
          <a:prstGeom prst="rect">
            <a:avLst/>
          </a:prstGeom>
          <a:noFill/>
          <a:ln/>
        </p:spPr>
        <p:txBody>
          <a:bodyPr wrap="square" lIns="0" tIns="0" rIns="0" bIns="0" rtlCol="0" anchor="ctr">
            <a:normAutofit/>
          </a:bodyPr>
          <a:lstStyle/>
          <a:p>
            <a:pPr indent="0" marL="0">
              <a:buNone/>
            </a:pPr>
            <a:r>
              <a:rPr lang="en-US" sz="3100" b="1" dirty="0">
                <a:solidFill>
                  <a:srgbClr val="F4F9FC"/>
                </a:solidFill>
                <a:latin typeface="Aptos" pitchFamily="34" charset="0"/>
                <a:ea typeface="Aptos" pitchFamily="34" charset="-122"/>
                <a:cs typeface="Aptos" pitchFamily="34" charset="-120"/>
              </a:rPr>
              <a:t>Add a second model to predict failure.</a:t>
            </a:r>
            <a:endParaRPr lang="en-US" sz="3100" dirty="0"/>
          </a:p>
        </p:txBody>
      </p:sp>
      <p:sp>
        <p:nvSpPr>
          <p:cNvPr id="13" name="Text 10"/>
          <p:cNvSpPr/>
          <p:nvPr/>
        </p:nvSpPr>
        <p:spPr>
          <a:xfrm>
            <a:off x="676656" y="1627632"/>
            <a:ext cx="10698480" cy="585216"/>
          </a:xfrm>
          <a:prstGeom prst="rect">
            <a:avLst/>
          </a:prstGeom>
          <a:noFill/>
          <a:ln/>
        </p:spPr>
        <p:txBody>
          <a:bodyPr wrap="square" lIns="0" tIns="0" rIns="0" bIns="0" rtlCol="0" anchor="t">
            <a:normAutofit/>
          </a:bodyPr>
          <a:lstStyle/>
          <a:p>
            <a:pPr indent="0" marL="0">
              <a:buNone/>
            </a:pPr>
            <a:r>
              <a:rPr lang="en-US" sz="1630" dirty="0">
                <a:solidFill>
                  <a:srgbClr val="AFBED0"/>
                </a:solidFill>
                <a:latin typeface="Aptos" pitchFamily="34" charset="0"/>
                <a:ea typeface="Aptos" pitchFamily="34" charset="-122"/>
                <a:cs typeface="Aptos" pitchFamily="34" charset="-120"/>
              </a:rPr>
              <a:t>A post-hoc meta-learner works beside an existing classifier.</a:t>
            </a:r>
            <a:endParaRPr lang="en-US" sz="1630" dirty="0"/>
          </a:p>
        </p:txBody>
      </p:sp>
      <p:sp>
        <p:nvSpPr>
          <p:cNvPr id="14" name="Shape 11"/>
          <p:cNvSpPr/>
          <p:nvPr/>
        </p:nvSpPr>
        <p:spPr>
          <a:xfrm>
            <a:off x="777240" y="2395728"/>
            <a:ext cx="2990088" cy="1371600"/>
          </a:xfrm>
          <a:prstGeom prst="roundRect">
            <a:avLst>
              <a:gd name="adj" fmla="val 12000"/>
            </a:avLst>
          </a:prstGeom>
          <a:solidFill>
            <a:srgbClr val="14273F"/>
          </a:solidFill>
          <a:ln w="10795">
            <a:solidFill>
              <a:srgbClr val="304861"/>
            </a:solidFill>
            <a:prstDash val="solid"/>
          </a:ln>
        </p:spPr>
      </p:sp>
      <p:sp>
        <p:nvSpPr>
          <p:cNvPr id="15" name="Text 12"/>
          <p:cNvSpPr/>
          <p:nvPr/>
        </p:nvSpPr>
        <p:spPr>
          <a:xfrm>
            <a:off x="1024128" y="2624328"/>
            <a:ext cx="2514600" cy="201168"/>
          </a:xfrm>
          <a:prstGeom prst="rect">
            <a:avLst/>
          </a:prstGeom>
          <a:noFill/>
          <a:ln/>
        </p:spPr>
        <p:txBody>
          <a:bodyPr wrap="square" lIns="0" tIns="0" rIns="0" bIns="0" rtlCol="0" anchor="ctr">
            <a:normAutofit/>
          </a:bodyPr>
          <a:lstStyle/>
          <a:p>
            <a:pPr indent="0" marL="0">
              <a:buNone/>
            </a:pPr>
            <a:r>
              <a:rPr lang="en-US" sz="970" b="1" spc="120" kern="0" dirty="0">
                <a:solidFill>
                  <a:srgbClr val="6EABF3"/>
                </a:solidFill>
                <a:latin typeface="Aptos" pitchFamily="34" charset="0"/>
                <a:ea typeface="Aptos" pitchFamily="34" charset="-122"/>
                <a:cs typeface="Aptos" pitchFamily="34" charset="-120"/>
              </a:rPr>
              <a:t>BASE CLASSIFIER</a:t>
            </a:r>
            <a:endParaRPr lang="en-US" sz="970" dirty="0"/>
          </a:p>
        </p:txBody>
      </p:sp>
      <p:sp>
        <p:nvSpPr>
          <p:cNvPr id="16" name="Text 13"/>
          <p:cNvSpPr/>
          <p:nvPr/>
        </p:nvSpPr>
        <p:spPr>
          <a:xfrm>
            <a:off x="1033272" y="2962656"/>
            <a:ext cx="2560320" cy="301752"/>
          </a:xfrm>
          <a:prstGeom prst="rect">
            <a:avLst/>
          </a:prstGeom>
          <a:noFill/>
          <a:ln/>
        </p:spPr>
        <p:txBody>
          <a:bodyPr wrap="square" lIns="0" tIns="0" rIns="0" bIns="0" rtlCol="0" anchor="ctr">
            <a:normAutofit/>
          </a:bodyPr>
          <a:lstStyle/>
          <a:p>
            <a:pPr indent="0" marL="0">
              <a:buNone/>
            </a:pPr>
            <a:r>
              <a:rPr lang="en-US" sz="1900" b="1" dirty="0">
                <a:solidFill>
                  <a:srgbClr val="F4F9FC"/>
                </a:solidFill>
                <a:latin typeface="Aptos" pitchFamily="34" charset="0"/>
                <a:ea typeface="Aptos" pitchFamily="34" charset="-122"/>
                <a:cs typeface="Aptos" pitchFamily="34" charset="-120"/>
              </a:rPr>
              <a:t>Prediction + score</a:t>
            </a:r>
            <a:endParaRPr lang="en-US" sz="1900" dirty="0"/>
          </a:p>
        </p:txBody>
      </p:sp>
      <p:sp>
        <p:nvSpPr>
          <p:cNvPr id="17" name="Shape 14"/>
          <p:cNvSpPr/>
          <p:nvPr/>
        </p:nvSpPr>
        <p:spPr>
          <a:xfrm>
            <a:off x="4005072" y="2907792"/>
            <a:ext cx="484632" cy="320040"/>
          </a:xfrm>
          <a:prstGeom prst="chevron">
            <a:avLst/>
          </a:prstGeom>
          <a:solidFill>
            <a:srgbClr val="47DAC5"/>
          </a:solidFill>
          <a:ln w="12700">
            <a:solidFill>
              <a:srgbClr val="47DAC5">
                <a:alpha val="0"/>
              </a:srgbClr>
            </a:solidFill>
            <a:prstDash val="solid"/>
          </a:ln>
        </p:spPr>
      </p:sp>
      <p:sp>
        <p:nvSpPr>
          <p:cNvPr id="18" name="Shape 15"/>
          <p:cNvSpPr/>
          <p:nvPr/>
        </p:nvSpPr>
        <p:spPr>
          <a:xfrm>
            <a:off x="4690872" y="2395728"/>
            <a:ext cx="2953512" cy="1371600"/>
          </a:xfrm>
          <a:prstGeom prst="roundRect">
            <a:avLst>
              <a:gd name="adj" fmla="val 12000"/>
            </a:avLst>
          </a:prstGeom>
          <a:solidFill>
            <a:srgbClr val="14273F"/>
          </a:solidFill>
          <a:ln w="10795">
            <a:solidFill>
              <a:srgbClr val="304861"/>
            </a:solidFill>
            <a:prstDash val="solid"/>
          </a:ln>
        </p:spPr>
      </p:sp>
      <p:sp>
        <p:nvSpPr>
          <p:cNvPr id="19" name="Text 16"/>
          <p:cNvSpPr/>
          <p:nvPr/>
        </p:nvSpPr>
        <p:spPr>
          <a:xfrm>
            <a:off x="4946904" y="2624328"/>
            <a:ext cx="2468880" cy="201168"/>
          </a:xfrm>
          <a:prstGeom prst="rect">
            <a:avLst/>
          </a:prstGeom>
          <a:noFill/>
          <a:ln/>
        </p:spPr>
        <p:txBody>
          <a:bodyPr wrap="square" lIns="0" tIns="0" rIns="0" bIns="0" rtlCol="0" anchor="ctr">
            <a:normAutofit/>
          </a:bodyPr>
          <a:lstStyle/>
          <a:p>
            <a:pPr indent="0" marL="0">
              <a:buNone/>
            </a:pPr>
            <a:r>
              <a:rPr lang="en-US" sz="970" b="1" spc="120" kern="0" dirty="0">
                <a:solidFill>
                  <a:srgbClr val="F5BE70"/>
                </a:solidFill>
                <a:latin typeface="Aptos" pitchFamily="34" charset="0"/>
                <a:ea typeface="Aptos" pitchFamily="34" charset="-122"/>
                <a:cs typeface="Aptos" pitchFamily="34" charset="-120"/>
              </a:rPr>
              <a:t>SEPARATE ADVISOR</a:t>
            </a:r>
            <a:endParaRPr lang="en-US" sz="970" dirty="0"/>
          </a:p>
        </p:txBody>
      </p:sp>
      <p:sp>
        <p:nvSpPr>
          <p:cNvPr id="20" name="Text 17"/>
          <p:cNvSpPr/>
          <p:nvPr/>
        </p:nvSpPr>
        <p:spPr>
          <a:xfrm>
            <a:off x="4946904" y="2962656"/>
            <a:ext cx="2468880" cy="301752"/>
          </a:xfrm>
          <a:prstGeom prst="rect">
            <a:avLst/>
          </a:prstGeom>
          <a:noFill/>
          <a:ln/>
        </p:spPr>
        <p:txBody>
          <a:bodyPr wrap="square" lIns="0" tIns="0" rIns="0" bIns="0" rtlCol="0" anchor="ctr">
            <a:normAutofit/>
          </a:bodyPr>
          <a:lstStyle/>
          <a:p>
            <a:pPr indent="0" marL="0">
              <a:buNone/>
            </a:pPr>
            <a:r>
              <a:rPr lang="en-US" sz="1900" b="1" dirty="0">
                <a:solidFill>
                  <a:srgbClr val="F4F9FC"/>
                </a:solidFill>
                <a:latin typeface="Aptos" pitchFamily="34" charset="0"/>
                <a:ea typeface="Aptos" pitchFamily="34" charset="-122"/>
                <a:cs typeface="Aptos" pitchFamily="34" charset="-120"/>
              </a:rPr>
              <a:t>Estimated error risk</a:t>
            </a:r>
            <a:endParaRPr lang="en-US" sz="1900" dirty="0"/>
          </a:p>
        </p:txBody>
      </p:sp>
      <p:sp>
        <p:nvSpPr>
          <p:cNvPr id="21" name="Shape 18"/>
          <p:cNvSpPr/>
          <p:nvPr/>
        </p:nvSpPr>
        <p:spPr>
          <a:xfrm>
            <a:off x="7900416" y="2907792"/>
            <a:ext cx="484632" cy="320040"/>
          </a:xfrm>
          <a:prstGeom prst="chevron">
            <a:avLst/>
          </a:prstGeom>
          <a:solidFill>
            <a:srgbClr val="47DAC5"/>
          </a:solidFill>
          <a:ln w="12700">
            <a:solidFill>
              <a:srgbClr val="47DAC5">
                <a:alpha val="0"/>
              </a:srgbClr>
            </a:solidFill>
            <a:prstDash val="solid"/>
          </a:ln>
        </p:spPr>
      </p:sp>
      <p:sp>
        <p:nvSpPr>
          <p:cNvPr id="22" name="Shape 19"/>
          <p:cNvSpPr/>
          <p:nvPr/>
        </p:nvSpPr>
        <p:spPr>
          <a:xfrm>
            <a:off x="8586216" y="2395728"/>
            <a:ext cx="2779776" cy="1371600"/>
          </a:xfrm>
          <a:prstGeom prst="roundRect">
            <a:avLst>
              <a:gd name="adj" fmla="val 12000"/>
            </a:avLst>
          </a:prstGeom>
          <a:solidFill>
            <a:srgbClr val="14273F"/>
          </a:solidFill>
          <a:ln w="10795">
            <a:solidFill>
              <a:srgbClr val="304861"/>
            </a:solidFill>
            <a:prstDash val="solid"/>
          </a:ln>
        </p:spPr>
      </p:sp>
      <p:sp>
        <p:nvSpPr>
          <p:cNvPr id="23" name="Text 20"/>
          <p:cNvSpPr/>
          <p:nvPr/>
        </p:nvSpPr>
        <p:spPr>
          <a:xfrm>
            <a:off x="8823960" y="2624328"/>
            <a:ext cx="2286000" cy="201168"/>
          </a:xfrm>
          <a:prstGeom prst="rect">
            <a:avLst/>
          </a:prstGeom>
          <a:noFill/>
          <a:ln/>
        </p:spPr>
        <p:txBody>
          <a:bodyPr wrap="square" lIns="0" tIns="0" rIns="0" bIns="0" rtlCol="0" anchor="ctr">
            <a:normAutofit/>
          </a:bodyPr>
          <a:lstStyle/>
          <a:p>
            <a:pPr indent="0" marL="0">
              <a:buNone/>
            </a:pPr>
            <a:r>
              <a:rPr lang="en-US" sz="970" b="1" spc="120" kern="0" dirty="0">
                <a:solidFill>
                  <a:srgbClr val="47DAC5"/>
                </a:solidFill>
                <a:latin typeface="Aptos" pitchFamily="34" charset="0"/>
                <a:ea typeface="Aptos" pitchFamily="34" charset="-122"/>
                <a:cs typeface="Aptos" pitchFamily="34" charset="-120"/>
              </a:rPr>
              <a:t>ACTIONABLE SIGNAL</a:t>
            </a:r>
            <a:endParaRPr lang="en-US" sz="970" dirty="0"/>
          </a:p>
        </p:txBody>
      </p:sp>
      <p:sp>
        <p:nvSpPr>
          <p:cNvPr id="24" name="Text 21"/>
          <p:cNvSpPr/>
          <p:nvPr/>
        </p:nvSpPr>
        <p:spPr>
          <a:xfrm>
            <a:off x="8823960" y="2962656"/>
            <a:ext cx="2258568" cy="301752"/>
          </a:xfrm>
          <a:prstGeom prst="rect">
            <a:avLst/>
          </a:prstGeom>
          <a:noFill/>
          <a:ln/>
        </p:spPr>
        <p:txBody>
          <a:bodyPr wrap="square" lIns="0" tIns="0" rIns="0" bIns="0" rtlCol="0" anchor="ctr">
            <a:normAutofit/>
          </a:bodyPr>
          <a:lstStyle/>
          <a:p>
            <a:pPr indent="0" marL="0">
              <a:buNone/>
            </a:pPr>
            <a:r>
              <a:rPr lang="en-US" sz="1730" b="1" dirty="0">
                <a:solidFill>
                  <a:srgbClr val="F4F9FC"/>
                </a:solidFill>
                <a:latin typeface="Aptos" pitchFamily="34" charset="0"/>
                <a:ea typeface="Aptos" pitchFamily="34" charset="-122"/>
                <a:cs typeface="Aptos" pitchFamily="34" charset="-120"/>
              </a:rPr>
              <a:t>Flag likely mistakes</a:t>
            </a:r>
            <a:endParaRPr lang="en-US" sz="1730" dirty="0"/>
          </a:p>
        </p:txBody>
      </p:sp>
      <p:sp>
        <p:nvSpPr>
          <p:cNvPr id="25" name="Text 22"/>
          <p:cNvSpPr/>
          <p:nvPr/>
        </p:nvSpPr>
        <p:spPr>
          <a:xfrm>
            <a:off x="777240" y="4370832"/>
            <a:ext cx="4572000" cy="201168"/>
          </a:xfrm>
          <a:prstGeom prst="rect">
            <a:avLst/>
          </a:prstGeom>
          <a:noFill/>
          <a:ln/>
        </p:spPr>
        <p:txBody>
          <a:bodyPr wrap="square" lIns="0" tIns="0" rIns="0" bIns="0" rtlCol="0" anchor="ctr">
            <a:normAutofit/>
          </a:bodyPr>
          <a:lstStyle/>
          <a:p>
            <a:pPr indent="0" marL="0">
              <a:buNone/>
            </a:pPr>
            <a:r>
              <a:rPr lang="en-US" sz="970" b="1" spc="120" kern="0" dirty="0">
                <a:solidFill>
                  <a:srgbClr val="AFBED0"/>
                </a:solidFill>
                <a:latin typeface="Aptos" pitchFamily="34" charset="0"/>
                <a:ea typeface="Aptos" pitchFamily="34" charset="-122"/>
                <a:cs typeface="Aptos" pitchFamily="34" charset="-120"/>
              </a:rPr>
              <a:t>WHAT MAY CAUSE THE RISK?</a:t>
            </a:r>
            <a:endParaRPr lang="en-US" sz="970" dirty="0"/>
          </a:p>
        </p:txBody>
      </p:sp>
      <p:sp>
        <p:nvSpPr>
          <p:cNvPr id="26" name="Shape 23"/>
          <p:cNvSpPr/>
          <p:nvPr/>
        </p:nvSpPr>
        <p:spPr>
          <a:xfrm>
            <a:off x="786384" y="4818888"/>
            <a:ext cx="3218688" cy="365760"/>
          </a:xfrm>
          <a:prstGeom prst="roundRect">
            <a:avLst>
              <a:gd name="adj" fmla="val 37500"/>
            </a:avLst>
          </a:prstGeom>
          <a:solidFill>
            <a:srgbClr val="192E47"/>
          </a:solidFill>
          <a:ln w="10795">
            <a:solidFill>
              <a:srgbClr val="304861"/>
            </a:solidFill>
            <a:prstDash val="solid"/>
          </a:ln>
        </p:spPr>
      </p:sp>
      <p:sp>
        <p:nvSpPr>
          <p:cNvPr id="27" name="Text 24"/>
          <p:cNvSpPr/>
          <p:nvPr/>
        </p:nvSpPr>
        <p:spPr>
          <a:xfrm>
            <a:off x="868680" y="4869180"/>
            <a:ext cx="3054096" cy="246888"/>
          </a:xfrm>
          <a:prstGeom prst="rect">
            <a:avLst/>
          </a:prstGeom>
          <a:noFill/>
          <a:ln/>
        </p:spPr>
        <p:txBody>
          <a:bodyPr wrap="square" lIns="0" tIns="0" rIns="0" bIns="0" rtlCol="0" anchor="ctr">
            <a:normAutofit/>
          </a:bodyPr>
          <a:lstStyle/>
          <a:p>
            <a:pPr algn="ctr" indent="0" marL="0">
              <a:buNone/>
            </a:pPr>
            <a:r>
              <a:rPr lang="en-US" sz="1140" b="1" dirty="0">
                <a:solidFill>
                  <a:srgbClr val="FA8A88"/>
                </a:solidFill>
                <a:latin typeface="Aptos" pitchFamily="34" charset="0"/>
                <a:ea typeface="Aptos" pitchFamily="34" charset="-122"/>
                <a:cs typeface="Aptos" pitchFamily="34" charset="-120"/>
              </a:rPr>
              <a:t>NOISE IN DATA</a:t>
            </a:r>
            <a:endParaRPr lang="en-US" sz="1140" dirty="0"/>
          </a:p>
        </p:txBody>
      </p:sp>
      <p:sp>
        <p:nvSpPr>
          <p:cNvPr id="28" name="Shape 25"/>
          <p:cNvSpPr/>
          <p:nvPr/>
        </p:nvSpPr>
        <p:spPr>
          <a:xfrm>
            <a:off x="4160520" y="4818888"/>
            <a:ext cx="3218688" cy="365760"/>
          </a:xfrm>
          <a:prstGeom prst="roundRect">
            <a:avLst>
              <a:gd name="adj" fmla="val 37500"/>
            </a:avLst>
          </a:prstGeom>
          <a:solidFill>
            <a:srgbClr val="192E47"/>
          </a:solidFill>
          <a:ln w="10795">
            <a:solidFill>
              <a:srgbClr val="304861"/>
            </a:solidFill>
            <a:prstDash val="solid"/>
          </a:ln>
        </p:spPr>
      </p:sp>
      <p:sp>
        <p:nvSpPr>
          <p:cNvPr id="29" name="Text 26"/>
          <p:cNvSpPr/>
          <p:nvPr/>
        </p:nvSpPr>
        <p:spPr>
          <a:xfrm>
            <a:off x="4242816" y="4869180"/>
            <a:ext cx="3054096" cy="246888"/>
          </a:xfrm>
          <a:prstGeom prst="rect">
            <a:avLst/>
          </a:prstGeom>
          <a:noFill/>
          <a:ln/>
        </p:spPr>
        <p:txBody>
          <a:bodyPr wrap="square" lIns="0" tIns="0" rIns="0" bIns="0" rtlCol="0" anchor="ctr">
            <a:normAutofit/>
          </a:bodyPr>
          <a:lstStyle/>
          <a:p>
            <a:pPr algn="ctr" indent="0" marL="0">
              <a:buNone/>
            </a:pPr>
            <a:r>
              <a:rPr lang="en-US" sz="1140" b="1" dirty="0">
                <a:solidFill>
                  <a:srgbClr val="B4A3F5"/>
                </a:solidFill>
                <a:latin typeface="Aptos" pitchFamily="34" charset="0"/>
                <a:ea typeface="Aptos" pitchFamily="34" charset="-122"/>
                <a:cs typeface="Aptos" pitchFamily="34" charset="-120"/>
              </a:rPr>
              <a:t>UNSEEN EXAMPLES</a:t>
            </a:r>
            <a:endParaRPr lang="en-US" sz="1140" dirty="0"/>
          </a:p>
        </p:txBody>
      </p:sp>
      <p:sp>
        <p:nvSpPr>
          <p:cNvPr id="30" name="Shape 27"/>
          <p:cNvSpPr/>
          <p:nvPr/>
        </p:nvSpPr>
        <p:spPr>
          <a:xfrm>
            <a:off x="7525512" y="4818888"/>
            <a:ext cx="3822192" cy="365760"/>
          </a:xfrm>
          <a:prstGeom prst="roundRect">
            <a:avLst>
              <a:gd name="adj" fmla="val 37500"/>
            </a:avLst>
          </a:prstGeom>
          <a:solidFill>
            <a:srgbClr val="192E47"/>
          </a:solidFill>
          <a:ln w="10795">
            <a:solidFill>
              <a:srgbClr val="304861"/>
            </a:solidFill>
            <a:prstDash val="solid"/>
          </a:ln>
        </p:spPr>
      </p:sp>
      <p:sp>
        <p:nvSpPr>
          <p:cNvPr id="31" name="Text 28"/>
          <p:cNvSpPr/>
          <p:nvPr/>
        </p:nvSpPr>
        <p:spPr>
          <a:xfrm>
            <a:off x="7607808" y="4869180"/>
            <a:ext cx="3657600" cy="246888"/>
          </a:xfrm>
          <a:prstGeom prst="rect">
            <a:avLst/>
          </a:prstGeom>
          <a:noFill/>
          <a:ln/>
        </p:spPr>
        <p:txBody>
          <a:bodyPr wrap="square" lIns="0" tIns="0" rIns="0" bIns="0" rtlCol="0" anchor="ctr">
            <a:normAutofit/>
          </a:bodyPr>
          <a:lstStyle/>
          <a:p>
            <a:pPr algn="ctr" indent="0" marL="0">
              <a:buNone/>
            </a:pPr>
            <a:r>
              <a:rPr lang="en-US" sz="1140" b="1" dirty="0">
                <a:solidFill>
                  <a:srgbClr val="F5BE70"/>
                </a:solidFill>
                <a:latin typeface="Aptos" pitchFamily="34" charset="0"/>
                <a:ea typeface="Aptos" pitchFamily="34" charset="-122"/>
                <a:cs typeface="Aptos" pitchFamily="34" charset="-120"/>
              </a:rPr>
              <a:t>MODEL LIMITATIONS</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426"/>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47DAC5"/>
          </a:solidFill>
          <a:ln w="12700">
            <a:solidFill>
              <a:srgbClr val="47DAC5">
                <a:alpha val="0"/>
              </a:srgbClr>
            </a:solidFill>
            <a:prstDash val="solid"/>
          </a:ln>
        </p:spPr>
      </p:sp>
      <p:sp>
        <p:nvSpPr>
          <p:cNvPr id="3" name="Shape 1"/>
          <p:cNvSpPr/>
          <p:nvPr/>
        </p:nvSpPr>
        <p:spPr>
          <a:xfrm>
            <a:off x="676656" y="457200"/>
            <a:ext cx="10844784" cy="0"/>
          </a:xfrm>
          <a:prstGeom prst="line">
            <a:avLst/>
          </a:prstGeom>
          <a:noFill/>
          <a:ln w="8890">
            <a:solidFill>
              <a:srgbClr val="304861"/>
            </a:solidFill>
            <a:prstDash val="solid"/>
          </a:ln>
        </p:spPr>
      </p:sp>
      <p:sp>
        <p:nvSpPr>
          <p:cNvPr id="4" name="Text 2"/>
          <p:cNvSpPr/>
          <p:nvPr/>
        </p:nvSpPr>
        <p:spPr>
          <a:xfrm>
            <a:off x="676656" y="182880"/>
            <a:ext cx="4572000" cy="201168"/>
          </a:xfrm>
          <a:prstGeom prst="rect">
            <a:avLst/>
          </a:prstGeom>
          <a:noFill/>
          <a:ln/>
        </p:spPr>
        <p:txBody>
          <a:bodyPr wrap="square" lIns="0" tIns="0" rIns="0" bIns="0" rtlCol="0" anchor="ctr">
            <a:normAutofit/>
          </a:bodyPr>
          <a:lstStyle/>
          <a:p>
            <a:pPr indent="0" marL="0">
              <a:buNone/>
            </a:pPr>
            <a:r>
              <a:rPr lang="en-US" sz="970" b="1" spc="120" kern="0" dirty="0">
                <a:solidFill>
                  <a:srgbClr val="AFBED0"/>
                </a:solidFill>
                <a:latin typeface="Aptos" pitchFamily="34" charset="0"/>
                <a:ea typeface="Aptos" pitchFamily="34" charset="-122"/>
                <a:cs typeface="Aptos" pitchFamily="34" charset="-120"/>
              </a:rPr>
              <a:t>DS 340W  /  GROUP 2</a:t>
            </a:r>
            <a:endParaRPr lang="en-US" sz="970" dirty="0"/>
          </a:p>
        </p:txBody>
      </p:sp>
      <p:sp>
        <p:nvSpPr>
          <p:cNvPr id="5" name="Text 3"/>
          <p:cNvSpPr/>
          <p:nvPr/>
        </p:nvSpPr>
        <p:spPr>
          <a:xfrm>
            <a:off x="9235440" y="201168"/>
            <a:ext cx="2212848" cy="164592"/>
          </a:xfrm>
          <a:prstGeom prst="rect">
            <a:avLst/>
          </a:prstGeom>
          <a:noFill/>
          <a:ln/>
        </p:spPr>
        <p:txBody>
          <a:bodyPr wrap="square" lIns="0" tIns="0" rIns="0" bIns="0" rtlCol="0" anchor="ctr">
            <a:normAutofit/>
          </a:bodyPr>
          <a:lstStyle/>
          <a:p>
            <a:pPr algn="r" indent="0" marL="0">
              <a:buNone/>
            </a:pPr>
            <a:r>
              <a:rPr lang="en-US" sz="920" b="1" dirty="0">
                <a:solidFill>
                  <a:srgbClr val="AFBED0"/>
                </a:solidFill>
                <a:latin typeface="Aptos" pitchFamily="34" charset="0"/>
                <a:ea typeface="Aptos" pitchFamily="34" charset="-122"/>
                <a:cs typeface="Aptos" pitchFamily="34" charset="-120"/>
              </a:rPr>
              <a:t>PART 1  /  PARENT PAPERS</a:t>
            </a:r>
            <a:endParaRPr lang="en-US" sz="920" dirty="0"/>
          </a:p>
        </p:txBody>
      </p:sp>
      <p:sp>
        <p:nvSpPr>
          <p:cNvPr id="6" name="Shape 4"/>
          <p:cNvSpPr/>
          <p:nvPr/>
        </p:nvSpPr>
        <p:spPr>
          <a:xfrm>
            <a:off x="676656" y="6382512"/>
            <a:ext cx="10853928" cy="0"/>
          </a:xfrm>
          <a:prstGeom prst="line">
            <a:avLst/>
          </a:prstGeom>
          <a:noFill/>
          <a:ln w="8890">
            <a:solidFill>
              <a:srgbClr val="304861"/>
            </a:solidFill>
            <a:prstDash val="solid"/>
          </a:ln>
        </p:spPr>
      </p:sp>
      <p:sp>
        <p:nvSpPr>
          <p:cNvPr id="7" name="Text 5"/>
          <p:cNvSpPr/>
          <p:nvPr/>
        </p:nvSpPr>
        <p:spPr>
          <a:xfrm>
            <a:off x="694944" y="6519672"/>
            <a:ext cx="1188720" cy="155448"/>
          </a:xfrm>
          <a:prstGeom prst="rect">
            <a:avLst/>
          </a:prstGeom>
          <a:noFill/>
          <a:ln/>
        </p:spPr>
        <p:txBody>
          <a:bodyPr wrap="square" lIns="0" tIns="0" rIns="0" bIns="0" rtlCol="0" anchor="ctr">
            <a:normAutofit/>
          </a:bodyPr>
          <a:lstStyle/>
          <a:p>
            <a:pPr indent="0" marL="0">
              <a:buNone/>
            </a:pPr>
            <a:r>
              <a:rPr lang="en-US" sz="1000" b="1" dirty="0">
                <a:solidFill>
                  <a:srgbClr val="AFBED0"/>
                </a:solidFill>
                <a:latin typeface="Aptos" pitchFamily="34" charset="0"/>
                <a:ea typeface="Aptos" pitchFamily="34" charset="-122"/>
                <a:cs typeface="Aptos" pitchFamily="34" charset="-120"/>
              </a:rPr>
              <a:t>05 / 11</a:t>
            </a:r>
            <a:endParaRPr lang="en-US" sz="1000" dirty="0"/>
          </a:p>
        </p:txBody>
      </p:sp>
      <p:sp>
        <p:nvSpPr>
          <p:cNvPr id="8" name="Text 6"/>
          <p:cNvSpPr/>
          <p:nvPr/>
        </p:nvSpPr>
        <p:spPr>
          <a:xfrm>
            <a:off x="8503920" y="6510528"/>
            <a:ext cx="2971800" cy="173736"/>
          </a:xfrm>
          <a:prstGeom prst="rect">
            <a:avLst/>
          </a:prstGeom>
          <a:noFill/>
          <a:ln/>
        </p:spPr>
        <p:txBody>
          <a:bodyPr wrap="square" lIns="0" tIns="0" rIns="0" bIns="0" rtlCol="0" anchor="ctr">
            <a:normAutofit/>
          </a:bodyPr>
          <a:lstStyle/>
          <a:p>
            <a:pPr algn="r" indent="0" marL="0">
              <a:buNone/>
            </a:pPr>
            <a:r>
              <a:rPr lang="en-US" sz="970" b="1" dirty="0">
                <a:solidFill>
                  <a:srgbClr val="AFBED0"/>
                </a:solidFill>
                <a:latin typeface="Aptos" pitchFamily="34" charset="0"/>
                <a:ea typeface="Aptos" pitchFamily="34" charset="-122"/>
                <a:cs typeface="Aptos" pitchFamily="34" charset="-120"/>
              </a:rPr>
              <a:t>SPEAKER  JUNBO</a:t>
            </a:r>
            <a:endParaRPr lang="en-US" sz="970" dirty="0"/>
          </a:p>
        </p:txBody>
      </p:sp>
      <p:sp>
        <p:nvSpPr>
          <p:cNvPr id="9" name="Text 7"/>
          <p:cNvSpPr/>
          <p:nvPr/>
        </p:nvSpPr>
        <p:spPr>
          <a:xfrm>
            <a:off x="694944" y="6144768"/>
            <a:ext cx="10881360" cy="164592"/>
          </a:xfrm>
          <a:prstGeom prst="rect">
            <a:avLst/>
          </a:prstGeom>
          <a:noFill/>
          <a:ln/>
        </p:spPr>
        <p:txBody>
          <a:bodyPr wrap="square" lIns="0" tIns="0" rIns="0" bIns="0" rtlCol="0" anchor="ctr">
            <a:normAutofit/>
          </a:bodyPr>
          <a:lstStyle/>
          <a:p>
            <a:pPr indent="0" marL="0">
              <a:buNone/>
            </a:pPr>
            <a:r>
              <a:rPr lang="en-US" sz="910" dirty="0">
                <a:solidFill>
                  <a:srgbClr val="AFBED0"/>
                </a:solidFill>
                <a:latin typeface="Aptos" pitchFamily="34" charset="0"/>
                <a:ea typeface="Aptos" pitchFamily="34" charset="-122"/>
                <a:cs typeface="Aptos" pitchFamily="34" charset="-120"/>
              </a:rPr>
              <a:t>Vela et al., Temporal quality degradation in AI models (Scientific Reports, 2022)</a:t>
            </a:r>
            <a:endParaRPr lang="en-US" sz="910" dirty="0"/>
          </a:p>
        </p:txBody>
      </p:sp>
      <p:sp>
        <p:nvSpPr>
          <p:cNvPr id="11" name="Text 8"/>
          <p:cNvSpPr/>
          <p:nvPr/>
        </p:nvSpPr>
        <p:spPr>
          <a:xfrm>
            <a:off x="658368" y="621792"/>
            <a:ext cx="6400800" cy="201168"/>
          </a:xfrm>
          <a:prstGeom prst="rect">
            <a:avLst/>
          </a:prstGeom>
          <a:noFill/>
          <a:ln/>
        </p:spPr>
        <p:txBody>
          <a:bodyPr wrap="square" lIns="0" tIns="0" rIns="0" bIns="0" rtlCol="0" anchor="ctr">
            <a:normAutofit/>
          </a:bodyPr>
          <a:lstStyle/>
          <a:p>
            <a:pPr indent="0" marL="0">
              <a:buNone/>
            </a:pPr>
            <a:r>
              <a:rPr lang="en-US" sz="970" b="1" spc="120" kern="0" dirty="0">
                <a:solidFill>
                  <a:srgbClr val="47DAC5"/>
                </a:solidFill>
                <a:latin typeface="Aptos" pitchFamily="34" charset="0"/>
                <a:ea typeface="Aptos" pitchFamily="34" charset="-122"/>
                <a:cs typeface="Aptos" pitchFamily="34" charset="-120"/>
              </a:rPr>
              <a:t>PAPER 3  /  MODEL AGING</a:t>
            </a:r>
            <a:endParaRPr lang="en-US" sz="970" dirty="0"/>
          </a:p>
        </p:txBody>
      </p:sp>
      <p:sp>
        <p:nvSpPr>
          <p:cNvPr id="12" name="Text 9"/>
          <p:cNvSpPr/>
          <p:nvPr/>
        </p:nvSpPr>
        <p:spPr>
          <a:xfrm>
            <a:off x="658368" y="941832"/>
            <a:ext cx="10881360" cy="594360"/>
          </a:xfrm>
          <a:prstGeom prst="rect">
            <a:avLst/>
          </a:prstGeom>
          <a:noFill/>
          <a:ln/>
        </p:spPr>
        <p:txBody>
          <a:bodyPr wrap="square" lIns="0" tIns="0" rIns="0" bIns="0" rtlCol="0" anchor="ctr">
            <a:normAutofit/>
          </a:bodyPr>
          <a:lstStyle/>
          <a:p>
            <a:pPr indent="0" marL="0">
              <a:buNone/>
            </a:pPr>
            <a:r>
              <a:rPr lang="en-US" sz="3100" b="1" dirty="0">
                <a:solidFill>
                  <a:srgbClr val="F4F9FC"/>
                </a:solidFill>
                <a:latin typeface="Aptos" pitchFamily="34" charset="0"/>
                <a:ea typeface="Aptos" pitchFamily="34" charset="-122"/>
                <a:cs typeface="Aptos" pitchFamily="34" charset="-120"/>
              </a:rPr>
              <a:t>Good accuracy today may not last.</a:t>
            </a:r>
            <a:endParaRPr lang="en-US" sz="3100" dirty="0"/>
          </a:p>
        </p:txBody>
      </p:sp>
      <p:sp>
        <p:nvSpPr>
          <p:cNvPr id="13" name="Text 10"/>
          <p:cNvSpPr/>
          <p:nvPr/>
        </p:nvSpPr>
        <p:spPr>
          <a:xfrm>
            <a:off x="676656" y="1627632"/>
            <a:ext cx="10698480" cy="585216"/>
          </a:xfrm>
          <a:prstGeom prst="rect">
            <a:avLst/>
          </a:prstGeom>
          <a:noFill/>
          <a:ln/>
        </p:spPr>
        <p:txBody>
          <a:bodyPr wrap="square" lIns="0" tIns="0" rIns="0" bIns="0" rtlCol="0" anchor="t">
            <a:normAutofit/>
          </a:bodyPr>
          <a:lstStyle/>
          <a:p>
            <a:pPr indent="0" marL="0">
              <a:buNone/>
            </a:pPr>
            <a:r>
              <a:rPr lang="en-US" sz="1630" dirty="0">
                <a:solidFill>
                  <a:srgbClr val="AFBED0"/>
                </a:solidFill>
                <a:latin typeface="Aptos" pitchFamily="34" charset="0"/>
                <a:ea typeface="Aptos" pitchFamily="34" charset="-122"/>
                <a:cs typeface="Aptos" pitchFamily="34" charset="-120"/>
              </a:rPr>
              <a:t>The source paper tested models over real time; our study uses a different kind of shift.</a:t>
            </a:r>
            <a:endParaRPr lang="en-US" sz="1630" dirty="0"/>
          </a:p>
        </p:txBody>
      </p:sp>
      <p:sp>
        <p:nvSpPr>
          <p:cNvPr id="14" name="Shape 11"/>
          <p:cNvSpPr/>
          <p:nvPr/>
        </p:nvSpPr>
        <p:spPr>
          <a:xfrm>
            <a:off x="768096" y="2423160"/>
            <a:ext cx="3200400" cy="2423160"/>
          </a:xfrm>
          <a:prstGeom prst="roundRect">
            <a:avLst>
              <a:gd name="adj" fmla="val 6792"/>
            </a:avLst>
          </a:prstGeom>
          <a:solidFill>
            <a:srgbClr val="14273F"/>
          </a:solidFill>
          <a:ln w="10795">
            <a:solidFill>
              <a:srgbClr val="304861"/>
            </a:solidFill>
            <a:prstDash val="solid"/>
          </a:ln>
        </p:spPr>
      </p:sp>
      <p:sp>
        <p:nvSpPr>
          <p:cNvPr id="15" name="Text 12"/>
          <p:cNvSpPr/>
          <p:nvPr/>
        </p:nvSpPr>
        <p:spPr>
          <a:xfrm>
            <a:off x="1033272" y="2724912"/>
            <a:ext cx="2651760" cy="896112"/>
          </a:xfrm>
          <a:prstGeom prst="rect">
            <a:avLst/>
          </a:prstGeom>
          <a:noFill/>
          <a:ln/>
        </p:spPr>
        <p:txBody>
          <a:bodyPr wrap="square" lIns="0" tIns="0" rIns="0" bIns="0" rtlCol="0" anchor="ctr">
            <a:normAutofit/>
          </a:bodyPr>
          <a:lstStyle/>
          <a:p>
            <a:pPr indent="0" marL="0">
              <a:buNone/>
            </a:pPr>
            <a:r>
              <a:rPr lang="en-US" sz="5500" b="1" dirty="0">
                <a:solidFill>
                  <a:srgbClr val="47DAC5"/>
                </a:solidFill>
                <a:latin typeface="Aptos" pitchFamily="34" charset="0"/>
                <a:ea typeface="Aptos" pitchFamily="34" charset="-122"/>
                <a:cs typeface="Aptos" pitchFamily="34" charset="-120"/>
              </a:rPr>
              <a:t>91%</a:t>
            </a:r>
            <a:endParaRPr lang="en-US" sz="5500" dirty="0"/>
          </a:p>
        </p:txBody>
      </p:sp>
      <p:sp>
        <p:nvSpPr>
          <p:cNvPr id="16" name="Text 13"/>
          <p:cNvSpPr/>
          <p:nvPr/>
        </p:nvSpPr>
        <p:spPr>
          <a:xfrm>
            <a:off x="1024128" y="3703320"/>
            <a:ext cx="2578608" cy="694944"/>
          </a:xfrm>
          <a:prstGeom prst="rect">
            <a:avLst/>
          </a:prstGeom>
          <a:noFill/>
          <a:ln/>
        </p:spPr>
        <p:txBody>
          <a:bodyPr wrap="square" lIns="0" tIns="0" rIns="0" bIns="0" rtlCol="0" anchor="ctr">
            <a:normAutofit/>
          </a:bodyPr>
          <a:lstStyle/>
          <a:p>
            <a:pPr indent="0" marL="0">
              <a:buNone/>
            </a:pPr>
            <a:r>
              <a:rPr lang="en-US" sz="1630" dirty="0">
                <a:solidFill>
                  <a:srgbClr val="D3DEE8"/>
                </a:solidFill>
                <a:latin typeface="Aptos" pitchFamily="34" charset="0"/>
                <a:ea typeface="Aptos" pitchFamily="34" charset="-122"/>
                <a:cs typeface="Aptos" pitchFamily="34" charset="-120"/>
              </a:rPr>
              <a:t>of 128 model–dataset pairs degraded over time</a:t>
            </a:r>
            <a:endParaRPr lang="en-US" sz="1630" dirty="0"/>
          </a:p>
        </p:txBody>
      </p:sp>
      <p:sp>
        <p:nvSpPr>
          <p:cNvPr id="17" name="Shape 14"/>
          <p:cNvSpPr/>
          <p:nvPr/>
        </p:nvSpPr>
        <p:spPr>
          <a:xfrm>
            <a:off x="4215384" y="2423160"/>
            <a:ext cx="7159752" cy="2423160"/>
          </a:xfrm>
          <a:prstGeom prst="roundRect">
            <a:avLst>
              <a:gd name="adj" fmla="val 6792"/>
            </a:avLst>
          </a:prstGeom>
          <a:solidFill>
            <a:srgbClr val="14273F"/>
          </a:solidFill>
          <a:ln w="10795">
            <a:solidFill>
              <a:srgbClr val="304861"/>
            </a:solidFill>
            <a:prstDash val="solid"/>
          </a:ln>
        </p:spPr>
      </p:sp>
      <p:sp>
        <p:nvSpPr>
          <p:cNvPr id="18" name="Text 15"/>
          <p:cNvSpPr/>
          <p:nvPr/>
        </p:nvSpPr>
        <p:spPr>
          <a:xfrm>
            <a:off x="4489704" y="2734056"/>
            <a:ext cx="5486400" cy="201168"/>
          </a:xfrm>
          <a:prstGeom prst="rect">
            <a:avLst/>
          </a:prstGeom>
          <a:noFill/>
          <a:ln/>
        </p:spPr>
        <p:txBody>
          <a:bodyPr wrap="square" lIns="0" tIns="0" rIns="0" bIns="0" rtlCol="0" anchor="ctr">
            <a:normAutofit/>
          </a:bodyPr>
          <a:lstStyle/>
          <a:p>
            <a:pPr indent="0" marL="0">
              <a:buNone/>
            </a:pPr>
            <a:r>
              <a:rPr lang="en-US" sz="970" b="1" spc="120" kern="0" dirty="0">
                <a:solidFill>
                  <a:srgbClr val="AFBED0"/>
                </a:solidFill>
                <a:latin typeface="Aptos" pitchFamily="34" charset="0"/>
                <a:ea typeface="Aptos" pitchFamily="34" charset="-122"/>
                <a:cs typeface="Aptos" pitchFamily="34" charset="-120"/>
              </a:rPr>
              <a:t>OBSERVED AGING PATTERNS</a:t>
            </a:r>
            <a:endParaRPr lang="en-US" sz="970" dirty="0"/>
          </a:p>
        </p:txBody>
      </p:sp>
      <p:sp>
        <p:nvSpPr>
          <p:cNvPr id="19" name="Shape 16"/>
          <p:cNvSpPr/>
          <p:nvPr/>
        </p:nvSpPr>
        <p:spPr>
          <a:xfrm>
            <a:off x="4544568" y="3310128"/>
            <a:ext cx="2029968" cy="987552"/>
          </a:xfrm>
          <a:prstGeom prst="roundRect">
            <a:avLst>
              <a:gd name="adj" fmla="val 11111"/>
            </a:avLst>
          </a:prstGeom>
          <a:solidFill>
            <a:srgbClr val="111F34"/>
          </a:solidFill>
          <a:ln w="10795">
            <a:solidFill>
              <a:srgbClr val="304861"/>
            </a:solidFill>
            <a:prstDash val="solid"/>
          </a:ln>
        </p:spPr>
      </p:sp>
      <p:sp>
        <p:nvSpPr>
          <p:cNvPr id="20" name="Text 17"/>
          <p:cNvSpPr/>
          <p:nvPr/>
        </p:nvSpPr>
        <p:spPr>
          <a:xfrm>
            <a:off x="4654296" y="3611880"/>
            <a:ext cx="1828800" cy="301752"/>
          </a:xfrm>
          <a:prstGeom prst="rect">
            <a:avLst/>
          </a:prstGeom>
          <a:noFill/>
          <a:ln/>
        </p:spPr>
        <p:txBody>
          <a:bodyPr wrap="square" lIns="0" tIns="0" rIns="0" bIns="0" rtlCol="0" anchor="ctr">
            <a:normAutofit/>
          </a:bodyPr>
          <a:lstStyle/>
          <a:p>
            <a:pPr algn="ctr" indent="0" marL="0">
              <a:buNone/>
            </a:pPr>
            <a:r>
              <a:rPr lang="en-US" sz="1460" b="1" dirty="0">
                <a:solidFill>
                  <a:srgbClr val="47DAC5"/>
                </a:solidFill>
                <a:latin typeface="Aptos" pitchFamily="34" charset="0"/>
                <a:ea typeface="Aptos" pitchFamily="34" charset="-122"/>
                <a:cs typeface="Aptos" pitchFamily="34" charset="-120"/>
              </a:rPr>
              <a:t>GRADUAL</a:t>
            </a:r>
            <a:endParaRPr lang="en-US" sz="1460" dirty="0"/>
          </a:p>
        </p:txBody>
      </p:sp>
      <p:sp>
        <p:nvSpPr>
          <p:cNvPr id="21" name="Shape 18"/>
          <p:cNvSpPr/>
          <p:nvPr/>
        </p:nvSpPr>
        <p:spPr>
          <a:xfrm>
            <a:off x="6757416" y="3310128"/>
            <a:ext cx="2029968" cy="987552"/>
          </a:xfrm>
          <a:prstGeom prst="roundRect">
            <a:avLst>
              <a:gd name="adj" fmla="val 11111"/>
            </a:avLst>
          </a:prstGeom>
          <a:solidFill>
            <a:srgbClr val="111F34"/>
          </a:solidFill>
          <a:ln w="10795">
            <a:solidFill>
              <a:srgbClr val="304861"/>
            </a:solidFill>
            <a:prstDash val="solid"/>
          </a:ln>
        </p:spPr>
      </p:sp>
      <p:sp>
        <p:nvSpPr>
          <p:cNvPr id="22" name="Text 19"/>
          <p:cNvSpPr/>
          <p:nvPr/>
        </p:nvSpPr>
        <p:spPr>
          <a:xfrm>
            <a:off x="6867144" y="3611880"/>
            <a:ext cx="1828800" cy="301752"/>
          </a:xfrm>
          <a:prstGeom prst="rect">
            <a:avLst/>
          </a:prstGeom>
          <a:noFill/>
          <a:ln/>
        </p:spPr>
        <p:txBody>
          <a:bodyPr wrap="square" lIns="0" tIns="0" rIns="0" bIns="0" rtlCol="0" anchor="ctr">
            <a:normAutofit/>
          </a:bodyPr>
          <a:lstStyle/>
          <a:p>
            <a:pPr algn="ctr" indent="0" marL="0">
              <a:buNone/>
            </a:pPr>
            <a:r>
              <a:rPr lang="en-US" sz="1460" b="1" dirty="0">
                <a:solidFill>
                  <a:srgbClr val="FA8A88"/>
                </a:solidFill>
                <a:latin typeface="Aptos" pitchFamily="34" charset="0"/>
                <a:ea typeface="Aptos" pitchFamily="34" charset="-122"/>
                <a:cs typeface="Aptos" pitchFamily="34" charset="-120"/>
              </a:rPr>
              <a:t>SUDDEN</a:t>
            </a:r>
            <a:endParaRPr lang="en-US" sz="1460" dirty="0"/>
          </a:p>
        </p:txBody>
      </p:sp>
      <p:sp>
        <p:nvSpPr>
          <p:cNvPr id="23" name="Shape 20"/>
          <p:cNvSpPr/>
          <p:nvPr/>
        </p:nvSpPr>
        <p:spPr>
          <a:xfrm>
            <a:off x="8942832" y="3310128"/>
            <a:ext cx="2029968" cy="987552"/>
          </a:xfrm>
          <a:prstGeom prst="roundRect">
            <a:avLst>
              <a:gd name="adj" fmla="val 11111"/>
            </a:avLst>
          </a:prstGeom>
          <a:solidFill>
            <a:srgbClr val="111F34"/>
          </a:solidFill>
          <a:ln w="10795">
            <a:solidFill>
              <a:srgbClr val="304861"/>
            </a:solidFill>
            <a:prstDash val="solid"/>
          </a:ln>
        </p:spPr>
      </p:sp>
      <p:sp>
        <p:nvSpPr>
          <p:cNvPr id="24" name="Text 21"/>
          <p:cNvSpPr/>
          <p:nvPr/>
        </p:nvSpPr>
        <p:spPr>
          <a:xfrm>
            <a:off x="9052560" y="3611880"/>
            <a:ext cx="1828800" cy="301752"/>
          </a:xfrm>
          <a:prstGeom prst="rect">
            <a:avLst/>
          </a:prstGeom>
          <a:noFill/>
          <a:ln/>
        </p:spPr>
        <p:txBody>
          <a:bodyPr wrap="square" lIns="0" tIns="0" rIns="0" bIns="0" rtlCol="0" anchor="ctr">
            <a:normAutofit/>
          </a:bodyPr>
          <a:lstStyle/>
          <a:p>
            <a:pPr algn="ctr" indent="0" marL="0">
              <a:buNone/>
            </a:pPr>
            <a:r>
              <a:rPr lang="en-US" sz="1460" b="1" dirty="0">
                <a:solidFill>
                  <a:srgbClr val="F5BE70"/>
                </a:solidFill>
                <a:latin typeface="Aptos" pitchFamily="34" charset="0"/>
                <a:ea typeface="Aptos" pitchFamily="34" charset="-122"/>
                <a:cs typeface="Aptos" pitchFamily="34" charset="-120"/>
              </a:rPr>
              <a:t>UNSTABLE</a:t>
            </a:r>
            <a:endParaRPr lang="en-US" sz="1460" dirty="0"/>
          </a:p>
        </p:txBody>
      </p:sp>
      <p:sp>
        <p:nvSpPr>
          <p:cNvPr id="25" name="Text 22"/>
          <p:cNvSpPr/>
          <p:nvPr/>
        </p:nvSpPr>
        <p:spPr>
          <a:xfrm>
            <a:off x="850392" y="5239512"/>
            <a:ext cx="10351008" cy="466344"/>
          </a:xfrm>
          <a:prstGeom prst="rect">
            <a:avLst/>
          </a:prstGeom>
          <a:noFill/>
          <a:ln/>
        </p:spPr>
        <p:txBody>
          <a:bodyPr wrap="square" lIns="0" tIns="0" rIns="0" bIns="0" rtlCol="0" anchor="ctr">
            <a:normAutofit/>
          </a:bodyPr>
          <a:lstStyle/>
          <a:p>
            <a:pPr indent="0" marL="0">
              <a:buNone/>
            </a:pPr>
            <a:r>
              <a:rPr lang="en-US" sz="1820" b="1" dirty="0">
                <a:solidFill>
                  <a:srgbClr val="F4F9FC"/>
                </a:solidFill>
                <a:latin typeface="Aptos" pitchFamily="34" charset="0"/>
                <a:ea typeface="Aptos" pitchFamily="34" charset="-122"/>
                <a:cs typeface="Aptos" pitchFamily="34" charset="-120"/>
              </a:rPr>
              <a:t>Our project: test failure warnings under image corruption, not real elapsed time.</a:t>
            </a:r>
            <a:endParaRPr lang="en-US" sz="18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426"/>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47DAC5"/>
          </a:solidFill>
          <a:ln w="12700">
            <a:solidFill>
              <a:srgbClr val="47DAC5">
                <a:alpha val="0"/>
              </a:srgbClr>
            </a:solidFill>
            <a:prstDash val="solid"/>
          </a:ln>
        </p:spPr>
      </p:sp>
      <p:sp>
        <p:nvSpPr>
          <p:cNvPr id="3" name="Shape 1"/>
          <p:cNvSpPr/>
          <p:nvPr/>
        </p:nvSpPr>
        <p:spPr>
          <a:xfrm>
            <a:off x="676656" y="457200"/>
            <a:ext cx="10844784" cy="0"/>
          </a:xfrm>
          <a:prstGeom prst="line">
            <a:avLst/>
          </a:prstGeom>
          <a:noFill/>
          <a:ln w="8890">
            <a:solidFill>
              <a:srgbClr val="304861"/>
            </a:solidFill>
            <a:prstDash val="solid"/>
          </a:ln>
        </p:spPr>
      </p:sp>
      <p:sp>
        <p:nvSpPr>
          <p:cNvPr id="4" name="Text 2"/>
          <p:cNvSpPr/>
          <p:nvPr/>
        </p:nvSpPr>
        <p:spPr>
          <a:xfrm>
            <a:off x="676656" y="182880"/>
            <a:ext cx="4572000" cy="201168"/>
          </a:xfrm>
          <a:prstGeom prst="rect">
            <a:avLst/>
          </a:prstGeom>
          <a:noFill/>
          <a:ln/>
        </p:spPr>
        <p:txBody>
          <a:bodyPr wrap="square" lIns="0" tIns="0" rIns="0" bIns="0" rtlCol="0" anchor="ctr">
            <a:normAutofit/>
          </a:bodyPr>
          <a:lstStyle/>
          <a:p>
            <a:pPr indent="0" marL="0">
              <a:buNone/>
            </a:pPr>
            <a:r>
              <a:rPr lang="en-US" sz="970" b="1" spc="120" kern="0" dirty="0">
                <a:solidFill>
                  <a:srgbClr val="AFBED0"/>
                </a:solidFill>
                <a:latin typeface="Aptos" pitchFamily="34" charset="0"/>
                <a:ea typeface="Aptos" pitchFamily="34" charset="-122"/>
                <a:cs typeface="Aptos" pitchFamily="34" charset="-120"/>
              </a:rPr>
              <a:t>DS 340W  /  GROUP 2</a:t>
            </a:r>
            <a:endParaRPr lang="en-US" sz="970" dirty="0"/>
          </a:p>
        </p:txBody>
      </p:sp>
      <p:sp>
        <p:nvSpPr>
          <p:cNvPr id="5" name="Text 3"/>
          <p:cNvSpPr/>
          <p:nvPr/>
        </p:nvSpPr>
        <p:spPr>
          <a:xfrm>
            <a:off x="9235440" y="201168"/>
            <a:ext cx="2212848" cy="164592"/>
          </a:xfrm>
          <a:prstGeom prst="rect">
            <a:avLst/>
          </a:prstGeom>
          <a:noFill/>
          <a:ln/>
        </p:spPr>
        <p:txBody>
          <a:bodyPr wrap="square" lIns="0" tIns="0" rIns="0" bIns="0" rtlCol="0" anchor="ctr">
            <a:normAutofit/>
          </a:bodyPr>
          <a:lstStyle/>
          <a:p>
            <a:pPr algn="r" indent="0" marL="0">
              <a:buNone/>
            </a:pPr>
            <a:r>
              <a:rPr lang="en-US" sz="920" b="1" dirty="0">
                <a:solidFill>
                  <a:srgbClr val="AFBED0"/>
                </a:solidFill>
                <a:latin typeface="Aptos" pitchFamily="34" charset="0"/>
                <a:ea typeface="Aptos" pitchFamily="34" charset="-122"/>
                <a:cs typeface="Aptos" pitchFamily="34" charset="-120"/>
              </a:rPr>
              <a:t>PART 1  /  RESEARCH QUESTION</a:t>
            </a:r>
            <a:endParaRPr lang="en-US" sz="920" dirty="0"/>
          </a:p>
        </p:txBody>
      </p:sp>
      <p:sp>
        <p:nvSpPr>
          <p:cNvPr id="6" name="Shape 4"/>
          <p:cNvSpPr/>
          <p:nvPr/>
        </p:nvSpPr>
        <p:spPr>
          <a:xfrm>
            <a:off x="676656" y="6382512"/>
            <a:ext cx="10853928" cy="0"/>
          </a:xfrm>
          <a:prstGeom prst="line">
            <a:avLst/>
          </a:prstGeom>
          <a:noFill/>
          <a:ln w="8890">
            <a:solidFill>
              <a:srgbClr val="304861"/>
            </a:solidFill>
            <a:prstDash val="solid"/>
          </a:ln>
        </p:spPr>
      </p:sp>
      <p:sp>
        <p:nvSpPr>
          <p:cNvPr id="7" name="Text 5"/>
          <p:cNvSpPr/>
          <p:nvPr/>
        </p:nvSpPr>
        <p:spPr>
          <a:xfrm>
            <a:off x="694944" y="6519672"/>
            <a:ext cx="1188720" cy="155448"/>
          </a:xfrm>
          <a:prstGeom prst="rect">
            <a:avLst/>
          </a:prstGeom>
          <a:noFill/>
          <a:ln/>
        </p:spPr>
        <p:txBody>
          <a:bodyPr wrap="square" lIns="0" tIns="0" rIns="0" bIns="0" rtlCol="0" anchor="ctr">
            <a:normAutofit/>
          </a:bodyPr>
          <a:lstStyle/>
          <a:p>
            <a:pPr indent="0" marL="0">
              <a:buNone/>
            </a:pPr>
            <a:r>
              <a:rPr lang="en-US" sz="1000" b="1" dirty="0">
                <a:solidFill>
                  <a:srgbClr val="AFBED0"/>
                </a:solidFill>
                <a:latin typeface="Aptos" pitchFamily="34" charset="0"/>
                <a:ea typeface="Aptos" pitchFamily="34" charset="-122"/>
                <a:cs typeface="Aptos" pitchFamily="34" charset="-120"/>
              </a:rPr>
              <a:t>06 / 11</a:t>
            </a:r>
            <a:endParaRPr lang="en-US" sz="1000" dirty="0"/>
          </a:p>
        </p:txBody>
      </p:sp>
      <p:sp>
        <p:nvSpPr>
          <p:cNvPr id="8" name="Text 6"/>
          <p:cNvSpPr/>
          <p:nvPr/>
        </p:nvSpPr>
        <p:spPr>
          <a:xfrm>
            <a:off x="8503920" y="6510528"/>
            <a:ext cx="2971800" cy="173736"/>
          </a:xfrm>
          <a:prstGeom prst="rect">
            <a:avLst/>
          </a:prstGeom>
          <a:noFill/>
          <a:ln/>
        </p:spPr>
        <p:txBody>
          <a:bodyPr wrap="square" lIns="0" tIns="0" rIns="0" bIns="0" rtlCol="0" anchor="ctr">
            <a:normAutofit/>
          </a:bodyPr>
          <a:lstStyle/>
          <a:p>
            <a:pPr algn="r" indent="0" marL="0">
              <a:buNone/>
            </a:pPr>
            <a:r>
              <a:rPr lang="en-US" sz="970" b="1" dirty="0">
                <a:solidFill>
                  <a:srgbClr val="AFBED0"/>
                </a:solidFill>
                <a:latin typeface="Aptos" pitchFamily="34" charset="0"/>
                <a:ea typeface="Aptos" pitchFamily="34" charset="-122"/>
                <a:cs typeface="Aptos" pitchFamily="34" charset="-120"/>
              </a:rPr>
              <a:t>SPEAKER  JUNBO</a:t>
            </a:r>
            <a:endParaRPr lang="en-US" sz="970" dirty="0"/>
          </a:p>
        </p:txBody>
      </p:sp>
      <p:sp>
        <p:nvSpPr>
          <p:cNvPr id="10" name="Text 7"/>
          <p:cNvSpPr/>
          <p:nvPr/>
        </p:nvSpPr>
        <p:spPr>
          <a:xfrm>
            <a:off x="658368" y="621792"/>
            <a:ext cx="6400800" cy="201168"/>
          </a:xfrm>
          <a:prstGeom prst="rect">
            <a:avLst/>
          </a:prstGeom>
          <a:noFill/>
          <a:ln/>
        </p:spPr>
        <p:txBody>
          <a:bodyPr wrap="square" lIns="0" tIns="0" rIns="0" bIns="0" rtlCol="0" anchor="ctr">
            <a:normAutofit/>
          </a:bodyPr>
          <a:lstStyle/>
          <a:p>
            <a:pPr indent="0" marL="0">
              <a:buNone/>
            </a:pPr>
            <a:r>
              <a:rPr lang="en-US" sz="970" b="1" spc="120" kern="0" dirty="0">
                <a:solidFill>
                  <a:srgbClr val="47DAC5"/>
                </a:solidFill>
                <a:latin typeface="Aptos" pitchFamily="34" charset="0"/>
                <a:ea typeface="Aptos" pitchFamily="34" charset="-122"/>
                <a:cs typeface="Aptos" pitchFamily="34" charset="-120"/>
              </a:rPr>
              <a:t>FROM THREE PAPERS TO ONE TEST</a:t>
            </a:r>
            <a:endParaRPr lang="en-US" sz="970" dirty="0"/>
          </a:p>
        </p:txBody>
      </p:sp>
      <p:sp>
        <p:nvSpPr>
          <p:cNvPr id="11" name="Text 8"/>
          <p:cNvSpPr/>
          <p:nvPr/>
        </p:nvSpPr>
        <p:spPr>
          <a:xfrm>
            <a:off x="658368" y="941832"/>
            <a:ext cx="10881360" cy="594360"/>
          </a:xfrm>
          <a:prstGeom prst="rect">
            <a:avLst/>
          </a:prstGeom>
          <a:noFill/>
          <a:ln/>
        </p:spPr>
        <p:txBody>
          <a:bodyPr wrap="square" lIns="0" tIns="0" rIns="0" bIns="0" rtlCol="0" anchor="ctr">
            <a:normAutofit/>
          </a:bodyPr>
          <a:lstStyle/>
          <a:p>
            <a:pPr indent="0" marL="0">
              <a:buNone/>
            </a:pPr>
            <a:r>
              <a:rPr lang="en-US" sz="3100" b="1" dirty="0">
                <a:solidFill>
                  <a:srgbClr val="F4F9FC"/>
                </a:solidFill>
                <a:latin typeface="Aptos" pitchFamily="34" charset="0"/>
                <a:ea typeface="Aptos" pitchFamily="34" charset="-122"/>
                <a:cs typeface="Aptos" pitchFamily="34" charset="-120"/>
              </a:rPr>
              <a:t>One question connects all three.</a:t>
            </a:r>
            <a:endParaRPr lang="en-US" sz="3100" dirty="0"/>
          </a:p>
        </p:txBody>
      </p:sp>
      <p:sp>
        <p:nvSpPr>
          <p:cNvPr id="12" name="Text 9"/>
          <p:cNvSpPr/>
          <p:nvPr/>
        </p:nvSpPr>
        <p:spPr>
          <a:xfrm>
            <a:off x="676656" y="1627632"/>
            <a:ext cx="10698480" cy="585216"/>
          </a:xfrm>
          <a:prstGeom prst="rect">
            <a:avLst/>
          </a:prstGeom>
          <a:noFill/>
          <a:ln/>
        </p:spPr>
        <p:txBody>
          <a:bodyPr wrap="square" lIns="0" tIns="0" rIns="0" bIns="0" rtlCol="0" anchor="t">
            <a:normAutofit/>
          </a:bodyPr>
          <a:lstStyle/>
          <a:p>
            <a:pPr indent="0" marL="0">
              <a:buNone/>
            </a:pPr>
            <a:r>
              <a:rPr lang="en-US" sz="1630" dirty="0">
                <a:solidFill>
                  <a:srgbClr val="AFBED0"/>
                </a:solidFill>
                <a:latin typeface="Aptos" pitchFamily="34" charset="0"/>
                <a:ea typeface="Aptos" pitchFamily="34" charset="-122"/>
                <a:cs typeface="Aptos" pitchFamily="34" charset="-120"/>
              </a:rPr>
              <a:t>Each paper adds a different piece to our proposed study.</a:t>
            </a:r>
            <a:endParaRPr lang="en-US" sz="1630" dirty="0"/>
          </a:p>
        </p:txBody>
      </p:sp>
      <p:sp>
        <p:nvSpPr>
          <p:cNvPr id="13" name="Shape 10"/>
          <p:cNvSpPr/>
          <p:nvPr/>
        </p:nvSpPr>
        <p:spPr>
          <a:xfrm>
            <a:off x="768096" y="2414016"/>
            <a:ext cx="3584448" cy="1325880"/>
          </a:xfrm>
          <a:prstGeom prst="roundRect">
            <a:avLst>
              <a:gd name="adj" fmla="val 12414"/>
            </a:avLst>
          </a:prstGeom>
          <a:solidFill>
            <a:srgbClr val="14273F"/>
          </a:solidFill>
          <a:ln w="10795">
            <a:solidFill>
              <a:srgbClr val="304861"/>
            </a:solidFill>
            <a:prstDash val="solid"/>
          </a:ln>
        </p:spPr>
      </p:sp>
      <p:sp>
        <p:nvSpPr>
          <p:cNvPr id="14" name="Text 11"/>
          <p:cNvSpPr/>
          <p:nvPr/>
        </p:nvSpPr>
        <p:spPr>
          <a:xfrm>
            <a:off x="1024128" y="2688336"/>
            <a:ext cx="2286000" cy="201168"/>
          </a:xfrm>
          <a:prstGeom prst="rect">
            <a:avLst/>
          </a:prstGeom>
          <a:noFill/>
          <a:ln/>
        </p:spPr>
        <p:txBody>
          <a:bodyPr wrap="square" lIns="0" tIns="0" rIns="0" bIns="0" rtlCol="0" anchor="ctr">
            <a:normAutofit/>
          </a:bodyPr>
          <a:lstStyle/>
          <a:p>
            <a:pPr indent="0" marL="0">
              <a:buNone/>
            </a:pPr>
            <a:r>
              <a:rPr lang="en-US" sz="970" b="1" spc="120" kern="0" dirty="0">
                <a:solidFill>
                  <a:srgbClr val="47DAC5"/>
                </a:solidFill>
                <a:latin typeface="Aptos" pitchFamily="34" charset="0"/>
                <a:ea typeface="Aptos" pitchFamily="34" charset="-122"/>
                <a:cs typeface="Aptos" pitchFamily="34" charset="-120"/>
              </a:rPr>
              <a:t>PAPER 1</a:t>
            </a:r>
            <a:endParaRPr lang="en-US" sz="970" dirty="0"/>
          </a:p>
        </p:txBody>
      </p:sp>
      <p:sp>
        <p:nvSpPr>
          <p:cNvPr id="15" name="Text 12"/>
          <p:cNvSpPr/>
          <p:nvPr/>
        </p:nvSpPr>
        <p:spPr>
          <a:xfrm>
            <a:off x="1024128" y="3008376"/>
            <a:ext cx="3063240" cy="402336"/>
          </a:xfrm>
          <a:prstGeom prst="rect">
            <a:avLst/>
          </a:prstGeom>
          <a:noFill/>
          <a:ln/>
        </p:spPr>
        <p:txBody>
          <a:bodyPr wrap="square" lIns="0" tIns="0" rIns="0" bIns="0" rtlCol="0" anchor="ctr">
            <a:normAutofit/>
          </a:bodyPr>
          <a:lstStyle/>
          <a:p>
            <a:pPr indent="0" marL="0">
              <a:buNone/>
            </a:pPr>
            <a:r>
              <a:rPr lang="en-US" sz="1740" b="1" dirty="0">
                <a:solidFill>
                  <a:srgbClr val="F4F9FC"/>
                </a:solidFill>
                <a:latin typeface="Aptos" pitchFamily="34" charset="0"/>
                <a:ea typeface="Aptos" pitchFamily="34" charset="-122"/>
                <a:cs typeface="Aptos" pitchFamily="34" charset="-120"/>
              </a:rPr>
              <a:t>Train with FMFP</a:t>
            </a:r>
            <a:endParaRPr lang="en-US" sz="1740" dirty="0"/>
          </a:p>
        </p:txBody>
      </p:sp>
      <p:sp>
        <p:nvSpPr>
          <p:cNvPr id="16" name="Shape 13"/>
          <p:cNvSpPr/>
          <p:nvPr/>
        </p:nvSpPr>
        <p:spPr>
          <a:xfrm>
            <a:off x="4416552" y="2926080"/>
            <a:ext cx="201168" cy="320040"/>
          </a:xfrm>
          <a:prstGeom prst="chevron">
            <a:avLst/>
          </a:prstGeom>
          <a:solidFill>
            <a:srgbClr val="AFBED0"/>
          </a:solidFill>
          <a:ln w="12700">
            <a:solidFill>
              <a:srgbClr val="AFBED0">
                <a:alpha val="0"/>
              </a:srgbClr>
            </a:solidFill>
            <a:prstDash val="solid"/>
          </a:ln>
        </p:spPr>
      </p:sp>
      <p:sp>
        <p:nvSpPr>
          <p:cNvPr id="17" name="Shape 14"/>
          <p:cNvSpPr/>
          <p:nvPr/>
        </p:nvSpPr>
        <p:spPr>
          <a:xfrm>
            <a:off x="4645152" y="2414016"/>
            <a:ext cx="3584448" cy="1325880"/>
          </a:xfrm>
          <a:prstGeom prst="roundRect">
            <a:avLst>
              <a:gd name="adj" fmla="val 12414"/>
            </a:avLst>
          </a:prstGeom>
          <a:solidFill>
            <a:srgbClr val="14273F"/>
          </a:solidFill>
          <a:ln w="10795">
            <a:solidFill>
              <a:srgbClr val="304861"/>
            </a:solidFill>
            <a:prstDash val="solid"/>
          </a:ln>
        </p:spPr>
      </p:sp>
      <p:sp>
        <p:nvSpPr>
          <p:cNvPr id="18" name="Text 15"/>
          <p:cNvSpPr/>
          <p:nvPr/>
        </p:nvSpPr>
        <p:spPr>
          <a:xfrm>
            <a:off x="4901184" y="2688336"/>
            <a:ext cx="2286000" cy="201168"/>
          </a:xfrm>
          <a:prstGeom prst="rect">
            <a:avLst/>
          </a:prstGeom>
          <a:noFill/>
          <a:ln/>
        </p:spPr>
        <p:txBody>
          <a:bodyPr wrap="square" lIns="0" tIns="0" rIns="0" bIns="0" rtlCol="0" anchor="ctr">
            <a:normAutofit/>
          </a:bodyPr>
          <a:lstStyle/>
          <a:p>
            <a:pPr indent="0" marL="0">
              <a:buNone/>
            </a:pPr>
            <a:r>
              <a:rPr lang="en-US" sz="970" b="1" spc="120" kern="0" dirty="0">
                <a:solidFill>
                  <a:srgbClr val="F5BE70"/>
                </a:solidFill>
                <a:latin typeface="Aptos" pitchFamily="34" charset="0"/>
                <a:ea typeface="Aptos" pitchFamily="34" charset="-122"/>
                <a:cs typeface="Aptos" pitchFamily="34" charset="-120"/>
              </a:rPr>
              <a:t>PAPER 2</a:t>
            </a:r>
            <a:endParaRPr lang="en-US" sz="970" dirty="0"/>
          </a:p>
        </p:txBody>
      </p:sp>
      <p:sp>
        <p:nvSpPr>
          <p:cNvPr id="19" name="Text 16"/>
          <p:cNvSpPr/>
          <p:nvPr/>
        </p:nvSpPr>
        <p:spPr>
          <a:xfrm>
            <a:off x="4901184" y="3008376"/>
            <a:ext cx="3063240" cy="402336"/>
          </a:xfrm>
          <a:prstGeom prst="rect">
            <a:avLst/>
          </a:prstGeom>
          <a:noFill/>
          <a:ln/>
        </p:spPr>
        <p:txBody>
          <a:bodyPr wrap="square" lIns="0" tIns="0" rIns="0" bIns="0" rtlCol="0" anchor="ctr">
            <a:normAutofit/>
          </a:bodyPr>
          <a:lstStyle/>
          <a:p>
            <a:pPr indent="0" marL="0">
              <a:buNone/>
            </a:pPr>
            <a:r>
              <a:rPr lang="en-US" sz="1740" b="1" dirty="0">
                <a:solidFill>
                  <a:srgbClr val="F4F9FC"/>
                </a:solidFill>
                <a:latin typeface="Aptos" pitchFamily="34" charset="0"/>
                <a:ea typeface="Aptos" pitchFamily="34" charset="-122"/>
                <a:cs typeface="Aptos" pitchFamily="34" charset="-120"/>
              </a:rPr>
              <a:t>Add Risk Advisor</a:t>
            </a:r>
            <a:endParaRPr lang="en-US" sz="1740" dirty="0"/>
          </a:p>
        </p:txBody>
      </p:sp>
      <p:sp>
        <p:nvSpPr>
          <p:cNvPr id="20" name="Shape 17"/>
          <p:cNvSpPr/>
          <p:nvPr/>
        </p:nvSpPr>
        <p:spPr>
          <a:xfrm>
            <a:off x="8293608" y="2926080"/>
            <a:ext cx="201168" cy="320040"/>
          </a:xfrm>
          <a:prstGeom prst="chevron">
            <a:avLst/>
          </a:prstGeom>
          <a:solidFill>
            <a:srgbClr val="AFBED0"/>
          </a:solidFill>
          <a:ln w="12700">
            <a:solidFill>
              <a:srgbClr val="AFBED0">
                <a:alpha val="0"/>
              </a:srgbClr>
            </a:solidFill>
            <a:prstDash val="solid"/>
          </a:ln>
        </p:spPr>
      </p:sp>
      <p:sp>
        <p:nvSpPr>
          <p:cNvPr id="21" name="Shape 18"/>
          <p:cNvSpPr/>
          <p:nvPr/>
        </p:nvSpPr>
        <p:spPr>
          <a:xfrm>
            <a:off x="8522208" y="2414016"/>
            <a:ext cx="3584448" cy="1325880"/>
          </a:xfrm>
          <a:prstGeom prst="roundRect">
            <a:avLst>
              <a:gd name="adj" fmla="val 12414"/>
            </a:avLst>
          </a:prstGeom>
          <a:solidFill>
            <a:srgbClr val="14273F"/>
          </a:solidFill>
          <a:ln w="10795">
            <a:solidFill>
              <a:srgbClr val="304861"/>
            </a:solidFill>
            <a:prstDash val="solid"/>
          </a:ln>
        </p:spPr>
      </p:sp>
      <p:sp>
        <p:nvSpPr>
          <p:cNvPr id="22" name="Text 19"/>
          <p:cNvSpPr/>
          <p:nvPr/>
        </p:nvSpPr>
        <p:spPr>
          <a:xfrm>
            <a:off x="8778240" y="2688336"/>
            <a:ext cx="2286000" cy="201168"/>
          </a:xfrm>
          <a:prstGeom prst="rect">
            <a:avLst/>
          </a:prstGeom>
          <a:noFill/>
          <a:ln/>
        </p:spPr>
        <p:txBody>
          <a:bodyPr wrap="square" lIns="0" tIns="0" rIns="0" bIns="0" rtlCol="0" anchor="ctr">
            <a:normAutofit/>
          </a:bodyPr>
          <a:lstStyle/>
          <a:p>
            <a:pPr indent="0" marL="0">
              <a:buNone/>
            </a:pPr>
            <a:r>
              <a:rPr lang="en-US" sz="970" b="1" spc="120" kern="0" dirty="0">
                <a:solidFill>
                  <a:srgbClr val="B4A3F5"/>
                </a:solidFill>
                <a:latin typeface="Aptos" pitchFamily="34" charset="0"/>
                <a:ea typeface="Aptos" pitchFamily="34" charset="-122"/>
                <a:cs typeface="Aptos" pitchFamily="34" charset="-120"/>
              </a:rPr>
              <a:t>PAPER 3</a:t>
            </a:r>
            <a:endParaRPr lang="en-US" sz="970" dirty="0"/>
          </a:p>
        </p:txBody>
      </p:sp>
      <p:sp>
        <p:nvSpPr>
          <p:cNvPr id="23" name="Text 20"/>
          <p:cNvSpPr/>
          <p:nvPr/>
        </p:nvSpPr>
        <p:spPr>
          <a:xfrm>
            <a:off x="8778240" y="3008376"/>
            <a:ext cx="3063240" cy="402336"/>
          </a:xfrm>
          <a:prstGeom prst="rect">
            <a:avLst/>
          </a:prstGeom>
          <a:noFill/>
          <a:ln/>
        </p:spPr>
        <p:txBody>
          <a:bodyPr wrap="square" lIns="0" tIns="0" rIns="0" bIns="0" rtlCol="0" anchor="ctr">
            <a:normAutofit/>
          </a:bodyPr>
          <a:lstStyle/>
          <a:p>
            <a:pPr indent="0" marL="0">
              <a:buNone/>
            </a:pPr>
            <a:r>
              <a:rPr lang="en-US" sz="1740" b="1" dirty="0">
                <a:solidFill>
                  <a:srgbClr val="F4F9FC"/>
                </a:solidFill>
                <a:latin typeface="Aptos" pitchFamily="34" charset="0"/>
                <a:ea typeface="Aptos" pitchFamily="34" charset="-122"/>
                <a:cs typeface="Aptos" pitchFamily="34" charset="-120"/>
              </a:rPr>
              <a:t>Test after conditions change</a:t>
            </a:r>
            <a:endParaRPr lang="en-US" sz="1740" dirty="0"/>
          </a:p>
        </p:txBody>
      </p:sp>
      <p:sp>
        <p:nvSpPr>
          <p:cNvPr id="24" name="Shape 21"/>
          <p:cNvSpPr/>
          <p:nvPr/>
        </p:nvSpPr>
        <p:spPr>
          <a:xfrm>
            <a:off x="1426464" y="4343400"/>
            <a:ext cx="9418320" cy="1078992"/>
          </a:xfrm>
          <a:prstGeom prst="roundRect">
            <a:avLst>
              <a:gd name="adj" fmla="val 15254"/>
            </a:avLst>
          </a:prstGeom>
          <a:solidFill>
            <a:srgbClr val="111F34"/>
          </a:solidFill>
          <a:ln w="10795">
            <a:solidFill>
              <a:srgbClr val="47DAC5"/>
            </a:solidFill>
            <a:prstDash val="solid"/>
          </a:ln>
        </p:spPr>
      </p:sp>
      <p:sp>
        <p:nvSpPr>
          <p:cNvPr id="25" name="Text 22"/>
          <p:cNvSpPr/>
          <p:nvPr/>
        </p:nvSpPr>
        <p:spPr>
          <a:xfrm>
            <a:off x="1819656" y="4645152"/>
            <a:ext cx="8659368" cy="502920"/>
          </a:xfrm>
          <a:prstGeom prst="rect">
            <a:avLst/>
          </a:prstGeom>
          <a:noFill/>
          <a:ln/>
        </p:spPr>
        <p:txBody>
          <a:bodyPr wrap="square" lIns="0" tIns="0" rIns="0" bIns="0" rtlCol="0" anchor="ctr">
            <a:normAutofit/>
          </a:bodyPr>
          <a:lstStyle/>
          <a:p>
            <a:pPr algn="ctr" indent="0" marL="0">
              <a:buNone/>
            </a:pPr>
            <a:r>
              <a:rPr lang="en-US" sz="2200" b="1" dirty="0">
                <a:solidFill>
                  <a:srgbClr val="F4F9FC"/>
                </a:solidFill>
                <a:latin typeface="Aptos" pitchFamily="34" charset="0"/>
                <a:ea typeface="Aptos" pitchFamily="34" charset="-122"/>
                <a:cs typeface="Aptos" pitchFamily="34" charset="-120"/>
              </a:rPr>
              <a:t>When inputs become harder, which warning signal stays reliable?</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426"/>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47DAC5"/>
          </a:solidFill>
          <a:ln w="12700">
            <a:solidFill>
              <a:srgbClr val="47DAC5">
                <a:alpha val="0"/>
              </a:srgbClr>
            </a:solidFill>
            <a:prstDash val="solid"/>
          </a:ln>
        </p:spPr>
      </p:sp>
      <p:sp>
        <p:nvSpPr>
          <p:cNvPr id="3" name="Shape 1"/>
          <p:cNvSpPr/>
          <p:nvPr/>
        </p:nvSpPr>
        <p:spPr>
          <a:xfrm>
            <a:off x="676656" y="457200"/>
            <a:ext cx="10844784" cy="0"/>
          </a:xfrm>
          <a:prstGeom prst="line">
            <a:avLst/>
          </a:prstGeom>
          <a:noFill/>
          <a:ln w="8890">
            <a:solidFill>
              <a:srgbClr val="304861"/>
            </a:solidFill>
            <a:prstDash val="solid"/>
          </a:ln>
        </p:spPr>
      </p:sp>
      <p:sp>
        <p:nvSpPr>
          <p:cNvPr id="4" name="Text 2"/>
          <p:cNvSpPr/>
          <p:nvPr/>
        </p:nvSpPr>
        <p:spPr>
          <a:xfrm>
            <a:off x="676656" y="182880"/>
            <a:ext cx="4572000" cy="201168"/>
          </a:xfrm>
          <a:prstGeom prst="rect">
            <a:avLst/>
          </a:prstGeom>
          <a:noFill/>
          <a:ln/>
        </p:spPr>
        <p:txBody>
          <a:bodyPr wrap="square" lIns="0" tIns="0" rIns="0" bIns="0" rtlCol="0" anchor="ctr">
            <a:normAutofit/>
          </a:bodyPr>
          <a:lstStyle/>
          <a:p>
            <a:pPr indent="0" marL="0">
              <a:buNone/>
            </a:pPr>
            <a:r>
              <a:rPr lang="en-US" sz="970" b="1" spc="120" kern="0" dirty="0">
                <a:solidFill>
                  <a:srgbClr val="AFBED0"/>
                </a:solidFill>
                <a:latin typeface="Aptos" pitchFamily="34" charset="0"/>
                <a:ea typeface="Aptos" pitchFamily="34" charset="-122"/>
                <a:cs typeface="Aptos" pitchFamily="34" charset="-120"/>
              </a:rPr>
              <a:t>DS 340W  /  GROUP 2</a:t>
            </a:r>
            <a:endParaRPr lang="en-US" sz="970" dirty="0"/>
          </a:p>
        </p:txBody>
      </p:sp>
      <p:sp>
        <p:nvSpPr>
          <p:cNvPr id="5" name="Text 3"/>
          <p:cNvSpPr/>
          <p:nvPr/>
        </p:nvSpPr>
        <p:spPr>
          <a:xfrm>
            <a:off x="9235440" y="201168"/>
            <a:ext cx="2212848" cy="164592"/>
          </a:xfrm>
          <a:prstGeom prst="rect">
            <a:avLst/>
          </a:prstGeom>
          <a:noFill/>
          <a:ln/>
        </p:spPr>
        <p:txBody>
          <a:bodyPr wrap="square" lIns="0" tIns="0" rIns="0" bIns="0" rtlCol="0" anchor="ctr">
            <a:normAutofit/>
          </a:bodyPr>
          <a:lstStyle/>
          <a:p>
            <a:pPr algn="r" indent="0" marL="0">
              <a:buNone/>
            </a:pPr>
            <a:r>
              <a:rPr lang="en-US" sz="920" b="1" dirty="0">
                <a:solidFill>
                  <a:srgbClr val="AFBED0"/>
                </a:solidFill>
                <a:latin typeface="Aptos" pitchFamily="34" charset="0"/>
                <a:ea typeface="Aptos" pitchFamily="34" charset="-122"/>
                <a:cs typeface="Aptos" pitchFamily="34" charset="-120"/>
              </a:rPr>
              <a:t>PART 2  /  OUR METHODOLOGY</a:t>
            </a:r>
            <a:endParaRPr lang="en-US" sz="920" dirty="0"/>
          </a:p>
        </p:txBody>
      </p:sp>
      <p:sp>
        <p:nvSpPr>
          <p:cNvPr id="6" name="Shape 4"/>
          <p:cNvSpPr/>
          <p:nvPr/>
        </p:nvSpPr>
        <p:spPr>
          <a:xfrm>
            <a:off x="676656" y="6382512"/>
            <a:ext cx="10853928" cy="0"/>
          </a:xfrm>
          <a:prstGeom prst="line">
            <a:avLst/>
          </a:prstGeom>
          <a:noFill/>
          <a:ln w="8890">
            <a:solidFill>
              <a:srgbClr val="304861"/>
            </a:solidFill>
            <a:prstDash val="solid"/>
          </a:ln>
        </p:spPr>
      </p:sp>
      <p:sp>
        <p:nvSpPr>
          <p:cNvPr id="7" name="Text 5"/>
          <p:cNvSpPr/>
          <p:nvPr/>
        </p:nvSpPr>
        <p:spPr>
          <a:xfrm>
            <a:off x="694944" y="6519672"/>
            <a:ext cx="1188720" cy="155448"/>
          </a:xfrm>
          <a:prstGeom prst="rect">
            <a:avLst/>
          </a:prstGeom>
          <a:noFill/>
          <a:ln/>
        </p:spPr>
        <p:txBody>
          <a:bodyPr wrap="square" lIns="0" tIns="0" rIns="0" bIns="0" rtlCol="0" anchor="ctr">
            <a:normAutofit/>
          </a:bodyPr>
          <a:lstStyle/>
          <a:p>
            <a:pPr indent="0" marL="0">
              <a:buNone/>
            </a:pPr>
            <a:r>
              <a:rPr lang="en-US" sz="1000" b="1" dirty="0">
                <a:solidFill>
                  <a:srgbClr val="AFBED0"/>
                </a:solidFill>
                <a:latin typeface="Aptos" pitchFamily="34" charset="0"/>
                <a:ea typeface="Aptos" pitchFamily="34" charset="-122"/>
                <a:cs typeface="Aptos" pitchFamily="34" charset="-120"/>
              </a:rPr>
              <a:t>07 / 11</a:t>
            </a:r>
            <a:endParaRPr lang="en-US" sz="1000" dirty="0"/>
          </a:p>
        </p:txBody>
      </p:sp>
      <p:sp>
        <p:nvSpPr>
          <p:cNvPr id="8" name="Text 6"/>
          <p:cNvSpPr/>
          <p:nvPr/>
        </p:nvSpPr>
        <p:spPr>
          <a:xfrm>
            <a:off x="8503920" y="6510528"/>
            <a:ext cx="2971800" cy="173736"/>
          </a:xfrm>
          <a:prstGeom prst="rect">
            <a:avLst/>
          </a:prstGeom>
          <a:noFill/>
          <a:ln/>
        </p:spPr>
        <p:txBody>
          <a:bodyPr wrap="square" lIns="0" tIns="0" rIns="0" bIns="0" rtlCol="0" anchor="ctr">
            <a:normAutofit/>
          </a:bodyPr>
          <a:lstStyle/>
          <a:p>
            <a:pPr algn="r" indent="0" marL="0">
              <a:buNone/>
            </a:pPr>
            <a:r>
              <a:rPr lang="en-US" sz="970" b="1" dirty="0">
                <a:solidFill>
                  <a:srgbClr val="AFBED0"/>
                </a:solidFill>
                <a:latin typeface="Aptos" pitchFamily="34" charset="0"/>
                <a:ea typeface="Aptos" pitchFamily="34" charset="-122"/>
                <a:cs typeface="Aptos" pitchFamily="34" charset="-120"/>
              </a:rPr>
              <a:t>SPEAKER  TAEGWON</a:t>
            </a:r>
            <a:endParaRPr lang="en-US" sz="970" dirty="0"/>
          </a:p>
        </p:txBody>
      </p:sp>
      <p:sp>
        <p:nvSpPr>
          <p:cNvPr id="9" name="Text 7"/>
          <p:cNvSpPr/>
          <p:nvPr/>
        </p:nvSpPr>
        <p:spPr>
          <a:xfrm>
            <a:off x="694944" y="6144768"/>
            <a:ext cx="10881360" cy="164592"/>
          </a:xfrm>
          <a:prstGeom prst="rect">
            <a:avLst/>
          </a:prstGeom>
          <a:noFill/>
          <a:ln/>
        </p:spPr>
        <p:txBody>
          <a:bodyPr wrap="square" lIns="0" tIns="0" rIns="0" bIns="0" rtlCol="0" anchor="ctr">
            <a:normAutofit/>
          </a:bodyPr>
          <a:lstStyle/>
          <a:p>
            <a:pPr indent="0" marL="0">
              <a:buNone/>
            </a:pPr>
            <a:r>
              <a:rPr lang="en-US" sz="910" dirty="0">
                <a:solidFill>
                  <a:srgbClr val="AFBED0"/>
                </a:solidFill>
                <a:latin typeface="Aptos" pitchFamily="34" charset="0"/>
                <a:ea typeface="Aptos" pitchFamily="34" charset="-122"/>
                <a:cs typeface="Aptos" pitchFamily="34" charset="-120"/>
              </a:rPr>
              <a:t>Group 2 Code-Development 3rd Check-In (reported method)</a:t>
            </a:r>
            <a:endParaRPr lang="en-US" sz="910" dirty="0"/>
          </a:p>
        </p:txBody>
      </p:sp>
      <p:sp>
        <p:nvSpPr>
          <p:cNvPr id="11" name="Text 8"/>
          <p:cNvSpPr/>
          <p:nvPr/>
        </p:nvSpPr>
        <p:spPr>
          <a:xfrm>
            <a:off x="658368" y="621792"/>
            <a:ext cx="6400800" cy="201168"/>
          </a:xfrm>
          <a:prstGeom prst="rect">
            <a:avLst/>
          </a:prstGeom>
          <a:noFill/>
          <a:ln/>
        </p:spPr>
        <p:txBody>
          <a:bodyPr wrap="square" lIns="0" tIns="0" rIns="0" bIns="0" rtlCol="0" anchor="ctr">
            <a:normAutofit/>
          </a:bodyPr>
          <a:lstStyle/>
          <a:p>
            <a:pPr indent="0" marL="0">
              <a:buNone/>
            </a:pPr>
            <a:r>
              <a:rPr lang="en-US" sz="970" b="1" spc="120" kern="0" dirty="0">
                <a:solidFill>
                  <a:srgbClr val="47DAC5"/>
                </a:solidFill>
                <a:latin typeface="Aptos" pitchFamily="34" charset="0"/>
                <a:ea typeface="Aptos" pitchFamily="34" charset="-122"/>
                <a:cs typeface="Aptos" pitchFamily="34" charset="-120"/>
              </a:rPr>
              <a:t>OUR PROPOSED APPROACH</a:t>
            </a:r>
            <a:endParaRPr lang="en-US" sz="970" dirty="0"/>
          </a:p>
        </p:txBody>
      </p:sp>
      <p:sp>
        <p:nvSpPr>
          <p:cNvPr id="12" name="Text 9"/>
          <p:cNvSpPr/>
          <p:nvPr/>
        </p:nvSpPr>
        <p:spPr>
          <a:xfrm>
            <a:off x="658368" y="941832"/>
            <a:ext cx="10881360" cy="594360"/>
          </a:xfrm>
          <a:prstGeom prst="rect">
            <a:avLst/>
          </a:prstGeom>
          <a:noFill/>
          <a:ln/>
        </p:spPr>
        <p:txBody>
          <a:bodyPr wrap="square" lIns="0" tIns="0" rIns="0" bIns="0" rtlCol="0" anchor="ctr">
            <a:normAutofit/>
          </a:bodyPr>
          <a:lstStyle/>
          <a:p>
            <a:pPr indent="0" marL="0">
              <a:buNone/>
            </a:pPr>
            <a:r>
              <a:rPr lang="en-US" sz="3100" b="1" dirty="0">
                <a:solidFill>
                  <a:srgbClr val="F4F9FC"/>
                </a:solidFill>
                <a:latin typeface="Aptos" pitchFamily="34" charset="0"/>
                <a:ea typeface="Aptos" pitchFamily="34" charset="-122"/>
                <a:cs typeface="Aptos" pitchFamily="34" charset="-120"/>
              </a:rPr>
              <a:t>One base model. Two warning signals.</a:t>
            </a:r>
            <a:endParaRPr lang="en-US" sz="3100" dirty="0"/>
          </a:p>
        </p:txBody>
      </p:sp>
      <p:sp>
        <p:nvSpPr>
          <p:cNvPr id="13" name="Text 10"/>
          <p:cNvSpPr/>
          <p:nvPr/>
        </p:nvSpPr>
        <p:spPr>
          <a:xfrm>
            <a:off x="676656" y="1627632"/>
            <a:ext cx="10698480" cy="585216"/>
          </a:xfrm>
          <a:prstGeom prst="rect">
            <a:avLst/>
          </a:prstGeom>
          <a:noFill/>
          <a:ln/>
        </p:spPr>
        <p:txBody>
          <a:bodyPr wrap="square" lIns="0" tIns="0" rIns="0" bIns="0" rtlCol="0" anchor="t">
            <a:normAutofit/>
          </a:bodyPr>
          <a:lstStyle/>
          <a:p>
            <a:pPr indent="0" marL="0">
              <a:buNone/>
            </a:pPr>
            <a:r>
              <a:rPr lang="en-US" sz="1630" dirty="0">
                <a:solidFill>
                  <a:srgbClr val="AFBED0"/>
                </a:solidFill>
                <a:latin typeface="Aptos" pitchFamily="34" charset="0"/>
                <a:ea typeface="Aptos" pitchFamily="34" charset="-122"/>
                <a:cs typeface="Aptos" pitchFamily="34" charset="-120"/>
              </a:rPr>
              <a:t>We keep the same test images so the comparison is fair.</a:t>
            </a:r>
            <a:endParaRPr lang="en-US" sz="1630" dirty="0"/>
          </a:p>
        </p:txBody>
      </p:sp>
      <p:sp>
        <p:nvSpPr>
          <p:cNvPr id="14" name="Shape 11"/>
          <p:cNvSpPr/>
          <p:nvPr/>
        </p:nvSpPr>
        <p:spPr>
          <a:xfrm>
            <a:off x="740664" y="2532888"/>
            <a:ext cx="2606040" cy="1874520"/>
          </a:xfrm>
          <a:prstGeom prst="roundRect">
            <a:avLst>
              <a:gd name="adj" fmla="val 8780"/>
            </a:avLst>
          </a:prstGeom>
          <a:solidFill>
            <a:srgbClr val="14273F"/>
          </a:solidFill>
          <a:ln w="10795">
            <a:solidFill>
              <a:srgbClr val="304861"/>
            </a:solidFill>
            <a:prstDash val="solid"/>
          </a:ln>
        </p:spPr>
      </p:sp>
      <p:sp>
        <p:nvSpPr>
          <p:cNvPr id="15" name="Text 12"/>
          <p:cNvSpPr/>
          <p:nvPr/>
        </p:nvSpPr>
        <p:spPr>
          <a:xfrm>
            <a:off x="950976" y="2798064"/>
            <a:ext cx="1005840" cy="201168"/>
          </a:xfrm>
          <a:prstGeom prst="rect">
            <a:avLst/>
          </a:prstGeom>
          <a:noFill/>
          <a:ln/>
        </p:spPr>
        <p:txBody>
          <a:bodyPr wrap="square" lIns="0" tIns="0" rIns="0" bIns="0" rtlCol="0" anchor="ctr">
            <a:normAutofit/>
          </a:bodyPr>
          <a:lstStyle/>
          <a:p>
            <a:pPr indent="0" marL="0">
              <a:buNone/>
            </a:pPr>
            <a:r>
              <a:rPr lang="en-US" sz="970" b="1" spc="120" kern="0" dirty="0">
                <a:solidFill>
                  <a:srgbClr val="6EABF3"/>
                </a:solidFill>
                <a:latin typeface="Aptos" pitchFamily="34" charset="0"/>
                <a:ea typeface="Aptos" pitchFamily="34" charset="-122"/>
                <a:cs typeface="Aptos" pitchFamily="34" charset="-120"/>
              </a:rPr>
              <a:t>01</a:t>
            </a:r>
            <a:endParaRPr lang="en-US" sz="970" dirty="0"/>
          </a:p>
        </p:txBody>
      </p:sp>
      <p:sp>
        <p:nvSpPr>
          <p:cNvPr id="16" name="Text 13"/>
          <p:cNvSpPr/>
          <p:nvPr/>
        </p:nvSpPr>
        <p:spPr>
          <a:xfrm>
            <a:off x="950976" y="3182112"/>
            <a:ext cx="2157984" cy="402336"/>
          </a:xfrm>
          <a:prstGeom prst="rect">
            <a:avLst/>
          </a:prstGeom>
          <a:noFill/>
          <a:ln/>
        </p:spPr>
        <p:txBody>
          <a:bodyPr wrap="square" lIns="0" tIns="0" rIns="0" bIns="0" rtlCol="0" anchor="ctr">
            <a:normAutofit/>
          </a:bodyPr>
          <a:lstStyle/>
          <a:p>
            <a:pPr indent="0" marL="0">
              <a:buNone/>
            </a:pPr>
            <a:r>
              <a:rPr lang="en-US" sz="2000" b="1" dirty="0">
                <a:solidFill>
                  <a:srgbClr val="F4F9FC"/>
                </a:solidFill>
                <a:latin typeface="Aptos" pitchFamily="34" charset="0"/>
                <a:ea typeface="Aptos" pitchFamily="34" charset="-122"/>
                <a:cs typeface="Aptos" pitchFamily="34" charset="-120"/>
              </a:rPr>
              <a:t>CIFAR-10</a:t>
            </a:r>
            <a:endParaRPr lang="en-US" sz="2000" dirty="0"/>
          </a:p>
        </p:txBody>
      </p:sp>
      <p:sp>
        <p:nvSpPr>
          <p:cNvPr id="17" name="Text 14"/>
          <p:cNvSpPr/>
          <p:nvPr/>
        </p:nvSpPr>
        <p:spPr>
          <a:xfrm>
            <a:off x="950976" y="3685032"/>
            <a:ext cx="2167128" cy="457200"/>
          </a:xfrm>
          <a:prstGeom prst="rect">
            <a:avLst/>
          </a:prstGeom>
          <a:noFill/>
          <a:ln/>
        </p:spPr>
        <p:txBody>
          <a:bodyPr wrap="square" lIns="0" tIns="0" rIns="0" bIns="0" rtlCol="0" anchor="t">
            <a:normAutofit/>
          </a:bodyPr>
          <a:lstStyle/>
          <a:p>
            <a:pPr indent="0" marL="0">
              <a:buNone/>
            </a:pPr>
            <a:r>
              <a:rPr lang="en-US" sz="1360" dirty="0">
                <a:solidFill>
                  <a:srgbClr val="AFBED0"/>
                </a:solidFill>
                <a:latin typeface="Aptos" pitchFamily="34" charset="0"/>
                <a:ea typeface="Aptos" pitchFamily="34" charset="-122"/>
                <a:cs typeface="Aptos" pitchFamily="34" charset="-120"/>
              </a:rPr>
              <a:t>Train / validation / test</a:t>
            </a:r>
            <a:endParaRPr lang="en-US" sz="1360" dirty="0"/>
          </a:p>
        </p:txBody>
      </p:sp>
      <p:sp>
        <p:nvSpPr>
          <p:cNvPr id="18" name="Shape 15"/>
          <p:cNvSpPr/>
          <p:nvPr/>
        </p:nvSpPr>
        <p:spPr>
          <a:xfrm>
            <a:off x="3401568" y="3264408"/>
            <a:ext cx="182880" cy="320040"/>
          </a:xfrm>
          <a:prstGeom prst="chevron">
            <a:avLst/>
          </a:prstGeom>
          <a:solidFill>
            <a:srgbClr val="47DAC5"/>
          </a:solidFill>
          <a:ln w="12700">
            <a:solidFill>
              <a:srgbClr val="47DAC5">
                <a:alpha val="0"/>
              </a:srgbClr>
            </a:solidFill>
            <a:prstDash val="solid"/>
          </a:ln>
        </p:spPr>
      </p:sp>
      <p:sp>
        <p:nvSpPr>
          <p:cNvPr id="19" name="Shape 16"/>
          <p:cNvSpPr/>
          <p:nvPr/>
        </p:nvSpPr>
        <p:spPr>
          <a:xfrm>
            <a:off x="3630168" y="2532888"/>
            <a:ext cx="2606040" cy="1874520"/>
          </a:xfrm>
          <a:prstGeom prst="roundRect">
            <a:avLst>
              <a:gd name="adj" fmla="val 8780"/>
            </a:avLst>
          </a:prstGeom>
          <a:solidFill>
            <a:srgbClr val="14273F"/>
          </a:solidFill>
          <a:ln w="10795">
            <a:solidFill>
              <a:srgbClr val="304861"/>
            </a:solidFill>
            <a:prstDash val="solid"/>
          </a:ln>
        </p:spPr>
      </p:sp>
      <p:sp>
        <p:nvSpPr>
          <p:cNvPr id="20" name="Text 17"/>
          <p:cNvSpPr/>
          <p:nvPr/>
        </p:nvSpPr>
        <p:spPr>
          <a:xfrm>
            <a:off x="3840480" y="2798064"/>
            <a:ext cx="1005840" cy="201168"/>
          </a:xfrm>
          <a:prstGeom prst="rect">
            <a:avLst/>
          </a:prstGeom>
          <a:noFill/>
          <a:ln/>
        </p:spPr>
        <p:txBody>
          <a:bodyPr wrap="square" lIns="0" tIns="0" rIns="0" bIns="0" rtlCol="0" anchor="ctr">
            <a:normAutofit/>
          </a:bodyPr>
          <a:lstStyle/>
          <a:p>
            <a:pPr indent="0" marL="0">
              <a:buNone/>
            </a:pPr>
            <a:r>
              <a:rPr lang="en-US" sz="970" b="1" spc="120" kern="0" dirty="0">
                <a:solidFill>
                  <a:srgbClr val="47DAC5"/>
                </a:solidFill>
                <a:latin typeface="Aptos" pitchFamily="34" charset="0"/>
                <a:ea typeface="Aptos" pitchFamily="34" charset="-122"/>
                <a:cs typeface="Aptos" pitchFamily="34" charset="-120"/>
              </a:rPr>
              <a:t>02</a:t>
            </a:r>
            <a:endParaRPr lang="en-US" sz="970" dirty="0"/>
          </a:p>
        </p:txBody>
      </p:sp>
      <p:sp>
        <p:nvSpPr>
          <p:cNvPr id="21" name="Text 18"/>
          <p:cNvSpPr/>
          <p:nvPr/>
        </p:nvSpPr>
        <p:spPr>
          <a:xfrm>
            <a:off x="3840480" y="3182112"/>
            <a:ext cx="2157984" cy="402336"/>
          </a:xfrm>
          <a:prstGeom prst="rect">
            <a:avLst/>
          </a:prstGeom>
          <a:noFill/>
          <a:ln/>
        </p:spPr>
        <p:txBody>
          <a:bodyPr wrap="square" lIns="0" tIns="0" rIns="0" bIns="0" rtlCol="0" anchor="ctr">
            <a:normAutofit/>
          </a:bodyPr>
          <a:lstStyle/>
          <a:p>
            <a:pPr indent="0" marL="0">
              <a:buNone/>
            </a:pPr>
            <a:r>
              <a:rPr lang="en-US" sz="2000" b="1" dirty="0">
                <a:solidFill>
                  <a:srgbClr val="F4F9FC"/>
                </a:solidFill>
                <a:latin typeface="Aptos" pitchFamily="34" charset="0"/>
                <a:ea typeface="Aptos" pitchFamily="34" charset="-122"/>
                <a:cs typeface="Aptos" pitchFamily="34" charset="-120"/>
              </a:rPr>
              <a:t>FMFP</a:t>
            </a:r>
            <a:endParaRPr lang="en-US" sz="2000" dirty="0"/>
          </a:p>
        </p:txBody>
      </p:sp>
      <p:sp>
        <p:nvSpPr>
          <p:cNvPr id="22" name="Text 19"/>
          <p:cNvSpPr/>
          <p:nvPr/>
        </p:nvSpPr>
        <p:spPr>
          <a:xfrm>
            <a:off x="3840480" y="3685032"/>
            <a:ext cx="2167128" cy="457200"/>
          </a:xfrm>
          <a:prstGeom prst="rect">
            <a:avLst/>
          </a:prstGeom>
          <a:noFill/>
          <a:ln/>
        </p:spPr>
        <p:txBody>
          <a:bodyPr wrap="square" lIns="0" tIns="0" rIns="0" bIns="0" rtlCol="0" anchor="t">
            <a:normAutofit/>
          </a:bodyPr>
          <a:lstStyle/>
          <a:p>
            <a:pPr indent="0" marL="0">
              <a:buNone/>
            </a:pPr>
            <a:r>
              <a:rPr lang="en-US" sz="1360" dirty="0">
                <a:solidFill>
                  <a:srgbClr val="AFBED0"/>
                </a:solidFill>
                <a:latin typeface="Aptos" pitchFamily="34" charset="0"/>
                <a:ea typeface="Aptos" pitchFamily="34" charset="-122"/>
                <a:cs typeface="Aptos" pitchFamily="34" charset="-120"/>
              </a:rPr>
              <a:t>Train base classifier</a:t>
            </a:r>
            <a:endParaRPr lang="en-US" sz="1360" dirty="0"/>
          </a:p>
        </p:txBody>
      </p:sp>
      <p:sp>
        <p:nvSpPr>
          <p:cNvPr id="23" name="Shape 20"/>
          <p:cNvSpPr/>
          <p:nvPr/>
        </p:nvSpPr>
        <p:spPr>
          <a:xfrm>
            <a:off x="6291072" y="3264408"/>
            <a:ext cx="182880" cy="320040"/>
          </a:xfrm>
          <a:prstGeom prst="chevron">
            <a:avLst/>
          </a:prstGeom>
          <a:solidFill>
            <a:srgbClr val="47DAC5"/>
          </a:solidFill>
          <a:ln w="12700">
            <a:solidFill>
              <a:srgbClr val="47DAC5">
                <a:alpha val="0"/>
              </a:srgbClr>
            </a:solidFill>
            <a:prstDash val="solid"/>
          </a:ln>
        </p:spPr>
      </p:sp>
      <p:sp>
        <p:nvSpPr>
          <p:cNvPr id="24" name="Shape 21"/>
          <p:cNvSpPr/>
          <p:nvPr/>
        </p:nvSpPr>
        <p:spPr>
          <a:xfrm>
            <a:off x="6519672" y="2532888"/>
            <a:ext cx="2606040" cy="1874520"/>
          </a:xfrm>
          <a:prstGeom prst="roundRect">
            <a:avLst>
              <a:gd name="adj" fmla="val 8780"/>
            </a:avLst>
          </a:prstGeom>
          <a:solidFill>
            <a:srgbClr val="14273F"/>
          </a:solidFill>
          <a:ln w="10795">
            <a:solidFill>
              <a:srgbClr val="304861"/>
            </a:solidFill>
            <a:prstDash val="solid"/>
          </a:ln>
        </p:spPr>
      </p:sp>
      <p:sp>
        <p:nvSpPr>
          <p:cNvPr id="25" name="Text 22"/>
          <p:cNvSpPr/>
          <p:nvPr/>
        </p:nvSpPr>
        <p:spPr>
          <a:xfrm>
            <a:off x="6729984" y="2798064"/>
            <a:ext cx="1005840" cy="201168"/>
          </a:xfrm>
          <a:prstGeom prst="rect">
            <a:avLst/>
          </a:prstGeom>
          <a:noFill/>
          <a:ln/>
        </p:spPr>
        <p:txBody>
          <a:bodyPr wrap="square" lIns="0" tIns="0" rIns="0" bIns="0" rtlCol="0" anchor="ctr">
            <a:normAutofit/>
          </a:bodyPr>
          <a:lstStyle/>
          <a:p>
            <a:pPr indent="0" marL="0">
              <a:buNone/>
            </a:pPr>
            <a:r>
              <a:rPr lang="en-US" sz="970" b="1" spc="120" kern="0" dirty="0">
                <a:solidFill>
                  <a:srgbClr val="F5BE70"/>
                </a:solidFill>
                <a:latin typeface="Aptos" pitchFamily="34" charset="0"/>
                <a:ea typeface="Aptos" pitchFamily="34" charset="-122"/>
                <a:cs typeface="Aptos" pitchFamily="34" charset="-120"/>
              </a:rPr>
              <a:t>03</a:t>
            </a:r>
            <a:endParaRPr lang="en-US" sz="970" dirty="0"/>
          </a:p>
        </p:txBody>
      </p:sp>
      <p:sp>
        <p:nvSpPr>
          <p:cNvPr id="26" name="Text 23"/>
          <p:cNvSpPr/>
          <p:nvPr/>
        </p:nvSpPr>
        <p:spPr>
          <a:xfrm>
            <a:off x="6729984" y="3182112"/>
            <a:ext cx="2157984" cy="402336"/>
          </a:xfrm>
          <a:prstGeom prst="rect">
            <a:avLst/>
          </a:prstGeom>
          <a:noFill/>
          <a:ln/>
        </p:spPr>
        <p:txBody>
          <a:bodyPr wrap="square" lIns="0" tIns="0" rIns="0" bIns="0" rtlCol="0" anchor="ctr">
            <a:normAutofit/>
          </a:bodyPr>
          <a:lstStyle/>
          <a:p>
            <a:pPr indent="0" marL="0">
              <a:buNone/>
            </a:pPr>
            <a:r>
              <a:rPr lang="en-US" sz="2000" b="1" dirty="0">
                <a:solidFill>
                  <a:srgbClr val="F4F9FC"/>
                </a:solidFill>
                <a:latin typeface="Aptos" pitchFamily="34" charset="0"/>
                <a:ea typeface="Aptos" pitchFamily="34" charset="-122"/>
                <a:cs typeface="Aptos" pitchFamily="34" charset="-120"/>
              </a:rPr>
              <a:t>Risk Advisor</a:t>
            </a:r>
            <a:endParaRPr lang="en-US" sz="2000" dirty="0"/>
          </a:p>
        </p:txBody>
      </p:sp>
      <p:sp>
        <p:nvSpPr>
          <p:cNvPr id="27" name="Text 24"/>
          <p:cNvSpPr/>
          <p:nvPr/>
        </p:nvSpPr>
        <p:spPr>
          <a:xfrm>
            <a:off x="6729984" y="3685032"/>
            <a:ext cx="2167128" cy="457200"/>
          </a:xfrm>
          <a:prstGeom prst="rect">
            <a:avLst/>
          </a:prstGeom>
          <a:noFill/>
          <a:ln/>
        </p:spPr>
        <p:txBody>
          <a:bodyPr wrap="square" lIns="0" tIns="0" rIns="0" bIns="0" rtlCol="0" anchor="t">
            <a:normAutofit/>
          </a:bodyPr>
          <a:lstStyle/>
          <a:p>
            <a:pPr indent="0" marL="0">
              <a:buNone/>
            </a:pPr>
            <a:r>
              <a:rPr lang="en-US" sz="1360" dirty="0">
                <a:solidFill>
                  <a:srgbClr val="AFBED0"/>
                </a:solidFill>
                <a:latin typeface="Aptos" pitchFamily="34" charset="0"/>
                <a:ea typeface="Aptos" pitchFamily="34" charset="-122"/>
                <a:cs typeface="Aptos" pitchFamily="34" charset="-120"/>
              </a:rPr>
              <a:t>Fit using validation errors</a:t>
            </a:r>
            <a:endParaRPr lang="en-US" sz="1360" dirty="0"/>
          </a:p>
        </p:txBody>
      </p:sp>
      <p:sp>
        <p:nvSpPr>
          <p:cNvPr id="28" name="Shape 25"/>
          <p:cNvSpPr/>
          <p:nvPr/>
        </p:nvSpPr>
        <p:spPr>
          <a:xfrm>
            <a:off x="9180576" y="3264408"/>
            <a:ext cx="182880" cy="320040"/>
          </a:xfrm>
          <a:prstGeom prst="chevron">
            <a:avLst/>
          </a:prstGeom>
          <a:solidFill>
            <a:srgbClr val="47DAC5"/>
          </a:solidFill>
          <a:ln w="12700">
            <a:solidFill>
              <a:srgbClr val="47DAC5">
                <a:alpha val="0"/>
              </a:srgbClr>
            </a:solidFill>
            <a:prstDash val="solid"/>
          </a:ln>
        </p:spPr>
      </p:sp>
      <p:sp>
        <p:nvSpPr>
          <p:cNvPr id="29" name="Shape 26"/>
          <p:cNvSpPr/>
          <p:nvPr/>
        </p:nvSpPr>
        <p:spPr>
          <a:xfrm>
            <a:off x="9409176" y="2532888"/>
            <a:ext cx="2606040" cy="1874520"/>
          </a:xfrm>
          <a:prstGeom prst="roundRect">
            <a:avLst>
              <a:gd name="adj" fmla="val 8780"/>
            </a:avLst>
          </a:prstGeom>
          <a:solidFill>
            <a:srgbClr val="14273F"/>
          </a:solidFill>
          <a:ln w="10795">
            <a:solidFill>
              <a:srgbClr val="304861"/>
            </a:solidFill>
            <a:prstDash val="solid"/>
          </a:ln>
        </p:spPr>
      </p:sp>
      <p:sp>
        <p:nvSpPr>
          <p:cNvPr id="30" name="Text 27"/>
          <p:cNvSpPr/>
          <p:nvPr/>
        </p:nvSpPr>
        <p:spPr>
          <a:xfrm>
            <a:off x="9619488" y="2798064"/>
            <a:ext cx="1005840" cy="201168"/>
          </a:xfrm>
          <a:prstGeom prst="rect">
            <a:avLst/>
          </a:prstGeom>
          <a:noFill/>
          <a:ln/>
        </p:spPr>
        <p:txBody>
          <a:bodyPr wrap="square" lIns="0" tIns="0" rIns="0" bIns="0" rtlCol="0" anchor="ctr">
            <a:normAutofit/>
          </a:bodyPr>
          <a:lstStyle/>
          <a:p>
            <a:pPr indent="0" marL="0">
              <a:buNone/>
            </a:pPr>
            <a:r>
              <a:rPr lang="en-US" sz="970" b="1" spc="120" kern="0" dirty="0">
                <a:solidFill>
                  <a:srgbClr val="B4A3F5"/>
                </a:solidFill>
                <a:latin typeface="Aptos" pitchFamily="34" charset="0"/>
                <a:ea typeface="Aptos" pitchFamily="34" charset="-122"/>
                <a:cs typeface="Aptos" pitchFamily="34" charset="-120"/>
              </a:rPr>
              <a:t>04</a:t>
            </a:r>
            <a:endParaRPr lang="en-US" sz="970" dirty="0"/>
          </a:p>
        </p:txBody>
      </p:sp>
      <p:sp>
        <p:nvSpPr>
          <p:cNvPr id="31" name="Text 28"/>
          <p:cNvSpPr/>
          <p:nvPr/>
        </p:nvSpPr>
        <p:spPr>
          <a:xfrm>
            <a:off x="9619488" y="3182112"/>
            <a:ext cx="2157984" cy="402336"/>
          </a:xfrm>
          <a:prstGeom prst="rect">
            <a:avLst/>
          </a:prstGeom>
          <a:noFill/>
          <a:ln/>
        </p:spPr>
        <p:txBody>
          <a:bodyPr wrap="square" lIns="0" tIns="0" rIns="0" bIns="0" rtlCol="0" anchor="ctr">
            <a:normAutofit/>
          </a:bodyPr>
          <a:lstStyle/>
          <a:p>
            <a:pPr indent="0" marL="0">
              <a:buNone/>
            </a:pPr>
            <a:r>
              <a:rPr lang="en-US" sz="2000" b="1" dirty="0">
                <a:solidFill>
                  <a:srgbClr val="F4F9FC"/>
                </a:solidFill>
                <a:latin typeface="Aptos" pitchFamily="34" charset="0"/>
                <a:ea typeface="Aptos" pitchFamily="34" charset="-122"/>
                <a:cs typeface="Aptos" pitchFamily="34" charset="-120"/>
              </a:rPr>
              <a:t>CIFAR-10-C</a:t>
            </a:r>
            <a:endParaRPr lang="en-US" sz="2000" dirty="0"/>
          </a:p>
        </p:txBody>
      </p:sp>
      <p:sp>
        <p:nvSpPr>
          <p:cNvPr id="32" name="Text 29"/>
          <p:cNvSpPr/>
          <p:nvPr/>
        </p:nvSpPr>
        <p:spPr>
          <a:xfrm>
            <a:off x="9619488" y="3685032"/>
            <a:ext cx="2167128" cy="457200"/>
          </a:xfrm>
          <a:prstGeom prst="rect">
            <a:avLst/>
          </a:prstGeom>
          <a:noFill/>
          <a:ln/>
        </p:spPr>
        <p:txBody>
          <a:bodyPr wrap="square" lIns="0" tIns="0" rIns="0" bIns="0" rtlCol="0" anchor="t">
            <a:normAutofit/>
          </a:bodyPr>
          <a:lstStyle/>
          <a:p>
            <a:pPr indent="0" marL="0">
              <a:buNone/>
            </a:pPr>
            <a:r>
              <a:rPr lang="en-US" sz="1360" dirty="0">
                <a:solidFill>
                  <a:srgbClr val="AFBED0"/>
                </a:solidFill>
                <a:latin typeface="Aptos" pitchFamily="34" charset="0"/>
                <a:ea typeface="Aptos" pitchFamily="34" charset="-122"/>
                <a:cs typeface="Aptos" pitchFamily="34" charset="-120"/>
              </a:rPr>
              <a:t>Evaluate severity 1–5</a:t>
            </a:r>
            <a:endParaRPr lang="en-US" sz="1360" dirty="0"/>
          </a:p>
        </p:txBody>
      </p:sp>
      <p:sp>
        <p:nvSpPr>
          <p:cNvPr id="33" name="Shape 30"/>
          <p:cNvSpPr/>
          <p:nvPr/>
        </p:nvSpPr>
        <p:spPr>
          <a:xfrm>
            <a:off x="1417320" y="4846320"/>
            <a:ext cx="9418320" cy="685800"/>
          </a:xfrm>
          <a:prstGeom prst="roundRect">
            <a:avLst>
              <a:gd name="adj" fmla="val 24000"/>
            </a:avLst>
          </a:prstGeom>
          <a:solidFill>
            <a:srgbClr val="111F34"/>
          </a:solidFill>
          <a:ln w="10795">
            <a:solidFill>
              <a:srgbClr val="304861"/>
            </a:solidFill>
            <a:prstDash val="solid"/>
          </a:ln>
        </p:spPr>
      </p:sp>
      <p:sp>
        <p:nvSpPr>
          <p:cNvPr id="34" name="Text 31"/>
          <p:cNvSpPr/>
          <p:nvPr/>
        </p:nvSpPr>
        <p:spPr>
          <a:xfrm>
            <a:off x="1664208" y="5010912"/>
            <a:ext cx="8924544" cy="329184"/>
          </a:xfrm>
          <a:prstGeom prst="rect">
            <a:avLst/>
          </a:prstGeom>
          <a:noFill/>
          <a:ln/>
        </p:spPr>
        <p:txBody>
          <a:bodyPr wrap="square" lIns="0" tIns="0" rIns="0" bIns="0" rtlCol="0" anchor="ctr">
            <a:normAutofit/>
          </a:bodyPr>
          <a:lstStyle/>
          <a:p>
            <a:pPr algn="ctr" indent="0" marL="0">
              <a:buNone/>
            </a:pPr>
            <a:r>
              <a:rPr lang="en-US" sz="1850" b="1" dirty="0">
                <a:solidFill>
                  <a:srgbClr val="F4F9FC"/>
                </a:solidFill>
                <a:latin typeface="Aptos" pitchFamily="34" charset="0"/>
                <a:ea typeface="Aptos" pitchFamily="34" charset="-122"/>
                <a:cs typeface="Aptos" pitchFamily="34" charset="-120"/>
              </a:rPr>
              <a:t>Compare FMFP confidence vs. learned risk score</a:t>
            </a:r>
            <a:endParaRPr lang="en-US" sz="1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426"/>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47DAC5"/>
          </a:solidFill>
          <a:ln w="12700">
            <a:solidFill>
              <a:srgbClr val="47DAC5">
                <a:alpha val="0"/>
              </a:srgbClr>
            </a:solidFill>
            <a:prstDash val="solid"/>
          </a:ln>
        </p:spPr>
      </p:sp>
      <p:sp>
        <p:nvSpPr>
          <p:cNvPr id="3" name="Shape 1"/>
          <p:cNvSpPr/>
          <p:nvPr/>
        </p:nvSpPr>
        <p:spPr>
          <a:xfrm>
            <a:off x="676656" y="457200"/>
            <a:ext cx="10844784" cy="0"/>
          </a:xfrm>
          <a:prstGeom prst="line">
            <a:avLst/>
          </a:prstGeom>
          <a:noFill/>
          <a:ln w="8890">
            <a:solidFill>
              <a:srgbClr val="304861"/>
            </a:solidFill>
            <a:prstDash val="solid"/>
          </a:ln>
        </p:spPr>
      </p:sp>
      <p:sp>
        <p:nvSpPr>
          <p:cNvPr id="4" name="Text 2"/>
          <p:cNvSpPr/>
          <p:nvPr/>
        </p:nvSpPr>
        <p:spPr>
          <a:xfrm>
            <a:off x="676656" y="182880"/>
            <a:ext cx="4572000" cy="201168"/>
          </a:xfrm>
          <a:prstGeom prst="rect">
            <a:avLst/>
          </a:prstGeom>
          <a:noFill/>
          <a:ln/>
        </p:spPr>
        <p:txBody>
          <a:bodyPr wrap="square" lIns="0" tIns="0" rIns="0" bIns="0" rtlCol="0" anchor="ctr">
            <a:normAutofit/>
          </a:bodyPr>
          <a:lstStyle/>
          <a:p>
            <a:pPr indent="0" marL="0">
              <a:buNone/>
            </a:pPr>
            <a:r>
              <a:rPr lang="en-US" sz="970" b="1" spc="120" kern="0" dirty="0">
                <a:solidFill>
                  <a:srgbClr val="AFBED0"/>
                </a:solidFill>
                <a:latin typeface="Aptos" pitchFamily="34" charset="0"/>
                <a:ea typeface="Aptos" pitchFamily="34" charset="-122"/>
                <a:cs typeface="Aptos" pitchFamily="34" charset="-120"/>
              </a:rPr>
              <a:t>DS 340W  /  GROUP 2</a:t>
            </a:r>
            <a:endParaRPr lang="en-US" sz="970" dirty="0"/>
          </a:p>
        </p:txBody>
      </p:sp>
      <p:sp>
        <p:nvSpPr>
          <p:cNvPr id="5" name="Text 3"/>
          <p:cNvSpPr/>
          <p:nvPr/>
        </p:nvSpPr>
        <p:spPr>
          <a:xfrm>
            <a:off x="9235440" y="201168"/>
            <a:ext cx="2212848" cy="164592"/>
          </a:xfrm>
          <a:prstGeom prst="rect">
            <a:avLst/>
          </a:prstGeom>
          <a:noFill/>
          <a:ln/>
        </p:spPr>
        <p:txBody>
          <a:bodyPr wrap="square" lIns="0" tIns="0" rIns="0" bIns="0" rtlCol="0" anchor="ctr">
            <a:normAutofit/>
          </a:bodyPr>
          <a:lstStyle/>
          <a:p>
            <a:pPr algn="r" indent="0" marL="0">
              <a:buNone/>
            </a:pPr>
            <a:r>
              <a:rPr lang="en-US" sz="920" b="1" dirty="0">
                <a:solidFill>
                  <a:srgbClr val="AFBED0"/>
                </a:solidFill>
                <a:latin typeface="Aptos" pitchFamily="34" charset="0"/>
                <a:ea typeface="Aptos" pitchFamily="34" charset="-122"/>
                <a:cs typeface="Aptos" pitchFamily="34" charset="-120"/>
              </a:rPr>
              <a:t>PART 2  /  DATA &amp; METRICS</a:t>
            </a:r>
            <a:endParaRPr lang="en-US" sz="920" dirty="0"/>
          </a:p>
        </p:txBody>
      </p:sp>
      <p:sp>
        <p:nvSpPr>
          <p:cNvPr id="6" name="Shape 4"/>
          <p:cNvSpPr/>
          <p:nvPr/>
        </p:nvSpPr>
        <p:spPr>
          <a:xfrm>
            <a:off x="676656" y="6382512"/>
            <a:ext cx="10853928" cy="0"/>
          </a:xfrm>
          <a:prstGeom prst="line">
            <a:avLst/>
          </a:prstGeom>
          <a:noFill/>
          <a:ln w="8890">
            <a:solidFill>
              <a:srgbClr val="304861"/>
            </a:solidFill>
            <a:prstDash val="solid"/>
          </a:ln>
        </p:spPr>
      </p:sp>
      <p:sp>
        <p:nvSpPr>
          <p:cNvPr id="7" name="Text 5"/>
          <p:cNvSpPr/>
          <p:nvPr/>
        </p:nvSpPr>
        <p:spPr>
          <a:xfrm>
            <a:off x="694944" y="6519672"/>
            <a:ext cx="1188720" cy="155448"/>
          </a:xfrm>
          <a:prstGeom prst="rect">
            <a:avLst/>
          </a:prstGeom>
          <a:noFill/>
          <a:ln/>
        </p:spPr>
        <p:txBody>
          <a:bodyPr wrap="square" lIns="0" tIns="0" rIns="0" bIns="0" rtlCol="0" anchor="ctr">
            <a:normAutofit/>
          </a:bodyPr>
          <a:lstStyle/>
          <a:p>
            <a:pPr indent="0" marL="0">
              <a:buNone/>
            </a:pPr>
            <a:r>
              <a:rPr lang="en-US" sz="1000" b="1" dirty="0">
                <a:solidFill>
                  <a:srgbClr val="AFBED0"/>
                </a:solidFill>
                <a:latin typeface="Aptos" pitchFamily="34" charset="0"/>
                <a:ea typeface="Aptos" pitchFamily="34" charset="-122"/>
                <a:cs typeface="Aptos" pitchFamily="34" charset="-120"/>
              </a:rPr>
              <a:t>08 / 11</a:t>
            </a:r>
            <a:endParaRPr lang="en-US" sz="1000" dirty="0"/>
          </a:p>
        </p:txBody>
      </p:sp>
      <p:sp>
        <p:nvSpPr>
          <p:cNvPr id="8" name="Text 6"/>
          <p:cNvSpPr/>
          <p:nvPr/>
        </p:nvSpPr>
        <p:spPr>
          <a:xfrm>
            <a:off x="8503920" y="6510528"/>
            <a:ext cx="2971800" cy="173736"/>
          </a:xfrm>
          <a:prstGeom prst="rect">
            <a:avLst/>
          </a:prstGeom>
          <a:noFill/>
          <a:ln/>
        </p:spPr>
        <p:txBody>
          <a:bodyPr wrap="square" lIns="0" tIns="0" rIns="0" bIns="0" rtlCol="0" anchor="ctr">
            <a:normAutofit/>
          </a:bodyPr>
          <a:lstStyle/>
          <a:p>
            <a:pPr algn="r" indent="0" marL="0">
              <a:buNone/>
            </a:pPr>
            <a:r>
              <a:rPr lang="en-US" sz="970" b="1" dirty="0">
                <a:solidFill>
                  <a:srgbClr val="AFBED0"/>
                </a:solidFill>
                <a:latin typeface="Aptos" pitchFamily="34" charset="0"/>
                <a:ea typeface="Aptos" pitchFamily="34" charset="-122"/>
                <a:cs typeface="Aptos" pitchFamily="34" charset="-120"/>
              </a:rPr>
              <a:t>SPEAKER  WOOJOO</a:t>
            </a:r>
            <a:endParaRPr lang="en-US" sz="970" dirty="0"/>
          </a:p>
        </p:txBody>
      </p:sp>
      <p:sp>
        <p:nvSpPr>
          <p:cNvPr id="10" name="Text 7"/>
          <p:cNvSpPr/>
          <p:nvPr/>
        </p:nvSpPr>
        <p:spPr>
          <a:xfrm>
            <a:off x="658368" y="621792"/>
            <a:ext cx="6400800" cy="201168"/>
          </a:xfrm>
          <a:prstGeom prst="rect">
            <a:avLst/>
          </a:prstGeom>
          <a:noFill/>
          <a:ln/>
        </p:spPr>
        <p:txBody>
          <a:bodyPr wrap="square" lIns="0" tIns="0" rIns="0" bIns="0" rtlCol="0" anchor="ctr">
            <a:normAutofit/>
          </a:bodyPr>
          <a:lstStyle/>
          <a:p>
            <a:pPr indent="0" marL="0">
              <a:buNone/>
            </a:pPr>
            <a:r>
              <a:rPr lang="en-US" sz="970" b="1" spc="120" kern="0" dirty="0">
                <a:solidFill>
                  <a:srgbClr val="47DAC5"/>
                </a:solidFill>
                <a:latin typeface="Aptos" pitchFamily="34" charset="0"/>
                <a:ea typeface="Aptos" pitchFamily="34" charset="-122"/>
                <a:cs typeface="Aptos" pitchFamily="34" charset="-120"/>
              </a:rPr>
              <a:t>DATA AND EVALUATION</a:t>
            </a:r>
            <a:endParaRPr lang="en-US" sz="970" dirty="0"/>
          </a:p>
        </p:txBody>
      </p:sp>
      <p:sp>
        <p:nvSpPr>
          <p:cNvPr id="11" name="Text 8"/>
          <p:cNvSpPr/>
          <p:nvPr/>
        </p:nvSpPr>
        <p:spPr>
          <a:xfrm>
            <a:off x="658368" y="941832"/>
            <a:ext cx="10881360" cy="594360"/>
          </a:xfrm>
          <a:prstGeom prst="rect">
            <a:avLst/>
          </a:prstGeom>
          <a:noFill/>
          <a:ln/>
        </p:spPr>
        <p:txBody>
          <a:bodyPr wrap="square" lIns="0" tIns="0" rIns="0" bIns="0" rtlCol="0" anchor="ctr">
            <a:normAutofit/>
          </a:bodyPr>
          <a:lstStyle/>
          <a:p>
            <a:pPr indent="0" marL="0">
              <a:buNone/>
            </a:pPr>
            <a:r>
              <a:rPr lang="en-US" sz="3100" b="1" dirty="0">
                <a:solidFill>
                  <a:srgbClr val="F4F9FC"/>
                </a:solidFill>
                <a:latin typeface="Aptos" pitchFamily="34" charset="0"/>
                <a:ea typeface="Aptos" pitchFamily="34" charset="-122"/>
                <a:cs typeface="Aptos" pitchFamily="34" charset="-120"/>
              </a:rPr>
              <a:t>Measure warning quality under data change.</a:t>
            </a:r>
            <a:endParaRPr lang="en-US" sz="3100" dirty="0"/>
          </a:p>
        </p:txBody>
      </p:sp>
      <p:sp>
        <p:nvSpPr>
          <p:cNvPr id="12" name="Text 9"/>
          <p:cNvSpPr/>
          <p:nvPr/>
        </p:nvSpPr>
        <p:spPr>
          <a:xfrm>
            <a:off x="676656" y="1627632"/>
            <a:ext cx="10698480" cy="585216"/>
          </a:xfrm>
          <a:prstGeom prst="rect">
            <a:avLst/>
          </a:prstGeom>
          <a:noFill/>
          <a:ln/>
        </p:spPr>
        <p:txBody>
          <a:bodyPr wrap="square" lIns="0" tIns="0" rIns="0" bIns="0" rtlCol="0" anchor="t">
            <a:normAutofit/>
          </a:bodyPr>
          <a:lstStyle/>
          <a:p>
            <a:pPr indent="0" marL="0">
              <a:buNone/>
            </a:pPr>
            <a:r>
              <a:rPr lang="en-US" sz="1630" dirty="0">
                <a:solidFill>
                  <a:srgbClr val="AFBED0"/>
                </a:solidFill>
                <a:latin typeface="Aptos" pitchFamily="34" charset="0"/>
                <a:ea typeface="Aptos" pitchFamily="34" charset="-122"/>
                <a:cs typeface="Aptos" pitchFamily="34" charset="-120"/>
              </a:rPr>
              <a:t>CIFAR-10-C lets us test the model on increasingly corrupted inputs.</a:t>
            </a:r>
            <a:endParaRPr lang="en-US" sz="1630" dirty="0"/>
          </a:p>
        </p:txBody>
      </p:sp>
      <p:sp>
        <p:nvSpPr>
          <p:cNvPr id="13" name="Shape 10"/>
          <p:cNvSpPr/>
          <p:nvPr/>
        </p:nvSpPr>
        <p:spPr>
          <a:xfrm>
            <a:off x="694944" y="2377440"/>
            <a:ext cx="5577840" cy="3328416"/>
          </a:xfrm>
          <a:prstGeom prst="roundRect">
            <a:avLst>
              <a:gd name="adj" fmla="val 4945"/>
            </a:avLst>
          </a:prstGeom>
          <a:solidFill>
            <a:srgbClr val="14273F"/>
          </a:solidFill>
          <a:ln w="10795">
            <a:solidFill>
              <a:srgbClr val="304861"/>
            </a:solidFill>
            <a:prstDash val="solid"/>
          </a:ln>
        </p:spPr>
      </p:sp>
      <p:sp>
        <p:nvSpPr>
          <p:cNvPr id="14" name="Text 11"/>
          <p:cNvSpPr/>
          <p:nvPr/>
        </p:nvSpPr>
        <p:spPr>
          <a:xfrm>
            <a:off x="960120" y="2660904"/>
            <a:ext cx="4572000" cy="201168"/>
          </a:xfrm>
          <a:prstGeom prst="rect">
            <a:avLst/>
          </a:prstGeom>
          <a:noFill/>
          <a:ln/>
        </p:spPr>
        <p:txBody>
          <a:bodyPr wrap="square" lIns="0" tIns="0" rIns="0" bIns="0" rtlCol="0" anchor="ctr">
            <a:normAutofit/>
          </a:bodyPr>
          <a:lstStyle/>
          <a:p>
            <a:pPr indent="0" marL="0">
              <a:buNone/>
            </a:pPr>
            <a:r>
              <a:rPr lang="en-US" sz="970" b="1" spc="120" kern="0" dirty="0">
                <a:solidFill>
                  <a:srgbClr val="47DAC5"/>
                </a:solidFill>
                <a:latin typeface="Aptos" pitchFamily="34" charset="0"/>
                <a:ea typeface="Aptos" pitchFamily="34" charset="-122"/>
                <a:cs typeface="Aptos" pitchFamily="34" charset="-120"/>
              </a:rPr>
              <a:t>REPORTED CIFAR-10 SPLIT</a:t>
            </a:r>
            <a:endParaRPr lang="en-US" sz="970" dirty="0"/>
          </a:p>
        </p:txBody>
      </p:sp>
      <p:sp>
        <p:nvSpPr>
          <p:cNvPr id="15" name="Text 12"/>
          <p:cNvSpPr/>
          <p:nvPr/>
        </p:nvSpPr>
        <p:spPr>
          <a:xfrm>
            <a:off x="1014984" y="3310128"/>
            <a:ext cx="1517904" cy="694944"/>
          </a:xfrm>
          <a:prstGeom prst="rect">
            <a:avLst/>
          </a:prstGeom>
          <a:noFill/>
          <a:ln/>
        </p:spPr>
        <p:txBody>
          <a:bodyPr wrap="square" lIns="0" tIns="0" rIns="0" bIns="0" rtlCol="0" anchor="ctr">
            <a:normAutofit/>
          </a:bodyPr>
          <a:lstStyle/>
          <a:p>
            <a:pPr algn="ctr" indent="0" marL="0">
              <a:buNone/>
            </a:pPr>
            <a:r>
              <a:rPr lang="en-US" sz="3000" b="1" dirty="0">
                <a:solidFill>
                  <a:srgbClr val="F4F9FC"/>
                </a:solidFill>
                <a:latin typeface="Aptos" pitchFamily="34" charset="0"/>
                <a:ea typeface="Aptos" pitchFamily="34" charset="-122"/>
                <a:cs typeface="Aptos" pitchFamily="34" charset="-120"/>
              </a:rPr>
              <a:t>45K</a:t>
            </a:r>
            <a:endParaRPr lang="en-US" sz="3000" dirty="0"/>
          </a:p>
        </p:txBody>
      </p:sp>
      <p:sp>
        <p:nvSpPr>
          <p:cNvPr id="16" name="Text 13"/>
          <p:cNvSpPr/>
          <p:nvPr/>
        </p:nvSpPr>
        <p:spPr>
          <a:xfrm>
            <a:off x="1014984" y="4023360"/>
            <a:ext cx="1517904" cy="329184"/>
          </a:xfrm>
          <a:prstGeom prst="rect">
            <a:avLst/>
          </a:prstGeom>
          <a:noFill/>
          <a:ln/>
        </p:spPr>
        <p:txBody>
          <a:bodyPr wrap="square" lIns="0" tIns="0" rIns="0" bIns="0" rtlCol="0" anchor="ctr">
            <a:normAutofit/>
          </a:bodyPr>
          <a:lstStyle/>
          <a:p>
            <a:pPr algn="ctr" indent="0" marL="0">
              <a:buNone/>
            </a:pPr>
            <a:r>
              <a:rPr lang="en-US" sz="1430" dirty="0">
                <a:solidFill>
                  <a:srgbClr val="AFBED0"/>
                </a:solidFill>
                <a:latin typeface="Aptos" pitchFamily="34" charset="0"/>
                <a:ea typeface="Aptos" pitchFamily="34" charset="-122"/>
                <a:cs typeface="Aptos" pitchFamily="34" charset="-120"/>
              </a:rPr>
              <a:t>Train</a:t>
            </a:r>
            <a:endParaRPr lang="en-US" sz="1430" dirty="0"/>
          </a:p>
        </p:txBody>
      </p:sp>
      <p:sp>
        <p:nvSpPr>
          <p:cNvPr id="17" name="Text 14"/>
          <p:cNvSpPr/>
          <p:nvPr/>
        </p:nvSpPr>
        <p:spPr>
          <a:xfrm>
            <a:off x="2770632" y="3310128"/>
            <a:ext cx="1517904" cy="694944"/>
          </a:xfrm>
          <a:prstGeom prst="rect">
            <a:avLst/>
          </a:prstGeom>
          <a:noFill/>
          <a:ln/>
        </p:spPr>
        <p:txBody>
          <a:bodyPr wrap="square" lIns="0" tIns="0" rIns="0" bIns="0" rtlCol="0" anchor="ctr">
            <a:normAutofit/>
          </a:bodyPr>
          <a:lstStyle/>
          <a:p>
            <a:pPr algn="ctr" indent="0" marL="0">
              <a:buNone/>
            </a:pPr>
            <a:r>
              <a:rPr lang="en-US" sz="3000" b="1" dirty="0">
                <a:solidFill>
                  <a:srgbClr val="F4F9FC"/>
                </a:solidFill>
                <a:latin typeface="Aptos" pitchFamily="34" charset="0"/>
                <a:ea typeface="Aptos" pitchFamily="34" charset="-122"/>
                <a:cs typeface="Aptos" pitchFamily="34" charset="-120"/>
              </a:rPr>
              <a:t>5K</a:t>
            </a:r>
            <a:endParaRPr lang="en-US" sz="3000" dirty="0"/>
          </a:p>
        </p:txBody>
      </p:sp>
      <p:sp>
        <p:nvSpPr>
          <p:cNvPr id="18" name="Text 15"/>
          <p:cNvSpPr/>
          <p:nvPr/>
        </p:nvSpPr>
        <p:spPr>
          <a:xfrm>
            <a:off x="2770632" y="4023360"/>
            <a:ext cx="1517904" cy="329184"/>
          </a:xfrm>
          <a:prstGeom prst="rect">
            <a:avLst/>
          </a:prstGeom>
          <a:noFill/>
          <a:ln/>
        </p:spPr>
        <p:txBody>
          <a:bodyPr wrap="square" lIns="0" tIns="0" rIns="0" bIns="0" rtlCol="0" anchor="ctr">
            <a:normAutofit/>
          </a:bodyPr>
          <a:lstStyle/>
          <a:p>
            <a:pPr algn="ctr" indent="0" marL="0">
              <a:buNone/>
            </a:pPr>
            <a:r>
              <a:rPr lang="en-US" sz="1430" dirty="0">
                <a:solidFill>
                  <a:srgbClr val="AFBED0"/>
                </a:solidFill>
                <a:latin typeface="Aptos" pitchFamily="34" charset="0"/>
                <a:ea typeface="Aptos" pitchFamily="34" charset="-122"/>
                <a:cs typeface="Aptos" pitchFamily="34" charset="-120"/>
              </a:rPr>
              <a:t>Validate</a:t>
            </a:r>
            <a:endParaRPr lang="en-US" sz="1430" dirty="0"/>
          </a:p>
        </p:txBody>
      </p:sp>
      <p:sp>
        <p:nvSpPr>
          <p:cNvPr id="19" name="Text 16"/>
          <p:cNvSpPr/>
          <p:nvPr/>
        </p:nvSpPr>
        <p:spPr>
          <a:xfrm>
            <a:off x="4526280" y="3310128"/>
            <a:ext cx="1517904" cy="694944"/>
          </a:xfrm>
          <a:prstGeom prst="rect">
            <a:avLst/>
          </a:prstGeom>
          <a:noFill/>
          <a:ln/>
        </p:spPr>
        <p:txBody>
          <a:bodyPr wrap="square" lIns="0" tIns="0" rIns="0" bIns="0" rtlCol="0" anchor="ctr">
            <a:normAutofit/>
          </a:bodyPr>
          <a:lstStyle/>
          <a:p>
            <a:pPr algn="ctr" indent="0" marL="0">
              <a:buNone/>
            </a:pPr>
            <a:r>
              <a:rPr lang="en-US" sz="3000" b="1" dirty="0">
                <a:solidFill>
                  <a:srgbClr val="F4F9FC"/>
                </a:solidFill>
                <a:latin typeface="Aptos" pitchFamily="34" charset="0"/>
                <a:ea typeface="Aptos" pitchFamily="34" charset="-122"/>
                <a:cs typeface="Aptos" pitchFamily="34" charset="-120"/>
              </a:rPr>
              <a:t>10K</a:t>
            </a:r>
            <a:endParaRPr lang="en-US" sz="3000" dirty="0"/>
          </a:p>
        </p:txBody>
      </p:sp>
      <p:sp>
        <p:nvSpPr>
          <p:cNvPr id="20" name="Text 17"/>
          <p:cNvSpPr/>
          <p:nvPr/>
        </p:nvSpPr>
        <p:spPr>
          <a:xfrm>
            <a:off x="4526280" y="4023360"/>
            <a:ext cx="1517904" cy="329184"/>
          </a:xfrm>
          <a:prstGeom prst="rect">
            <a:avLst/>
          </a:prstGeom>
          <a:noFill/>
          <a:ln/>
        </p:spPr>
        <p:txBody>
          <a:bodyPr wrap="square" lIns="0" tIns="0" rIns="0" bIns="0" rtlCol="0" anchor="ctr">
            <a:normAutofit/>
          </a:bodyPr>
          <a:lstStyle/>
          <a:p>
            <a:pPr algn="ctr" indent="0" marL="0">
              <a:buNone/>
            </a:pPr>
            <a:r>
              <a:rPr lang="en-US" sz="1430" dirty="0">
                <a:solidFill>
                  <a:srgbClr val="AFBED0"/>
                </a:solidFill>
                <a:latin typeface="Aptos" pitchFamily="34" charset="0"/>
                <a:ea typeface="Aptos" pitchFamily="34" charset="-122"/>
                <a:cs typeface="Aptos" pitchFamily="34" charset="-120"/>
              </a:rPr>
              <a:t>Test</a:t>
            </a:r>
            <a:endParaRPr lang="en-US" sz="1430" dirty="0"/>
          </a:p>
        </p:txBody>
      </p:sp>
      <p:sp>
        <p:nvSpPr>
          <p:cNvPr id="21" name="Text 18"/>
          <p:cNvSpPr/>
          <p:nvPr/>
        </p:nvSpPr>
        <p:spPr>
          <a:xfrm>
            <a:off x="1024128" y="4928616"/>
            <a:ext cx="4992624" cy="411480"/>
          </a:xfrm>
          <a:prstGeom prst="rect">
            <a:avLst/>
          </a:prstGeom>
          <a:noFill/>
          <a:ln/>
        </p:spPr>
        <p:txBody>
          <a:bodyPr wrap="square" lIns="0" tIns="0" rIns="0" bIns="0" rtlCol="0" anchor="ctr">
            <a:normAutofit/>
          </a:bodyPr>
          <a:lstStyle/>
          <a:p>
            <a:pPr indent="0" marL="0">
              <a:buNone/>
            </a:pPr>
            <a:r>
              <a:rPr lang="en-US" sz="1600" b="1" dirty="0">
                <a:solidFill>
                  <a:srgbClr val="D3DEE8"/>
                </a:solidFill>
                <a:latin typeface="Aptos" pitchFamily="34" charset="0"/>
                <a:ea typeface="Aptos" pitchFamily="34" charset="-122"/>
                <a:cs typeface="Aptos" pitchFamily="34" charset="-120"/>
              </a:rPr>
              <a:t>CIFAR-10-C  →  Severity levels 1, 2, 3, 4, 5</a:t>
            </a:r>
            <a:endParaRPr lang="en-US" sz="1600" dirty="0"/>
          </a:p>
        </p:txBody>
      </p:sp>
      <p:sp>
        <p:nvSpPr>
          <p:cNvPr id="22" name="Shape 19"/>
          <p:cNvSpPr/>
          <p:nvPr/>
        </p:nvSpPr>
        <p:spPr>
          <a:xfrm>
            <a:off x="6510528" y="2377440"/>
            <a:ext cx="4937760" cy="3328416"/>
          </a:xfrm>
          <a:prstGeom prst="roundRect">
            <a:avLst>
              <a:gd name="adj" fmla="val 4945"/>
            </a:avLst>
          </a:prstGeom>
          <a:solidFill>
            <a:srgbClr val="14273F"/>
          </a:solidFill>
          <a:ln w="10795">
            <a:solidFill>
              <a:srgbClr val="304861"/>
            </a:solidFill>
            <a:prstDash val="solid"/>
          </a:ln>
        </p:spPr>
      </p:sp>
      <p:sp>
        <p:nvSpPr>
          <p:cNvPr id="23" name="Text 20"/>
          <p:cNvSpPr/>
          <p:nvPr/>
        </p:nvSpPr>
        <p:spPr>
          <a:xfrm>
            <a:off x="6784848" y="2660904"/>
            <a:ext cx="4206240" cy="201168"/>
          </a:xfrm>
          <a:prstGeom prst="rect">
            <a:avLst/>
          </a:prstGeom>
          <a:noFill/>
          <a:ln/>
        </p:spPr>
        <p:txBody>
          <a:bodyPr wrap="square" lIns="0" tIns="0" rIns="0" bIns="0" rtlCol="0" anchor="ctr">
            <a:normAutofit/>
          </a:bodyPr>
          <a:lstStyle/>
          <a:p>
            <a:pPr indent="0" marL="0">
              <a:buNone/>
            </a:pPr>
            <a:r>
              <a:rPr lang="en-US" sz="970" b="1" spc="120" kern="0" dirty="0">
                <a:solidFill>
                  <a:srgbClr val="F5BE70"/>
                </a:solidFill>
                <a:latin typeface="Aptos" pitchFamily="34" charset="0"/>
                <a:ea typeface="Aptos" pitchFamily="34" charset="-122"/>
                <a:cs typeface="Aptos" pitchFamily="34" charset="-120"/>
              </a:rPr>
              <a:t>PLANNED METRICS</a:t>
            </a:r>
            <a:endParaRPr lang="en-US" sz="970" dirty="0"/>
          </a:p>
        </p:txBody>
      </p:sp>
      <p:sp>
        <p:nvSpPr>
          <p:cNvPr id="24" name="Text 21"/>
          <p:cNvSpPr/>
          <p:nvPr/>
        </p:nvSpPr>
        <p:spPr>
          <a:xfrm>
            <a:off x="6812280" y="3108960"/>
            <a:ext cx="1124712" cy="283464"/>
          </a:xfrm>
          <a:prstGeom prst="rect">
            <a:avLst/>
          </a:prstGeom>
          <a:noFill/>
          <a:ln/>
        </p:spPr>
        <p:txBody>
          <a:bodyPr wrap="square" lIns="0" tIns="0" rIns="0" bIns="0" rtlCol="0" anchor="ctr">
            <a:normAutofit/>
          </a:bodyPr>
          <a:lstStyle/>
          <a:p>
            <a:pPr indent="0" marL="0">
              <a:buNone/>
            </a:pPr>
            <a:r>
              <a:rPr lang="en-US" sz="1600" b="1" dirty="0">
                <a:solidFill>
                  <a:srgbClr val="F4F9FC"/>
                </a:solidFill>
                <a:latin typeface="Aptos" pitchFamily="34" charset="0"/>
                <a:ea typeface="Aptos" pitchFamily="34" charset="-122"/>
                <a:cs typeface="Aptos" pitchFamily="34" charset="-120"/>
              </a:rPr>
              <a:t>AUROC</a:t>
            </a:r>
            <a:endParaRPr lang="en-US" sz="1600" dirty="0"/>
          </a:p>
        </p:txBody>
      </p:sp>
      <p:sp>
        <p:nvSpPr>
          <p:cNvPr id="25" name="Text 22"/>
          <p:cNvSpPr/>
          <p:nvPr/>
        </p:nvSpPr>
        <p:spPr>
          <a:xfrm>
            <a:off x="7955280" y="3108960"/>
            <a:ext cx="3090672" cy="292608"/>
          </a:xfrm>
          <a:prstGeom prst="rect">
            <a:avLst/>
          </a:prstGeom>
          <a:noFill/>
          <a:ln/>
        </p:spPr>
        <p:txBody>
          <a:bodyPr wrap="square" lIns="0" tIns="0" rIns="0" bIns="0" rtlCol="0" anchor="ctr">
            <a:normAutofit/>
          </a:bodyPr>
          <a:lstStyle/>
          <a:p>
            <a:pPr indent="0" marL="0">
              <a:buNone/>
            </a:pPr>
            <a:r>
              <a:rPr lang="en-US" sz="1310" dirty="0">
                <a:solidFill>
                  <a:srgbClr val="AFBED0"/>
                </a:solidFill>
                <a:latin typeface="Aptos" pitchFamily="34" charset="0"/>
                <a:ea typeface="Aptos" pitchFamily="34" charset="-122"/>
                <a:cs typeface="Aptos" pitchFamily="34" charset="-120"/>
              </a:rPr>
              <a:t>Find mistakes</a:t>
            </a:r>
            <a:endParaRPr lang="en-US" sz="1310" dirty="0"/>
          </a:p>
        </p:txBody>
      </p:sp>
      <p:sp>
        <p:nvSpPr>
          <p:cNvPr id="26" name="Shape 23"/>
          <p:cNvSpPr/>
          <p:nvPr/>
        </p:nvSpPr>
        <p:spPr>
          <a:xfrm>
            <a:off x="6803136" y="3502152"/>
            <a:ext cx="4288536" cy="0"/>
          </a:xfrm>
          <a:prstGeom prst="line">
            <a:avLst/>
          </a:prstGeom>
          <a:noFill/>
          <a:ln w="6985">
            <a:solidFill>
              <a:srgbClr val="304861"/>
            </a:solidFill>
            <a:prstDash val="solid"/>
          </a:ln>
        </p:spPr>
      </p:sp>
      <p:sp>
        <p:nvSpPr>
          <p:cNvPr id="27" name="Text 24"/>
          <p:cNvSpPr/>
          <p:nvPr/>
        </p:nvSpPr>
        <p:spPr>
          <a:xfrm>
            <a:off x="6812280" y="3648456"/>
            <a:ext cx="1124712" cy="283464"/>
          </a:xfrm>
          <a:prstGeom prst="rect">
            <a:avLst/>
          </a:prstGeom>
          <a:noFill/>
          <a:ln/>
        </p:spPr>
        <p:txBody>
          <a:bodyPr wrap="square" lIns="0" tIns="0" rIns="0" bIns="0" rtlCol="0" anchor="ctr">
            <a:normAutofit/>
          </a:bodyPr>
          <a:lstStyle/>
          <a:p>
            <a:pPr indent="0" marL="0">
              <a:buNone/>
            </a:pPr>
            <a:r>
              <a:rPr lang="en-US" sz="1600" b="1" dirty="0">
                <a:solidFill>
                  <a:srgbClr val="F4F9FC"/>
                </a:solidFill>
                <a:latin typeface="Aptos" pitchFamily="34" charset="0"/>
                <a:ea typeface="Aptos" pitchFamily="34" charset="-122"/>
                <a:cs typeface="Aptos" pitchFamily="34" charset="-120"/>
              </a:rPr>
              <a:t>AURC</a:t>
            </a:r>
            <a:endParaRPr lang="en-US" sz="1600" dirty="0"/>
          </a:p>
        </p:txBody>
      </p:sp>
      <p:sp>
        <p:nvSpPr>
          <p:cNvPr id="28" name="Text 25"/>
          <p:cNvSpPr/>
          <p:nvPr/>
        </p:nvSpPr>
        <p:spPr>
          <a:xfrm>
            <a:off x="7955280" y="3648456"/>
            <a:ext cx="3090672" cy="292608"/>
          </a:xfrm>
          <a:prstGeom prst="rect">
            <a:avLst/>
          </a:prstGeom>
          <a:noFill/>
          <a:ln/>
        </p:spPr>
        <p:txBody>
          <a:bodyPr wrap="square" lIns="0" tIns="0" rIns="0" bIns="0" rtlCol="0" anchor="ctr">
            <a:normAutofit/>
          </a:bodyPr>
          <a:lstStyle/>
          <a:p>
            <a:pPr indent="0" marL="0">
              <a:buNone/>
            </a:pPr>
            <a:r>
              <a:rPr lang="en-US" sz="1310" dirty="0">
                <a:solidFill>
                  <a:srgbClr val="AFBED0"/>
                </a:solidFill>
                <a:latin typeface="Aptos" pitchFamily="34" charset="0"/>
                <a:ea typeface="Aptos" pitchFamily="34" charset="-122"/>
                <a:cs typeface="Aptos" pitchFamily="34" charset="-120"/>
              </a:rPr>
              <a:t>Risk as we reject predictions</a:t>
            </a:r>
            <a:endParaRPr lang="en-US" sz="1310" dirty="0"/>
          </a:p>
        </p:txBody>
      </p:sp>
      <p:sp>
        <p:nvSpPr>
          <p:cNvPr id="29" name="Shape 26"/>
          <p:cNvSpPr/>
          <p:nvPr/>
        </p:nvSpPr>
        <p:spPr>
          <a:xfrm>
            <a:off x="6803136" y="4041648"/>
            <a:ext cx="4288536" cy="0"/>
          </a:xfrm>
          <a:prstGeom prst="line">
            <a:avLst/>
          </a:prstGeom>
          <a:noFill/>
          <a:ln w="6985">
            <a:solidFill>
              <a:srgbClr val="304861"/>
            </a:solidFill>
            <a:prstDash val="solid"/>
          </a:ln>
        </p:spPr>
      </p:sp>
      <p:sp>
        <p:nvSpPr>
          <p:cNvPr id="30" name="Text 27"/>
          <p:cNvSpPr/>
          <p:nvPr/>
        </p:nvSpPr>
        <p:spPr>
          <a:xfrm>
            <a:off x="6812280" y="4187952"/>
            <a:ext cx="1124712" cy="283464"/>
          </a:xfrm>
          <a:prstGeom prst="rect">
            <a:avLst/>
          </a:prstGeom>
          <a:noFill/>
          <a:ln/>
        </p:spPr>
        <p:txBody>
          <a:bodyPr wrap="square" lIns="0" tIns="0" rIns="0" bIns="0" rtlCol="0" anchor="ctr">
            <a:normAutofit/>
          </a:bodyPr>
          <a:lstStyle/>
          <a:p>
            <a:pPr indent="0" marL="0">
              <a:buNone/>
            </a:pPr>
            <a:r>
              <a:rPr lang="en-US" sz="1600" b="1" dirty="0">
                <a:solidFill>
                  <a:srgbClr val="F4F9FC"/>
                </a:solidFill>
                <a:latin typeface="Aptos" pitchFamily="34" charset="0"/>
                <a:ea typeface="Aptos" pitchFamily="34" charset="-122"/>
                <a:cs typeface="Aptos" pitchFamily="34" charset="-120"/>
              </a:rPr>
              <a:t>E-AURC</a:t>
            </a:r>
            <a:endParaRPr lang="en-US" sz="1600" dirty="0"/>
          </a:p>
        </p:txBody>
      </p:sp>
      <p:sp>
        <p:nvSpPr>
          <p:cNvPr id="31" name="Text 28"/>
          <p:cNvSpPr/>
          <p:nvPr/>
        </p:nvSpPr>
        <p:spPr>
          <a:xfrm>
            <a:off x="7955280" y="4187952"/>
            <a:ext cx="3090672" cy="292608"/>
          </a:xfrm>
          <a:prstGeom prst="rect">
            <a:avLst/>
          </a:prstGeom>
          <a:noFill/>
          <a:ln/>
        </p:spPr>
        <p:txBody>
          <a:bodyPr wrap="square" lIns="0" tIns="0" rIns="0" bIns="0" rtlCol="0" anchor="ctr">
            <a:normAutofit/>
          </a:bodyPr>
          <a:lstStyle/>
          <a:p>
            <a:pPr indent="0" marL="0">
              <a:buNone/>
            </a:pPr>
            <a:r>
              <a:rPr lang="en-US" sz="1310" dirty="0">
                <a:solidFill>
                  <a:srgbClr val="AFBED0"/>
                </a:solidFill>
                <a:latin typeface="Aptos" pitchFamily="34" charset="0"/>
                <a:ea typeface="Aptos" pitchFamily="34" charset="-122"/>
                <a:cs typeface="Aptos" pitchFamily="34" charset="-120"/>
              </a:rPr>
              <a:t>Extra risk vs. ideal</a:t>
            </a:r>
            <a:endParaRPr lang="en-US" sz="1310" dirty="0"/>
          </a:p>
        </p:txBody>
      </p:sp>
      <p:sp>
        <p:nvSpPr>
          <p:cNvPr id="32" name="Shape 29"/>
          <p:cNvSpPr/>
          <p:nvPr/>
        </p:nvSpPr>
        <p:spPr>
          <a:xfrm>
            <a:off x="6803136" y="4581144"/>
            <a:ext cx="4288536" cy="0"/>
          </a:xfrm>
          <a:prstGeom prst="line">
            <a:avLst/>
          </a:prstGeom>
          <a:noFill/>
          <a:ln w="6985">
            <a:solidFill>
              <a:srgbClr val="304861"/>
            </a:solidFill>
            <a:prstDash val="solid"/>
          </a:ln>
        </p:spPr>
      </p:sp>
      <p:sp>
        <p:nvSpPr>
          <p:cNvPr id="33" name="Text 30"/>
          <p:cNvSpPr/>
          <p:nvPr/>
        </p:nvSpPr>
        <p:spPr>
          <a:xfrm>
            <a:off x="6812280" y="4727448"/>
            <a:ext cx="1124712" cy="283464"/>
          </a:xfrm>
          <a:prstGeom prst="rect">
            <a:avLst/>
          </a:prstGeom>
          <a:noFill/>
          <a:ln/>
        </p:spPr>
        <p:txBody>
          <a:bodyPr wrap="square" lIns="0" tIns="0" rIns="0" bIns="0" rtlCol="0" anchor="ctr">
            <a:normAutofit/>
          </a:bodyPr>
          <a:lstStyle/>
          <a:p>
            <a:pPr indent="0" marL="0">
              <a:buNone/>
            </a:pPr>
            <a:r>
              <a:rPr lang="en-US" sz="1600" b="1" dirty="0">
                <a:solidFill>
                  <a:srgbClr val="F4F9FC"/>
                </a:solidFill>
                <a:latin typeface="Aptos" pitchFamily="34" charset="0"/>
                <a:ea typeface="Aptos" pitchFamily="34" charset="-122"/>
                <a:cs typeface="Aptos" pitchFamily="34" charset="-120"/>
              </a:rPr>
              <a:t>FPR95</a:t>
            </a:r>
            <a:endParaRPr lang="en-US" sz="1600" dirty="0"/>
          </a:p>
        </p:txBody>
      </p:sp>
      <p:sp>
        <p:nvSpPr>
          <p:cNvPr id="34" name="Text 31"/>
          <p:cNvSpPr/>
          <p:nvPr/>
        </p:nvSpPr>
        <p:spPr>
          <a:xfrm>
            <a:off x="7955280" y="4727448"/>
            <a:ext cx="3090672" cy="292608"/>
          </a:xfrm>
          <a:prstGeom prst="rect">
            <a:avLst/>
          </a:prstGeom>
          <a:noFill/>
          <a:ln/>
        </p:spPr>
        <p:txBody>
          <a:bodyPr wrap="square" lIns="0" tIns="0" rIns="0" bIns="0" rtlCol="0" anchor="ctr">
            <a:normAutofit/>
          </a:bodyPr>
          <a:lstStyle/>
          <a:p>
            <a:pPr indent="0" marL="0">
              <a:buNone/>
            </a:pPr>
            <a:r>
              <a:rPr lang="en-US" sz="1310" dirty="0">
                <a:solidFill>
                  <a:srgbClr val="AFBED0"/>
                </a:solidFill>
                <a:latin typeface="Aptos" pitchFamily="34" charset="0"/>
                <a:ea typeface="Aptos" pitchFamily="34" charset="-122"/>
                <a:cs typeface="Aptos" pitchFamily="34" charset="-120"/>
              </a:rPr>
              <a:t>False alarms at high recall</a:t>
            </a:r>
            <a:endParaRPr lang="en-US" sz="131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426"/>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47DAC5"/>
          </a:solidFill>
          <a:ln w="12700">
            <a:solidFill>
              <a:srgbClr val="47DAC5">
                <a:alpha val="0"/>
              </a:srgbClr>
            </a:solidFill>
            <a:prstDash val="solid"/>
          </a:ln>
        </p:spPr>
      </p:sp>
      <p:sp>
        <p:nvSpPr>
          <p:cNvPr id="3" name="Shape 1"/>
          <p:cNvSpPr/>
          <p:nvPr/>
        </p:nvSpPr>
        <p:spPr>
          <a:xfrm>
            <a:off x="676656" y="457200"/>
            <a:ext cx="10844784" cy="0"/>
          </a:xfrm>
          <a:prstGeom prst="line">
            <a:avLst/>
          </a:prstGeom>
          <a:noFill/>
          <a:ln w="8890">
            <a:solidFill>
              <a:srgbClr val="304861"/>
            </a:solidFill>
            <a:prstDash val="solid"/>
          </a:ln>
        </p:spPr>
      </p:sp>
      <p:sp>
        <p:nvSpPr>
          <p:cNvPr id="4" name="Text 2"/>
          <p:cNvSpPr/>
          <p:nvPr/>
        </p:nvSpPr>
        <p:spPr>
          <a:xfrm>
            <a:off x="676656" y="182880"/>
            <a:ext cx="4572000" cy="201168"/>
          </a:xfrm>
          <a:prstGeom prst="rect">
            <a:avLst/>
          </a:prstGeom>
          <a:noFill/>
          <a:ln/>
        </p:spPr>
        <p:txBody>
          <a:bodyPr wrap="square" lIns="0" tIns="0" rIns="0" bIns="0" rtlCol="0" anchor="ctr">
            <a:normAutofit/>
          </a:bodyPr>
          <a:lstStyle/>
          <a:p>
            <a:pPr indent="0" marL="0">
              <a:buNone/>
            </a:pPr>
            <a:r>
              <a:rPr lang="en-US" sz="970" b="1" spc="120" kern="0" dirty="0">
                <a:solidFill>
                  <a:srgbClr val="AFBED0"/>
                </a:solidFill>
                <a:latin typeface="Aptos" pitchFamily="34" charset="0"/>
                <a:ea typeface="Aptos" pitchFamily="34" charset="-122"/>
                <a:cs typeface="Aptos" pitchFamily="34" charset="-120"/>
              </a:rPr>
              <a:t>DS 340W  /  GROUP 2</a:t>
            </a:r>
            <a:endParaRPr lang="en-US" sz="970" dirty="0"/>
          </a:p>
        </p:txBody>
      </p:sp>
      <p:sp>
        <p:nvSpPr>
          <p:cNvPr id="5" name="Text 3"/>
          <p:cNvSpPr/>
          <p:nvPr/>
        </p:nvSpPr>
        <p:spPr>
          <a:xfrm>
            <a:off x="9235440" y="201168"/>
            <a:ext cx="2212848" cy="164592"/>
          </a:xfrm>
          <a:prstGeom prst="rect">
            <a:avLst/>
          </a:prstGeom>
          <a:noFill/>
          <a:ln/>
        </p:spPr>
        <p:txBody>
          <a:bodyPr wrap="square" lIns="0" tIns="0" rIns="0" bIns="0" rtlCol="0" anchor="ctr">
            <a:normAutofit/>
          </a:bodyPr>
          <a:lstStyle/>
          <a:p>
            <a:pPr algn="r" indent="0" marL="0">
              <a:buNone/>
            </a:pPr>
            <a:r>
              <a:rPr lang="en-US" sz="920" b="1" dirty="0">
                <a:solidFill>
                  <a:srgbClr val="AFBED0"/>
                </a:solidFill>
                <a:latin typeface="Aptos" pitchFamily="34" charset="0"/>
                <a:ea typeface="Aptos" pitchFamily="34" charset="-122"/>
                <a:cs typeface="Aptos" pitchFamily="34" charset="-120"/>
              </a:rPr>
              <a:t>PART 2  /  WHAT WE HAVE DONE</a:t>
            </a:r>
            <a:endParaRPr lang="en-US" sz="920" dirty="0"/>
          </a:p>
        </p:txBody>
      </p:sp>
      <p:sp>
        <p:nvSpPr>
          <p:cNvPr id="6" name="Shape 4"/>
          <p:cNvSpPr/>
          <p:nvPr/>
        </p:nvSpPr>
        <p:spPr>
          <a:xfrm>
            <a:off x="676656" y="6382512"/>
            <a:ext cx="10853928" cy="0"/>
          </a:xfrm>
          <a:prstGeom prst="line">
            <a:avLst/>
          </a:prstGeom>
          <a:noFill/>
          <a:ln w="8890">
            <a:solidFill>
              <a:srgbClr val="304861"/>
            </a:solidFill>
            <a:prstDash val="solid"/>
          </a:ln>
        </p:spPr>
      </p:sp>
      <p:sp>
        <p:nvSpPr>
          <p:cNvPr id="7" name="Text 5"/>
          <p:cNvSpPr/>
          <p:nvPr/>
        </p:nvSpPr>
        <p:spPr>
          <a:xfrm>
            <a:off x="694944" y="6519672"/>
            <a:ext cx="1188720" cy="155448"/>
          </a:xfrm>
          <a:prstGeom prst="rect">
            <a:avLst/>
          </a:prstGeom>
          <a:noFill/>
          <a:ln/>
        </p:spPr>
        <p:txBody>
          <a:bodyPr wrap="square" lIns="0" tIns="0" rIns="0" bIns="0" rtlCol="0" anchor="ctr">
            <a:normAutofit/>
          </a:bodyPr>
          <a:lstStyle/>
          <a:p>
            <a:pPr indent="0" marL="0">
              <a:buNone/>
            </a:pPr>
            <a:r>
              <a:rPr lang="en-US" sz="1000" b="1" dirty="0">
                <a:solidFill>
                  <a:srgbClr val="AFBED0"/>
                </a:solidFill>
                <a:latin typeface="Aptos" pitchFamily="34" charset="0"/>
                <a:ea typeface="Aptos" pitchFamily="34" charset="-122"/>
                <a:cs typeface="Aptos" pitchFamily="34" charset="-120"/>
              </a:rPr>
              <a:t>09 / 11</a:t>
            </a:r>
            <a:endParaRPr lang="en-US" sz="1000" dirty="0"/>
          </a:p>
        </p:txBody>
      </p:sp>
      <p:sp>
        <p:nvSpPr>
          <p:cNvPr id="8" name="Text 6"/>
          <p:cNvSpPr/>
          <p:nvPr/>
        </p:nvSpPr>
        <p:spPr>
          <a:xfrm>
            <a:off x="8503920" y="6510528"/>
            <a:ext cx="2971800" cy="173736"/>
          </a:xfrm>
          <a:prstGeom prst="rect">
            <a:avLst/>
          </a:prstGeom>
          <a:noFill/>
          <a:ln/>
        </p:spPr>
        <p:txBody>
          <a:bodyPr wrap="square" lIns="0" tIns="0" rIns="0" bIns="0" rtlCol="0" anchor="ctr">
            <a:normAutofit/>
          </a:bodyPr>
          <a:lstStyle/>
          <a:p>
            <a:pPr algn="r" indent="0" marL="0">
              <a:buNone/>
            </a:pPr>
            <a:r>
              <a:rPr lang="en-US" sz="970" b="1" dirty="0">
                <a:solidFill>
                  <a:srgbClr val="AFBED0"/>
                </a:solidFill>
                <a:latin typeface="Aptos" pitchFamily="34" charset="0"/>
                <a:ea typeface="Aptos" pitchFamily="34" charset="-122"/>
                <a:cs typeface="Aptos" pitchFamily="34" charset="-120"/>
              </a:rPr>
              <a:t>SPEAKER  JUNBO</a:t>
            </a:r>
            <a:endParaRPr lang="en-US" sz="970" dirty="0"/>
          </a:p>
        </p:txBody>
      </p:sp>
      <p:sp>
        <p:nvSpPr>
          <p:cNvPr id="9" name="Text 7"/>
          <p:cNvSpPr/>
          <p:nvPr/>
        </p:nvSpPr>
        <p:spPr>
          <a:xfrm>
            <a:off x="694944" y="6144768"/>
            <a:ext cx="10881360" cy="164592"/>
          </a:xfrm>
          <a:prstGeom prst="rect">
            <a:avLst/>
          </a:prstGeom>
          <a:noFill/>
          <a:ln/>
        </p:spPr>
        <p:txBody>
          <a:bodyPr wrap="square" lIns="0" tIns="0" rIns="0" bIns="0" rtlCol="0" anchor="ctr">
            <a:normAutofit/>
          </a:bodyPr>
          <a:lstStyle/>
          <a:p>
            <a:pPr indent="0" marL="0">
              <a:buNone/>
            </a:pPr>
            <a:r>
              <a:rPr lang="en-US" sz="910" dirty="0">
                <a:solidFill>
                  <a:srgbClr val="AFBED0"/>
                </a:solidFill>
                <a:latin typeface="Aptos" pitchFamily="34" charset="0"/>
                <a:ea typeface="Aptos" pitchFamily="34" charset="-122"/>
                <a:cs typeface="Aptos" pitchFamily="34" charset="-120"/>
              </a:rPr>
              <a:t>Source: Group 2 3rd Code Check-In; development claims not independently re-run.</a:t>
            </a:r>
            <a:endParaRPr lang="en-US" sz="910" dirty="0"/>
          </a:p>
        </p:txBody>
      </p:sp>
      <p:sp>
        <p:nvSpPr>
          <p:cNvPr id="11" name="Text 8"/>
          <p:cNvSpPr/>
          <p:nvPr/>
        </p:nvSpPr>
        <p:spPr>
          <a:xfrm>
            <a:off x="658368" y="621792"/>
            <a:ext cx="6400800" cy="201168"/>
          </a:xfrm>
          <a:prstGeom prst="rect">
            <a:avLst/>
          </a:prstGeom>
          <a:noFill/>
          <a:ln/>
        </p:spPr>
        <p:txBody>
          <a:bodyPr wrap="square" lIns="0" tIns="0" rIns="0" bIns="0" rtlCol="0" anchor="ctr">
            <a:normAutofit/>
          </a:bodyPr>
          <a:lstStyle/>
          <a:p>
            <a:pPr indent="0" marL="0">
              <a:buNone/>
            </a:pPr>
            <a:r>
              <a:rPr lang="en-US" sz="970" b="1" spc="120" kern="0" dirty="0">
                <a:solidFill>
                  <a:srgbClr val="47DAC5"/>
                </a:solidFill>
                <a:latin typeface="Aptos" pitchFamily="34" charset="0"/>
                <a:ea typeface="Aptos" pitchFamily="34" charset="-122"/>
                <a:cs typeface="Aptos" pitchFamily="34" charset="-120"/>
              </a:rPr>
              <a:t>REPORTED DEVELOPMENT</a:t>
            </a:r>
            <a:endParaRPr lang="en-US" sz="970" dirty="0"/>
          </a:p>
        </p:txBody>
      </p:sp>
      <p:sp>
        <p:nvSpPr>
          <p:cNvPr id="12" name="Text 9"/>
          <p:cNvSpPr/>
          <p:nvPr/>
        </p:nvSpPr>
        <p:spPr>
          <a:xfrm>
            <a:off x="658368" y="941832"/>
            <a:ext cx="10881360" cy="594360"/>
          </a:xfrm>
          <a:prstGeom prst="rect">
            <a:avLst/>
          </a:prstGeom>
          <a:noFill/>
          <a:ln/>
        </p:spPr>
        <p:txBody>
          <a:bodyPr wrap="square" lIns="0" tIns="0" rIns="0" bIns="0" rtlCol="0" anchor="ctr">
            <a:normAutofit/>
          </a:bodyPr>
          <a:lstStyle/>
          <a:p>
            <a:pPr indent="0" marL="0">
              <a:buNone/>
            </a:pPr>
            <a:r>
              <a:rPr lang="en-US" sz="3100" b="1" dirty="0">
                <a:solidFill>
                  <a:srgbClr val="F4F9FC"/>
                </a:solidFill>
                <a:latin typeface="Aptos" pitchFamily="34" charset="0"/>
                <a:ea typeface="Aptos" pitchFamily="34" charset="-122"/>
                <a:cs typeface="Aptos" pitchFamily="34" charset="-120"/>
              </a:rPr>
              <a:t>We have built the evaluation pieces.</a:t>
            </a:r>
            <a:endParaRPr lang="en-US" sz="3100" dirty="0"/>
          </a:p>
        </p:txBody>
      </p:sp>
      <p:sp>
        <p:nvSpPr>
          <p:cNvPr id="13" name="Text 10"/>
          <p:cNvSpPr/>
          <p:nvPr/>
        </p:nvSpPr>
        <p:spPr>
          <a:xfrm>
            <a:off x="676656" y="1627632"/>
            <a:ext cx="10698480" cy="585216"/>
          </a:xfrm>
          <a:prstGeom prst="rect">
            <a:avLst/>
          </a:prstGeom>
          <a:noFill/>
          <a:ln/>
        </p:spPr>
        <p:txBody>
          <a:bodyPr wrap="square" lIns="0" tIns="0" rIns="0" bIns="0" rtlCol="0" anchor="t">
            <a:normAutofit/>
          </a:bodyPr>
          <a:lstStyle/>
          <a:p>
            <a:pPr indent="0" marL="0">
              <a:buNone/>
            </a:pPr>
            <a:r>
              <a:rPr lang="en-US" sz="1630" dirty="0">
                <a:solidFill>
                  <a:srgbClr val="AFBED0"/>
                </a:solidFill>
                <a:latin typeface="Aptos" pitchFamily="34" charset="0"/>
                <a:ea typeface="Aptos" pitchFamily="34" charset="-122"/>
                <a:cs typeface="Aptos" pitchFamily="34" charset="-120"/>
              </a:rPr>
              <a:t>The check-in lists the following additions; final benchmark results are not documented there.</a:t>
            </a:r>
            <a:endParaRPr lang="en-US" sz="1630" dirty="0"/>
          </a:p>
        </p:txBody>
      </p:sp>
      <p:sp>
        <p:nvSpPr>
          <p:cNvPr id="14" name="Shape 11"/>
          <p:cNvSpPr/>
          <p:nvPr/>
        </p:nvSpPr>
        <p:spPr>
          <a:xfrm>
            <a:off x="758952" y="2386584"/>
            <a:ext cx="5440680" cy="804672"/>
          </a:xfrm>
          <a:prstGeom prst="roundRect">
            <a:avLst>
              <a:gd name="adj" fmla="val 13636"/>
            </a:avLst>
          </a:prstGeom>
          <a:solidFill>
            <a:srgbClr val="14273F"/>
          </a:solidFill>
          <a:ln w="10795">
            <a:solidFill>
              <a:srgbClr val="304861"/>
            </a:solidFill>
            <a:prstDash val="solid"/>
          </a:ln>
        </p:spPr>
      </p:sp>
      <p:sp>
        <p:nvSpPr>
          <p:cNvPr id="15" name="Text 12"/>
          <p:cNvSpPr/>
          <p:nvPr/>
        </p:nvSpPr>
        <p:spPr>
          <a:xfrm>
            <a:off x="960120" y="2551176"/>
            <a:ext cx="2285086" cy="274320"/>
          </a:xfrm>
          <a:prstGeom prst="rect">
            <a:avLst/>
          </a:prstGeom>
          <a:noFill/>
          <a:ln/>
        </p:spPr>
        <p:txBody>
          <a:bodyPr wrap="square" lIns="0" tIns="0" rIns="0" bIns="0" rtlCol="0" anchor="ctr">
            <a:normAutofit/>
          </a:bodyPr>
          <a:lstStyle/>
          <a:p>
            <a:pPr indent="0" marL="0">
              <a:buNone/>
            </a:pPr>
            <a:r>
              <a:rPr lang="en-US" sz="1600" b="1" dirty="0">
                <a:solidFill>
                  <a:srgbClr val="47DAC5"/>
                </a:solidFill>
                <a:latin typeface="Aptos" pitchFamily="34" charset="0"/>
                <a:ea typeface="Aptos" pitchFamily="34" charset="-122"/>
                <a:cs typeface="Aptos" pitchFamily="34" charset="-120"/>
              </a:rPr>
              <a:t>risk_advisor.py</a:t>
            </a:r>
            <a:endParaRPr lang="en-US" sz="1600" dirty="0"/>
          </a:p>
        </p:txBody>
      </p:sp>
      <p:sp>
        <p:nvSpPr>
          <p:cNvPr id="16" name="Text 13"/>
          <p:cNvSpPr/>
          <p:nvPr/>
        </p:nvSpPr>
        <p:spPr>
          <a:xfrm>
            <a:off x="3152851" y="2560320"/>
            <a:ext cx="2883560" cy="384048"/>
          </a:xfrm>
          <a:prstGeom prst="rect">
            <a:avLst/>
          </a:prstGeom>
          <a:noFill/>
          <a:ln/>
        </p:spPr>
        <p:txBody>
          <a:bodyPr wrap="square" lIns="0" tIns="0" rIns="0" bIns="0" rtlCol="0" anchor="ctr">
            <a:normAutofit/>
          </a:bodyPr>
          <a:lstStyle/>
          <a:p>
            <a:pPr indent="0" marL="0">
              <a:buNone/>
            </a:pPr>
            <a:r>
              <a:rPr lang="en-US" sz="1310" dirty="0">
                <a:solidFill>
                  <a:srgbClr val="D3DEE8"/>
                </a:solidFill>
                <a:latin typeface="Aptos" pitchFamily="34" charset="0"/>
                <a:ea typeface="Aptos" pitchFamily="34" charset="-122"/>
                <a:cs typeface="Aptos" pitchFamily="34" charset="-120"/>
              </a:rPr>
              <a:t>Gradient-boosted failure meta-model</a:t>
            </a:r>
            <a:endParaRPr lang="en-US" sz="1310" dirty="0"/>
          </a:p>
        </p:txBody>
      </p:sp>
      <p:sp>
        <p:nvSpPr>
          <p:cNvPr id="17" name="Shape 14"/>
          <p:cNvSpPr/>
          <p:nvPr/>
        </p:nvSpPr>
        <p:spPr>
          <a:xfrm>
            <a:off x="758952" y="3355848"/>
            <a:ext cx="5440680" cy="804672"/>
          </a:xfrm>
          <a:prstGeom prst="roundRect">
            <a:avLst>
              <a:gd name="adj" fmla="val 13636"/>
            </a:avLst>
          </a:prstGeom>
          <a:solidFill>
            <a:srgbClr val="14273F"/>
          </a:solidFill>
          <a:ln w="10795">
            <a:solidFill>
              <a:srgbClr val="304861"/>
            </a:solidFill>
            <a:prstDash val="solid"/>
          </a:ln>
        </p:spPr>
      </p:sp>
      <p:sp>
        <p:nvSpPr>
          <p:cNvPr id="18" name="Text 15"/>
          <p:cNvSpPr/>
          <p:nvPr/>
        </p:nvSpPr>
        <p:spPr>
          <a:xfrm>
            <a:off x="960120" y="3520440"/>
            <a:ext cx="2285086" cy="274320"/>
          </a:xfrm>
          <a:prstGeom prst="rect">
            <a:avLst/>
          </a:prstGeom>
          <a:noFill/>
          <a:ln/>
        </p:spPr>
        <p:txBody>
          <a:bodyPr wrap="square" lIns="0" tIns="0" rIns="0" bIns="0" rtlCol="0" anchor="ctr">
            <a:normAutofit/>
          </a:bodyPr>
          <a:lstStyle/>
          <a:p>
            <a:pPr indent="0" marL="0">
              <a:buNone/>
            </a:pPr>
            <a:r>
              <a:rPr lang="en-US" sz="1600" b="1" dirty="0">
                <a:solidFill>
                  <a:srgbClr val="47DAC5"/>
                </a:solidFill>
                <a:latin typeface="Aptos" pitchFamily="34" charset="0"/>
                <a:ea typeface="Aptos" pitchFamily="34" charset="-122"/>
                <a:cs typeface="Aptos" pitchFamily="34" charset="-120"/>
              </a:rPr>
              <a:t>cifar10c.py</a:t>
            </a:r>
            <a:endParaRPr lang="en-US" sz="1600" dirty="0"/>
          </a:p>
        </p:txBody>
      </p:sp>
      <p:sp>
        <p:nvSpPr>
          <p:cNvPr id="19" name="Text 16"/>
          <p:cNvSpPr/>
          <p:nvPr/>
        </p:nvSpPr>
        <p:spPr>
          <a:xfrm>
            <a:off x="3152851" y="3529584"/>
            <a:ext cx="2883560" cy="384048"/>
          </a:xfrm>
          <a:prstGeom prst="rect">
            <a:avLst/>
          </a:prstGeom>
          <a:noFill/>
          <a:ln/>
        </p:spPr>
        <p:txBody>
          <a:bodyPr wrap="square" lIns="0" tIns="0" rIns="0" bIns="0" rtlCol="0" anchor="ctr">
            <a:normAutofit/>
          </a:bodyPr>
          <a:lstStyle/>
          <a:p>
            <a:pPr indent="0" marL="0">
              <a:buNone/>
            </a:pPr>
            <a:r>
              <a:rPr lang="en-US" sz="1310" dirty="0">
                <a:solidFill>
                  <a:srgbClr val="D3DEE8"/>
                </a:solidFill>
                <a:latin typeface="Aptos" pitchFamily="34" charset="0"/>
                <a:ea typeface="Aptos" pitchFamily="34" charset="-122"/>
                <a:cs typeface="Aptos" pitchFamily="34" charset="-120"/>
              </a:rPr>
              <a:t>Severity-by-severity data loader</a:t>
            </a:r>
            <a:endParaRPr lang="en-US" sz="1310" dirty="0"/>
          </a:p>
        </p:txBody>
      </p:sp>
      <p:sp>
        <p:nvSpPr>
          <p:cNvPr id="20" name="Shape 17"/>
          <p:cNvSpPr/>
          <p:nvPr/>
        </p:nvSpPr>
        <p:spPr>
          <a:xfrm>
            <a:off x="758952" y="4325112"/>
            <a:ext cx="5440680" cy="804672"/>
          </a:xfrm>
          <a:prstGeom prst="roundRect">
            <a:avLst>
              <a:gd name="adj" fmla="val 13636"/>
            </a:avLst>
          </a:prstGeom>
          <a:solidFill>
            <a:srgbClr val="14273F"/>
          </a:solidFill>
          <a:ln w="10795">
            <a:solidFill>
              <a:srgbClr val="304861"/>
            </a:solidFill>
            <a:prstDash val="solid"/>
          </a:ln>
        </p:spPr>
      </p:sp>
      <p:sp>
        <p:nvSpPr>
          <p:cNvPr id="21" name="Text 18"/>
          <p:cNvSpPr/>
          <p:nvPr/>
        </p:nvSpPr>
        <p:spPr>
          <a:xfrm>
            <a:off x="960120" y="4489704"/>
            <a:ext cx="2285086" cy="274320"/>
          </a:xfrm>
          <a:prstGeom prst="rect">
            <a:avLst/>
          </a:prstGeom>
          <a:noFill/>
          <a:ln/>
        </p:spPr>
        <p:txBody>
          <a:bodyPr wrap="square" lIns="0" tIns="0" rIns="0" bIns="0" rtlCol="0" anchor="ctr">
            <a:normAutofit/>
          </a:bodyPr>
          <a:lstStyle/>
          <a:p>
            <a:pPr indent="0" marL="0">
              <a:buNone/>
            </a:pPr>
            <a:r>
              <a:rPr lang="en-US" sz="1600" b="1" dirty="0">
                <a:solidFill>
                  <a:srgbClr val="47DAC5"/>
                </a:solidFill>
                <a:latin typeface="Aptos" pitchFamily="34" charset="0"/>
                <a:ea typeface="Aptos" pitchFamily="34" charset="-122"/>
                <a:cs typeface="Aptos" pitchFamily="34" charset="-120"/>
              </a:rPr>
              <a:t>fp_metrics.py</a:t>
            </a:r>
            <a:endParaRPr lang="en-US" sz="1600" dirty="0"/>
          </a:p>
        </p:txBody>
      </p:sp>
      <p:sp>
        <p:nvSpPr>
          <p:cNvPr id="22" name="Text 19"/>
          <p:cNvSpPr/>
          <p:nvPr/>
        </p:nvSpPr>
        <p:spPr>
          <a:xfrm>
            <a:off x="3152851" y="4498848"/>
            <a:ext cx="2883560" cy="384048"/>
          </a:xfrm>
          <a:prstGeom prst="rect">
            <a:avLst/>
          </a:prstGeom>
          <a:noFill/>
          <a:ln/>
        </p:spPr>
        <p:txBody>
          <a:bodyPr wrap="square" lIns="0" tIns="0" rIns="0" bIns="0" rtlCol="0" anchor="ctr">
            <a:normAutofit/>
          </a:bodyPr>
          <a:lstStyle/>
          <a:p>
            <a:pPr indent="0" marL="0">
              <a:buNone/>
            </a:pPr>
            <a:r>
              <a:rPr lang="en-US" sz="1310" dirty="0">
                <a:solidFill>
                  <a:srgbClr val="D3DEE8"/>
                </a:solidFill>
                <a:latin typeface="Aptos" pitchFamily="34" charset="0"/>
                <a:ea typeface="Aptos" pitchFamily="34" charset="-122"/>
                <a:cs typeface="Aptos" pitchFamily="34" charset="-120"/>
              </a:rPr>
              <a:t>AUROC, AURC, E-AURC, FPR95</a:t>
            </a:r>
            <a:endParaRPr lang="en-US" sz="1310" dirty="0"/>
          </a:p>
        </p:txBody>
      </p:sp>
      <p:sp>
        <p:nvSpPr>
          <p:cNvPr id="23" name="Shape 20"/>
          <p:cNvSpPr/>
          <p:nvPr/>
        </p:nvSpPr>
        <p:spPr>
          <a:xfrm>
            <a:off x="6501384" y="2386584"/>
            <a:ext cx="4946904" cy="804672"/>
          </a:xfrm>
          <a:prstGeom prst="roundRect">
            <a:avLst>
              <a:gd name="adj" fmla="val 13636"/>
            </a:avLst>
          </a:prstGeom>
          <a:solidFill>
            <a:srgbClr val="14273F"/>
          </a:solidFill>
          <a:ln w="10795">
            <a:solidFill>
              <a:srgbClr val="304861"/>
            </a:solidFill>
            <a:prstDash val="solid"/>
          </a:ln>
        </p:spPr>
      </p:sp>
      <p:sp>
        <p:nvSpPr>
          <p:cNvPr id="24" name="Text 21"/>
          <p:cNvSpPr/>
          <p:nvPr/>
        </p:nvSpPr>
        <p:spPr>
          <a:xfrm>
            <a:off x="6702552" y="2551176"/>
            <a:ext cx="2077700" cy="274320"/>
          </a:xfrm>
          <a:prstGeom prst="rect">
            <a:avLst/>
          </a:prstGeom>
          <a:noFill/>
          <a:ln/>
        </p:spPr>
        <p:txBody>
          <a:bodyPr wrap="square" lIns="0" tIns="0" rIns="0" bIns="0" rtlCol="0" anchor="ctr">
            <a:normAutofit/>
          </a:bodyPr>
          <a:lstStyle/>
          <a:p>
            <a:pPr indent="0" marL="0">
              <a:buNone/>
            </a:pPr>
            <a:r>
              <a:rPr lang="en-US" sz="1600" b="1" dirty="0">
                <a:solidFill>
                  <a:srgbClr val="47DAC5"/>
                </a:solidFill>
                <a:latin typeface="Aptos" pitchFamily="34" charset="0"/>
                <a:ea typeface="Aptos" pitchFamily="34" charset="-122"/>
                <a:cs typeface="Aptos" pitchFamily="34" charset="-120"/>
              </a:rPr>
              <a:t>eval_shift.py</a:t>
            </a:r>
            <a:endParaRPr lang="en-US" sz="1600" dirty="0"/>
          </a:p>
        </p:txBody>
      </p:sp>
      <p:sp>
        <p:nvSpPr>
          <p:cNvPr id="25" name="Text 22"/>
          <p:cNvSpPr/>
          <p:nvPr/>
        </p:nvSpPr>
        <p:spPr>
          <a:xfrm>
            <a:off x="8678022" y="2560320"/>
            <a:ext cx="2621859" cy="384048"/>
          </a:xfrm>
          <a:prstGeom prst="rect">
            <a:avLst/>
          </a:prstGeom>
          <a:noFill/>
          <a:ln/>
        </p:spPr>
        <p:txBody>
          <a:bodyPr wrap="square" lIns="0" tIns="0" rIns="0" bIns="0" rtlCol="0" anchor="ctr">
            <a:normAutofit/>
          </a:bodyPr>
          <a:lstStyle/>
          <a:p>
            <a:pPr indent="0" marL="0">
              <a:buNone/>
            </a:pPr>
            <a:r>
              <a:rPr lang="en-US" sz="1310" dirty="0">
                <a:solidFill>
                  <a:srgbClr val="D3DEE8"/>
                </a:solidFill>
                <a:latin typeface="Aptos" pitchFamily="34" charset="0"/>
                <a:ea typeface="Aptos" pitchFamily="34" charset="-122"/>
                <a:cs typeface="Aptos" pitchFamily="34" charset="-120"/>
              </a:rPr>
              <a:t>Clean-to-corrupted evaluation → CSV</a:t>
            </a:r>
            <a:endParaRPr lang="en-US" sz="1310" dirty="0"/>
          </a:p>
        </p:txBody>
      </p:sp>
      <p:sp>
        <p:nvSpPr>
          <p:cNvPr id="26" name="Shape 23"/>
          <p:cNvSpPr/>
          <p:nvPr/>
        </p:nvSpPr>
        <p:spPr>
          <a:xfrm>
            <a:off x="6501384" y="3355848"/>
            <a:ext cx="4946904" cy="804672"/>
          </a:xfrm>
          <a:prstGeom prst="roundRect">
            <a:avLst>
              <a:gd name="adj" fmla="val 13636"/>
            </a:avLst>
          </a:prstGeom>
          <a:solidFill>
            <a:srgbClr val="14273F"/>
          </a:solidFill>
          <a:ln w="10795">
            <a:solidFill>
              <a:srgbClr val="304861"/>
            </a:solidFill>
            <a:prstDash val="solid"/>
          </a:ln>
        </p:spPr>
      </p:sp>
      <p:sp>
        <p:nvSpPr>
          <p:cNvPr id="27" name="Text 24"/>
          <p:cNvSpPr/>
          <p:nvPr/>
        </p:nvSpPr>
        <p:spPr>
          <a:xfrm>
            <a:off x="6702552" y="3520440"/>
            <a:ext cx="2077700" cy="274320"/>
          </a:xfrm>
          <a:prstGeom prst="rect">
            <a:avLst/>
          </a:prstGeom>
          <a:noFill/>
          <a:ln/>
        </p:spPr>
        <p:txBody>
          <a:bodyPr wrap="square" lIns="0" tIns="0" rIns="0" bIns="0" rtlCol="0" anchor="ctr">
            <a:normAutofit/>
          </a:bodyPr>
          <a:lstStyle/>
          <a:p>
            <a:pPr indent="0" marL="0">
              <a:buNone/>
            </a:pPr>
            <a:r>
              <a:rPr lang="en-US" sz="1600" b="1" dirty="0">
                <a:solidFill>
                  <a:srgbClr val="47DAC5"/>
                </a:solidFill>
                <a:latin typeface="Aptos" pitchFamily="34" charset="0"/>
                <a:ea typeface="Aptos" pitchFamily="34" charset="-122"/>
                <a:cs typeface="Aptos" pitchFamily="34" charset="-120"/>
              </a:rPr>
              <a:t>plot_shift.py</a:t>
            </a:r>
            <a:endParaRPr lang="en-US" sz="1600" dirty="0"/>
          </a:p>
        </p:txBody>
      </p:sp>
      <p:sp>
        <p:nvSpPr>
          <p:cNvPr id="28" name="Text 25"/>
          <p:cNvSpPr/>
          <p:nvPr/>
        </p:nvSpPr>
        <p:spPr>
          <a:xfrm>
            <a:off x="8678022" y="3529584"/>
            <a:ext cx="2621859" cy="384048"/>
          </a:xfrm>
          <a:prstGeom prst="rect">
            <a:avLst/>
          </a:prstGeom>
          <a:noFill/>
          <a:ln/>
        </p:spPr>
        <p:txBody>
          <a:bodyPr wrap="square" lIns="0" tIns="0" rIns="0" bIns="0" rtlCol="0" anchor="ctr">
            <a:normAutofit/>
          </a:bodyPr>
          <a:lstStyle/>
          <a:p>
            <a:pPr indent="0" marL="0">
              <a:buNone/>
            </a:pPr>
            <a:r>
              <a:rPr lang="en-US" sz="1310" dirty="0">
                <a:solidFill>
                  <a:srgbClr val="D3DEE8"/>
                </a:solidFill>
                <a:latin typeface="Aptos" pitchFamily="34" charset="0"/>
                <a:ea typeface="Aptos" pitchFamily="34" charset="-122"/>
                <a:cs typeface="Aptos" pitchFamily="34" charset="-120"/>
              </a:rPr>
              <a:t>AUROC comparison plots</a:t>
            </a:r>
            <a:endParaRPr lang="en-US" sz="1310" dirty="0"/>
          </a:p>
        </p:txBody>
      </p:sp>
      <p:sp>
        <p:nvSpPr>
          <p:cNvPr id="29" name="Shape 26"/>
          <p:cNvSpPr/>
          <p:nvPr/>
        </p:nvSpPr>
        <p:spPr>
          <a:xfrm>
            <a:off x="6492240" y="4425696"/>
            <a:ext cx="4946904" cy="1069848"/>
          </a:xfrm>
          <a:prstGeom prst="roundRect">
            <a:avLst>
              <a:gd name="adj" fmla="val 15385"/>
            </a:avLst>
          </a:prstGeom>
          <a:solidFill>
            <a:srgbClr val="111F34"/>
          </a:solidFill>
          <a:ln w="10795">
            <a:solidFill>
              <a:srgbClr val="F5BE70"/>
            </a:solidFill>
            <a:prstDash val="solid"/>
          </a:ln>
        </p:spPr>
      </p:sp>
      <p:sp>
        <p:nvSpPr>
          <p:cNvPr id="30" name="Text 27"/>
          <p:cNvSpPr/>
          <p:nvPr/>
        </p:nvSpPr>
        <p:spPr>
          <a:xfrm>
            <a:off x="6720840" y="4599432"/>
            <a:ext cx="4480560" cy="192024"/>
          </a:xfrm>
          <a:prstGeom prst="rect">
            <a:avLst/>
          </a:prstGeom>
          <a:noFill/>
          <a:ln/>
        </p:spPr>
        <p:txBody>
          <a:bodyPr wrap="square" lIns="0" tIns="0" rIns="0" bIns="0" rtlCol="0" anchor="ctr">
            <a:normAutofit/>
          </a:bodyPr>
          <a:lstStyle/>
          <a:p>
            <a:pPr indent="0" marL="0">
              <a:buNone/>
            </a:pPr>
            <a:r>
              <a:rPr lang="en-US" sz="1100" b="1" dirty="0">
                <a:solidFill>
                  <a:srgbClr val="F5BE70"/>
                </a:solidFill>
                <a:latin typeface="Aptos" pitchFamily="34" charset="0"/>
                <a:ea typeface="Aptos" pitchFamily="34" charset="-122"/>
                <a:cs typeface="Aptos" pitchFamily="34" charset="-120"/>
              </a:rPr>
              <a:t>ALSO REPORTED</a:t>
            </a:r>
            <a:endParaRPr lang="en-US" sz="1100" dirty="0"/>
          </a:p>
        </p:txBody>
      </p:sp>
      <p:sp>
        <p:nvSpPr>
          <p:cNvPr id="31" name="Text 28"/>
          <p:cNvSpPr/>
          <p:nvPr/>
        </p:nvSpPr>
        <p:spPr>
          <a:xfrm>
            <a:off x="6720840" y="4910328"/>
            <a:ext cx="4434840" cy="310896"/>
          </a:xfrm>
          <a:prstGeom prst="rect">
            <a:avLst/>
          </a:prstGeom>
          <a:noFill/>
          <a:ln/>
        </p:spPr>
        <p:txBody>
          <a:bodyPr wrap="square" lIns="0" tIns="0" rIns="0" bIns="0" rtlCol="0" anchor="ctr">
            <a:normAutofit/>
          </a:bodyPr>
          <a:lstStyle/>
          <a:p>
            <a:pPr indent="0" marL="0">
              <a:buNone/>
            </a:pPr>
            <a:r>
              <a:rPr lang="en-US" sz="1430" b="1" dirty="0">
                <a:solidFill>
                  <a:srgbClr val="F4F9FC"/>
                </a:solidFill>
                <a:latin typeface="Aptos" pitchFamily="34" charset="0"/>
                <a:ea typeface="Aptos" pitchFamily="34" charset="-122"/>
                <a:cs typeface="Aptos" pitchFamily="34" charset="-120"/>
              </a:rPr>
              <a:t>Windows import fix + AURC parity check</a:t>
            </a:r>
            <a:endParaRPr lang="en-US" sz="143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426"/>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47DAC5"/>
          </a:solidFill>
          <a:ln w="12700">
            <a:solidFill>
              <a:srgbClr val="47DAC5">
                <a:alpha val="0"/>
              </a:srgbClr>
            </a:solidFill>
            <a:prstDash val="solid"/>
          </a:ln>
        </p:spPr>
      </p:sp>
      <p:sp>
        <p:nvSpPr>
          <p:cNvPr id="3" name="Shape 1"/>
          <p:cNvSpPr/>
          <p:nvPr/>
        </p:nvSpPr>
        <p:spPr>
          <a:xfrm>
            <a:off x="676656" y="457200"/>
            <a:ext cx="10844784" cy="0"/>
          </a:xfrm>
          <a:prstGeom prst="line">
            <a:avLst/>
          </a:prstGeom>
          <a:noFill/>
          <a:ln w="8890">
            <a:solidFill>
              <a:srgbClr val="304861"/>
            </a:solidFill>
            <a:prstDash val="solid"/>
          </a:ln>
        </p:spPr>
      </p:sp>
      <p:sp>
        <p:nvSpPr>
          <p:cNvPr id="4" name="Text 2"/>
          <p:cNvSpPr/>
          <p:nvPr/>
        </p:nvSpPr>
        <p:spPr>
          <a:xfrm>
            <a:off x="676656" y="182880"/>
            <a:ext cx="4572000" cy="201168"/>
          </a:xfrm>
          <a:prstGeom prst="rect">
            <a:avLst/>
          </a:prstGeom>
          <a:noFill/>
          <a:ln/>
        </p:spPr>
        <p:txBody>
          <a:bodyPr wrap="square" lIns="0" tIns="0" rIns="0" bIns="0" rtlCol="0" anchor="ctr">
            <a:normAutofit/>
          </a:bodyPr>
          <a:lstStyle/>
          <a:p>
            <a:pPr indent="0" marL="0">
              <a:buNone/>
            </a:pPr>
            <a:r>
              <a:rPr lang="en-US" sz="970" b="1" spc="120" kern="0" dirty="0">
                <a:solidFill>
                  <a:srgbClr val="AFBED0"/>
                </a:solidFill>
                <a:latin typeface="Aptos" pitchFamily="34" charset="0"/>
                <a:ea typeface="Aptos" pitchFamily="34" charset="-122"/>
                <a:cs typeface="Aptos" pitchFamily="34" charset="-120"/>
              </a:rPr>
              <a:t>DS 340W  /  GROUP 2</a:t>
            </a:r>
            <a:endParaRPr lang="en-US" sz="970" dirty="0"/>
          </a:p>
        </p:txBody>
      </p:sp>
      <p:sp>
        <p:nvSpPr>
          <p:cNvPr id="5" name="Text 3"/>
          <p:cNvSpPr/>
          <p:nvPr/>
        </p:nvSpPr>
        <p:spPr>
          <a:xfrm>
            <a:off x="9235440" y="201168"/>
            <a:ext cx="2212848" cy="164592"/>
          </a:xfrm>
          <a:prstGeom prst="rect">
            <a:avLst/>
          </a:prstGeom>
          <a:noFill/>
          <a:ln/>
        </p:spPr>
        <p:txBody>
          <a:bodyPr wrap="square" lIns="0" tIns="0" rIns="0" bIns="0" rtlCol="0" anchor="ctr">
            <a:normAutofit/>
          </a:bodyPr>
          <a:lstStyle/>
          <a:p>
            <a:pPr algn="r" indent="0" marL="0">
              <a:buNone/>
            </a:pPr>
            <a:r>
              <a:rPr lang="en-US" sz="920" b="1" dirty="0">
                <a:solidFill>
                  <a:srgbClr val="AFBED0"/>
                </a:solidFill>
                <a:latin typeface="Aptos" pitchFamily="34" charset="0"/>
                <a:ea typeface="Aptos" pitchFamily="34" charset="-122"/>
                <a:cs typeface="Aptos" pitchFamily="34" charset="-120"/>
              </a:rPr>
              <a:t>PART 2  /  COMPARISON &amp; LIMITS</a:t>
            </a:r>
            <a:endParaRPr lang="en-US" sz="920" dirty="0"/>
          </a:p>
        </p:txBody>
      </p:sp>
      <p:sp>
        <p:nvSpPr>
          <p:cNvPr id="6" name="Shape 4"/>
          <p:cNvSpPr/>
          <p:nvPr/>
        </p:nvSpPr>
        <p:spPr>
          <a:xfrm>
            <a:off x="676656" y="6382512"/>
            <a:ext cx="10853928" cy="0"/>
          </a:xfrm>
          <a:prstGeom prst="line">
            <a:avLst/>
          </a:prstGeom>
          <a:noFill/>
          <a:ln w="8890">
            <a:solidFill>
              <a:srgbClr val="304861"/>
            </a:solidFill>
            <a:prstDash val="solid"/>
          </a:ln>
        </p:spPr>
      </p:sp>
      <p:sp>
        <p:nvSpPr>
          <p:cNvPr id="7" name="Text 5"/>
          <p:cNvSpPr/>
          <p:nvPr/>
        </p:nvSpPr>
        <p:spPr>
          <a:xfrm>
            <a:off x="694944" y="6519672"/>
            <a:ext cx="1188720" cy="155448"/>
          </a:xfrm>
          <a:prstGeom prst="rect">
            <a:avLst/>
          </a:prstGeom>
          <a:noFill/>
          <a:ln/>
        </p:spPr>
        <p:txBody>
          <a:bodyPr wrap="square" lIns="0" tIns="0" rIns="0" bIns="0" rtlCol="0" anchor="ctr">
            <a:normAutofit/>
          </a:bodyPr>
          <a:lstStyle/>
          <a:p>
            <a:pPr indent="0" marL="0">
              <a:buNone/>
            </a:pPr>
            <a:r>
              <a:rPr lang="en-US" sz="1000" b="1" dirty="0">
                <a:solidFill>
                  <a:srgbClr val="AFBED0"/>
                </a:solidFill>
                <a:latin typeface="Aptos" pitchFamily="34" charset="0"/>
                <a:ea typeface="Aptos" pitchFamily="34" charset="-122"/>
                <a:cs typeface="Aptos" pitchFamily="34" charset="-120"/>
              </a:rPr>
              <a:t>10 / 11</a:t>
            </a:r>
            <a:endParaRPr lang="en-US" sz="1000" dirty="0"/>
          </a:p>
        </p:txBody>
      </p:sp>
      <p:sp>
        <p:nvSpPr>
          <p:cNvPr id="8" name="Text 6"/>
          <p:cNvSpPr/>
          <p:nvPr/>
        </p:nvSpPr>
        <p:spPr>
          <a:xfrm>
            <a:off x="8503920" y="6510528"/>
            <a:ext cx="2971800" cy="173736"/>
          </a:xfrm>
          <a:prstGeom prst="rect">
            <a:avLst/>
          </a:prstGeom>
          <a:noFill/>
          <a:ln/>
        </p:spPr>
        <p:txBody>
          <a:bodyPr wrap="square" lIns="0" tIns="0" rIns="0" bIns="0" rtlCol="0" anchor="ctr">
            <a:normAutofit/>
          </a:bodyPr>
          <a:lstStyle/>
          <a:p>
            <a:pPr algn="r" indent="0" marL="0">
              <a:buNone/>
            </a:pPr>
            <a:r>
              <a:rPr lang="en-US" sz="970" b="1" dirty="0">
                <a:solidFill>
                  <a:srgbClr val="AFBED0"/>
                </a:solidFill>
                <a:latin typeface="Aptos" pitchFamily="34" charset="0"/>
                <a:ea typeface="Aptos" pitchFamily="34" charset="-122"/>
                <a:cs typeface="Aptos" pitchFamily="34" charset="-120"/>
              </a:rPr>
              <a:t>SPEAKER  WOOJOO</a:t>
            </a:r>
            <a:endParaRPr lang="en-US" sz="970" dirty="0"/>
          </a:p>
        </p:txBody>
      </p:sp>
      <p:sp>
        <p:nvSpPr>
          <p:cNvPr id="10" name="Text 7"/>
          <p:cNvSpPr/>
          <p:nvPr/>
        </p:nvSpPr>
        <p:spPr>
          <a:xfrm>
            <a:off x="658368" y="621792"/>
            <a:ext cx="6400800" cy="201168"/>
          </a:xfrm>
          <a:prstGeom prst="rect">
            <a:avLst/>
          </a:prstGeom>
          <a:noFill/>
          <a:ln/>
        </p:spPr>
        <p:txBody>
          <a:bodyPr wrap="square" lIns="0" tIns="0" rIns="0" bIns="0" rtlCol="0" anchor="ctr">
            <a:normAutofit/>
          </a:bodyPr>
          <a:lstStyle/>
          <a:p>
            <a:pPr indent="0" marL="0">
              <a:buNone/>
            </a:pPr>
            <a:r>
              <a:rPr lang="en-US" sz="970" b="1" spc="120" kern="0" dirty="0">
                <a:solidFill>
                  <a:srgbClr val="47DAC5"/>
                </a:solidFill>
                <a:latin typeface="Aptos" pitchFamily="34" charset="0"/>
                <a:ea typeface="Aptos" pitchFamily="34" charset="-122"/>
                <a:cs typeface="Aptos" pitchFamily="34" charset="-120"/>
              </a:rPr>
              <a:t>PLANNED COMPARISON</a:t>
            </a:r>
            <a:endParaRPr lang="en-US" sz="970" dirty="0"/>
          </a:p>
        </p:txBody>
      </p:sp>
      <p:sp>
        <p:nvSpPr>
          <p:cNvPr id="11" name="Text 8"/>
          <p:cNvSpPr/>
          <p:nvPr/>
        </p:nvSpPr>
        <p:spPr>
          <a:xfrm>
            <a:off x="658368" y="941832"/>
            <a:ext cx="10881360" cy="594360"/>
          </a:xfrm>
          <a:prstGeom prst="rect">
            <a:avLst/>
          </a:prstGeom>
          <a:noFill/>
          <a:ln/>
        </p:spPr>
        <p:txBody>
          <a:bodyPr wrap="square" lIns="0" tIns="0" rIns="0" bIns="0" rtlCol="0" anchor="ctr">
            <a:normAutofit/>
          </a:bodyPr>
          <a:lstStyle/>
          <a:p>
            <a:pPr indent="0" marL="0">
              <a:buNone/>
            </a:pPr>
            <a:r>
              <a:rPr lang="en-US" sz="3100" b="1" dirty="0">
                <a:solidFill>
                  <a:srgbClr val="F4F9FC"/>
                </a:solidFill>
                <a:latin typeface="Aptos" pitchFamily="34" charset="0"/>
                <a:ea typeface="Aptos" pitchFamily="34" charset="-122"/>
                <a:cs typeface="Aptos" pitchFamily="34" charset="-120"/>
              </a:rPr>
              <a:t>Does error detection hold up at severity 5?</a:t>
            </a:r>
            <a:endParaRPr lang="en-US" sz="3100" dirty="0"/>
          </a:p>
        </p:txBody>
      </p:sp>
      <p:sp>
        <p:nvSpPr>
          <p:cNvPr id="12" name="Text 9"/>
          <p:cNvSpPr/>
          <p:nvPr/>
        </p:nvSpPr>
        <p:spPr>
          <a:xfrm>
            <a:off x="676656" y="1627632"/>
            <a:ext cx="10698480" cy="585216"/>
          </a:xfrm>
          <a:prstGeom prst="rect">
            <a:avLst/>
          </a:prstGeom>
          <a:noFill/>
          <a:ln/>
        </p:spPr>
        <p:txBody>
          <a:bodyPr wrap="square" lIns="0" tIns="0" rIns="0" bIns="0" rtlCol="0" anchor="t">
            <a:normAutofit/>
          </a:bodyPr>
          <a:lstStyle/>
          <a:p>
            <a:pPr indent="0" marL="0">
              <a:buNone/>
            </a:pPr>
            <a:r>
              <a:rPr lang="en-US" sz="1630" dirty="0">
                <a:solidFill>
                  <a:srgbClr val="AFBED0"/>
                </a:solidFill>
                <a:latin typeface="Aptos" pitchFamily="34" charset="0"/>
                <a:ea typeface="Aptos" pitchFamily="34" charset="-122"/>
                <a:cs typeface="Aptos" pitchFamily="34" charset="-120"/>
              </a:rPr>
              <a:t>The experiment will compare two risk signals on the same corrupted inputs.</a:t>
            </a:r>
            <a:endParaRPr lang="en-US" sz="1630" dirty="0"/>
          </a:p>
        </p:txBody>
      </p:sp>
      <p:sp>
        <p:nvSpPr>
          <p:cNvPr id="13" name="Shape 10"/>
          <p:cNvSpPr/>
          <p:nvPr/>
        </p:nvSpPr>
        <p:spPr>
          <a:xfrm>
            <a:off x="749808" y="2441448"/>
            <a:ext cx="4681728" cy="2999232"/>
          </a:xfrm>
          <a:prstGeom prst="roundRect">
            <a:avLst>
              <a:gd name="adj" fmla="val 5488"/>
            </a:avLst>
          </a:prstGeom>
          <a:solidFill>
            <a:srgbClr val="14273F"/>
          </a:solidFill>
          <a:ln w="10795">
            <a:solidFill>
              <a:srgbClr val="304861"/>
            </a:solidFill>
            <a:prstDash val="solid"/>
          </a:ln>
        </p:spPr>
      </p:sp>
      <p:sp>
        <p:nvSpPr>
          <p:cNvPr id="14" name="Text 11"/>
          <p:cNvSpPr/>
          <p:nvPr/>
        </p:nvSpPr>
        <p:spPr>
          <a:xfrm>
            <a:off x="1014984" y="2706624"/>
            <a:ext cx="3017520" cy="201168"/>
          </a:xfrm>
          <a:prstGeom prst="rect">
            <a:avLst/>
          </a:prstGeom>
          <a:noFill/>
          <a:ln/>
        </p:spPr>
        <p:txBody>
          <a:bodyPr wrap="square" lIns="0" tIns="0" rIns="0" bIns="0" rtlCol="0" anchor="ctr">
            <a:normAutofit/>
          </a:bodyPr>
          <a:lstStyle/>
          <a:p>
            <a:pPr indent="0" marL="0">
              <a:buNone/>
            </a:pPr>
            <a:r>
              <a:rPr lang="en-US" sz="970" b="1" spc="120" kern="0" dirty="0">
                <a:solidFill>
                  <a:srgbClr val="AFBED0"/>
                </a:solidFill>
                <a:latin typeface="Aptos" pitchFamily="34" charset="0"/>
                <a:ea typeface="Aptos" pitchFamily="34" charset="-122"/>
                <a:cs typeface="Aptos" pitchFamily="34" charset="-120"/>
              </a:rPr>
              <a:t>TWO SIGNALS</a:t>
            </a:r>
            <a:endParaRPr lang="en-US" sz="970" dirty="0"/>
          </a:p>
        </p:txBody>
      </p:sp>
      <p:sp>
        <p:nvSpPr>
          <p:cNvPr id="15" name="Shape 12"/>
          <p:cNvSpPr/>
          <p:nvPr/>
        </p:nvSpPr>
        <p:spPr>
          <a:xfrm>
            <a:off x="1014984" y="3090672"/>
            <a:ext cx="4133088" cy="868680"/>
          </a:xfrm>
          <a:prstGeom prst="roundRect">
            <a:avLst>
              <a:gd name="adj" fmla="val 21053"/>
            </a:avLst>
          </a:prstGeom>
          <a:solidFill>
            <a:srgbClr val="14273F"/>
          </a:solidFill>
          <a:ln w="10795">
            <a:solidFill>
              <a:srgbClr val="304861"/>
            </a:solidFill>
            <a:prstDash val="solid"/>
          </a:ln>
        </p:spPr>
      </p:sp>
      <p:sp>
        <p:nvSpPr>
          <p:cNvPr id="16" name="Shape 13"/>
          <p:cNvSpPr/>
          <p:nvPr/>
        </p:nvSpPr>
        <p:spPr>
          <a:xfrm>
            <a:off x="1234440" y="3355848"/>
            <a:ext cx="59436" cy="402336"/>
          </a:xfrm>
          <a:prstGeom prst="rect">
            <a:avLst/>
          </a:prstGeom>
          <a:solidFill>
            <a:srgbClr val="47DAC5"/>
          </a:solidFill>
          <a:ln w="12700">
            <a:solidFill>
              <a:srgbClr val="47DAC5">
                <a:alpha val="0"/>
              </a:srgbClr>
            </a:solidFill>
            <a:prstDash val="solid"/>
          </a:ln>
        </p:spPr>
      </p:sp>
      <p:sp>
        <p:nvSpPr>
          <p:cNvPr id="17" name="Text 14"/>
          <p:cNvSpPr/>
          <p:nvPr/>
        </p:nvSpPr>
        <p:spPr>
          <a:xfrm>
            <a:off x="1399032" y="3328416"/>
            <a:ext cx="3474720" cy="347472"/>
          </a:xfrm>
          <a:prstGeom prst="rect">
            <a:avLst/>
          </a:prstGeom>
          <a:noFill/>
          <a:ln/>
        </p:spPr>
        <p:txBody>
          <a:bodyPr wrap="square" lIns="0" tIns="0" rIns="0" bIns="0" rtlCol="0" anchor="ctr">
            <a:normAutofit/>
          </a:bodyPr>
          <a:lstStyle/>
          <a:p>
            <a:pPr indent="0" marL="0">
              <a:buNone/>
            </a:pPr>
            <a:r>
              <a:rPr lang="en-US" sz="1700" b="1" dirty="0">
                <a:solidFill>
                  <a:srgbClr val="F4F9FC"/>
                </a:solidFill>
                <a:latin typeface="Aptos" pitchFamily="34" charset="0"/>
                <a:ea typeface="Aptos" pitchFamily="34" charset="-122"/>
                <a:cs typeface="Aptos" pitchFamily="34" charset="-120"/>
              </a:rPr>
              <a:t>FMFP confidence</a:t>
            </a:r>
            <a:endParaRPr lang="en-US" sz="1700" dirty="0"/>
          </a:p>
        </p:txBody>
      </p:sp>
      <p:sp>
        <p:nvSpPr>
          <p:cNvPr id="18" name="Text 15"/>
          <p:cNvSpPr/>
          <p:nvPr/>
        </p:nvSpPr>
        <p:spPr>
          <a:xfrm>
            <a:off x="1271016" y="3913632"/>
            <a:ext cx="3630168" cy="-82296"/>
          </a:xfrm>
          <a:prstGeom prst="rect">
            <a:avLst/>
          </a:prstGeom>
          <a:noFill/>
          <a:ln/>
        </p:spPr>
        <p:txBody>
          <a:bodyPr wrap="square" lIns="0" tIns="0" rIns="0" bIns="0" rtlCol="0" anchor="t">
            <a:normAutofit/>
          </a:bodyPr>
          <a:lstStyle/>
          <a:p>
            <a:pPr indent="0" marL="0">
              <a:buNone/>
            </a:pPr>
            <a:r>
              <a:rPr lang="en-US" sz="100" dirty="0">
                <a:solidFill>
                  <a:srgbClr val="AFBED0"/>
                </a:solidFill>
                <a:latin typeface="Aptos" pitchFamily="34" charset="0"/>
                <a:ea typeface="Aptos" pitchFamily="34" charset="-122"/>
                <a:cs typeface="Aptos" pitchFamily="34" charset="-120"/>
              </a:rPr>
              <a:t>Base model score</a:t>
            </a:r>
            <a:endParaRPr lang="en-US" sz="100" dirty="0"/>
          </a:p>
        </p:txBody>
      </p:sp>
      <p:sp>
        <p:nvSpPr>
          <p:cNvPr id="19" name="Shape 16"/>
          <p:cNvSpPr/>
          <p:nvPr/>
        </p:nvSpPr>
        <p:spPr>
          <a:xfrm>
            <a:off x="1014984" y="4087368"/>
            <a:ext cx="4133088" cy="868680"/>
          </a:xfrm>
          <a:prstGeom prst="roundRect">
            <a:avLst>
              <a:gd name="adj" fmla="val 21053"/>
            </a:avLst>
          </a:prstGeom>
          <a:solidFill>
            <a:srgbClr val="14273F"/>
          </a:solidFill>
          <a:ln w="10795">
            <a:solidFill>
              <a:srgbClr val="304861"/>
            </a:solidFill>
            <a:prstDash val="solid"/>
          </a:ln>
        </p:spPr>
      </p:sp>
      <p:sp>
        <p:nvSpPr>
          <p:cNvPr id="20" name="Shape 17"/>
          <p:cNvSpPr/>
          <p:nvPr/>
        </p:nvSpPr>
        <p:spPr>
          <a:xfrm>
            <a:off x="1234440" y="4352544"/>
            <a:ext cx="59436" cy="402336"/>
          </a:xfrm>
          <a:prstGeom prst="rect">
            <a:avLst/>
          </a:prstGeom>
          <a:solidFill>
            <a:srgbClr val="F5BE70"/>
          </a:solidFill>
          <a:ln w="12700">
            <a:solidFill>
              <a:srgbClr val="F5BE70">
                <a:alpha val="0"/>
              </a:srgbClr>
            </a:solidFill>
            <a:prstDash val="solid"/>
          </a:ln>
        </p:spPr>
      </p:sp>
      <p:sp>
        <p:nvSpPr>
          <p:cNvPr id="21" name="Text 18"/>
          <p:cNvSpPr/>
          <p:nvPr/>
        </p:nvSpPr>
        <p:spPr>
          <a:xfrm>
            <a:off x="1399032" y="4325112"/>
            <a:ext cx="3474720" cy="347472"/>
          </a:xfrm>
          <a:prstGeom prst="rect">
            <a:avLst/>
          </a:prstGeom>
          <a:noFill/>
          <a:ln/>
        </p:spPr>
        <p:txBody>
          <a:bodyPr wrap="square" lIns="0" tIns="0" rIns="0" bIns="0" rtlCol="0" anchor="ctr">
            <a:normAutofit/>
          </a:bodyPr>
          <a:lstStyle/>
          <a:p>
            <a:pPr indent="0" marL="0">
              <a:buNone/>
            </a:pPr>
            <a:r>
              <a:rPr lang="en-US" sz="1700" b="1" dirty="0">
                <a:solidFill>
                  <a:srgbClr val="F4F9FC"/>
                </a:solidFill>
                <a:latin typeface="Aptos" pitchFamily="34" charset="0"/>
                <a:ea typeface="Aptos" pitchFamily="34" charset="-122"/>
                <a:cs typeface="Aptos" pitchFamily="34" charset="-120"/>
              </a:rPr>
              <a:t>Risk Advisor</a:t>
            </a:r>
            <a:endParaRPr lang="en-US" sz="1700" dirty="0"/>
          </a:p>
        </p:txBody>
      </p:sp>
      <p:sp>
        <p:nvSpPr>
          <p:cNvPr id="22" name="Text 19"/>
          <p:cNvSpPr/>
          <p:nvPr/>
        </p:nvSpPr>
        <p:spPr>
          <a:xfrm>
            <a:off x="1271016" y="4910328"/>
            <a:ext cx="3630168" cy="-82296"/>
          </a:xfrm>
          <a:prstGeom prst="rect">
            <a:avLst/>
          </a:prstGeom>
          <a:noFill/>
          <a:ln/>
        </p:spPr>
        <p:txBody>
          <a:bodyPr wrap="square" lIns="0" tIns="0" rIns="0" bIns="0" rtlCol="0" anchor="t">
            <a:normAutofit/>
          </a:bodyPr>
          <a:lstStyle/>
          <a:p>
            <a:pPr indent="0" marL="0">
              <a:buNone/>
            </a:pPr>
            <a:r>
              <a:rPr lang="en-US" sz="100" dirty="0">
                <a:solidFill>
                  <a:srgbClr val="AFBED0"/>
                </a:solidFill>
                <a:latin typeface="Aptos" pitchFamily="34" charset="0"/>
                <a:ea typeface="Aptos" pitchFamily="34" charset="-122"/>
                <a:cs typeface="Aptos" pitchFamily="34" charset="-120"/>
              </a:rPr>
              <a:t>Estimated chance of error</a:t>
            </a:r>
            <a:endParaRPr lang="en-US" sz="100" dirty="0"/>
          </a:p>
        </p:txBody>
      </p:sp>
      <p:sp>
        <p:nvSpPr>
          <p:cNvPr id="23" name="Shape 20"/>
          <p:cNvSpPr/>
          <p:nvPr/>
        </p:nvSpPr>
        <p:spPr>
          <a:xfrm>
            <a:off x="5650992" y="2441448"/>
            <a:ext cx="5797296" cy="2999232"/>
          </a:xfrm>
          <a:prstGeom prst="roundRect">
            <a:avLst>
              <a:gd name="adj" fmla="val 5488"/>
            </a:avLst>
          </a:prstGeom>
          <a:solidFill>
            <a:srgbClr val="14273F"/>
          </a:solidFill>
          <a:ln w="10795">
            <a:solidFill>
              <a:srgbClr val="304861"/>
            </a:solidFill>
            <a:prstDash val="solid"/>
          </a:ln>
        </p:spPr>
      </p:sp>
      <p:sp>
        <p:nvSpPr>
          <p:cNvPr id="24" name="Text 21"/>
          <p:cNvSpPr/>
          <p:nvPr/>
        </p:nvSpPr>
        <p:spPr>
          <a:xfrm>
            <a:off x="5925312" y="2715768"/>
            <a:ext cx="4114800" cy="201168"/>
          </a:xfrm>
          <a:prstGeom prst="rect">
            <a:avLst/>
          </a:prstGeom>
          <a:noFill/>
          <a:ln/>
        </p:spPr>
        <p:txBody>
          <a:bodyPr wrap="square" lIns="0" tIns="0" rIns="0" bIns="0" rtlCol="0" anchor="ctr">
            <a:normAutofit/>
          </a:bodyPr>
          <a:lstStyle/>
          <a:p>
            <a:pPr indent="0" marL="0">
              <a:buNone/>
            </a:pPr>
            <a:r>
              <a:rPr lang="en-US" sz="970" b="1" spc="120" kern="0" dirty="0">
                <a:solidFill>
                  <a:srgbClr val="B4A3F5"/>
                </a:solidFill>
                <a:latin typeface="Aptos" pitchFamily="34" charset="0"/>
                <a:ea typeface="Aptos" pitchFamily="34" charset="-122"/>
                <a:cs typeface="Aptos" pitchFamily="34" charset="-120"/>
              </a:rPr>
              <a:t>RESULTS PANEL</a:t>
            </a:r>
            <a:endParaRPr lang="en-US" sz="970" dirty="0"/>
          </a:p>
        </p:txBody>
      </p:sp>
      <p:sp>
        <p:nvSpPr>
          <p:cNvPr id="25" name="Shape 22"/>
          <p:cNvSpPr/>
          <p:nvPr/>
        </p:nvSpPr>
        <p:spPr>
          <a:xfrm>
            <a:off x="6419088" y="4718304"/>
            <a:ext cx="4544568" cy="0"/>
          </a:xfrm>
          <a:prstGeom prst="line">
            <a:avLst/>
          </a:prstGeom>
          <a:noFill/>
          <a:ln w="17780">
            <a:solidFill>
              <a:srgbClr val="AFBED0"/>
            </a:solidFill>
            <a:prstDash val="solid"/>
          </a:ln>
        </p:spPr>
      </p:sp>
      <p:sp>
        <p:nvSpPr>
          <p:cNvPr id="26" name="Shape 23"/>
          <p:cNvSpPr/>
          <p:nvPr/>
        </p:nvSpPr>
        <p:spPr>
          <a:xfrm>
            <a:off x="6419088" y="3273552"/>
            <a:ext cx="0" cy="1444752"/>
          </a:xfrm>
          <a:prstGeom prst="line">
            <a:avLst/>
          </a:prstGeom>
          <a:noFill/>
          <a:ln w="17780">
            <a:solidFill>
              <a:srgbClr val="AFBED0"/>
            </a:solidFill>
            <a:prstDash val="solid"/>
          </a:ln>
        </p:spPr>
      </p:sp>
      <p:sp>
        <p:nvSpPr>
          <p:cNvPr id="27" name="Text 24"/>
          <p:cNvSpPr/>
          <p:nvPr/>
        </p:nvSpPr>
        <p:spPr>
          <a:xfrm>
            <a:off x="6620256" y="4855464"/>
            <a:ext cx="356616" cy="182880"/>
          </a:xfrm>
          <a:prstGeom prst="rect">
            <a:avLst/>
          </a:prstGeom>
          <a:noFill/>
          <a:ln/>
        </p:spPr>
        <p:txBody>
          <a:bodyPr wrap="square" lIns="0" tIns="0" rIns="0" bIns="0" rtlCol="0" anchor="ctr">
            <a:normAutofit/>
          </a:bodyPr>
          <a:lstStyle/>
          <a:p>
            <a:pPr algn="ctr" indent="0" marL="0">
              <a:buNone/>
            </a:pPr>
            <a:r>
              <a:rPr lang="en-US" sz="1050" dirty="0">
                <a:solidFill>
                  <a:srgbClr val="AFBED0"/>
                </a:solidFill>
                <a:latin typeface="Aptos" pitchFamily="34" charset="0"/>
                <a:ea typeface="Aptos" pitchFamily="34" charset="-122"/>
                <a:cs typeface="Aptos" pitchFamily="34" charset="-120"/>
              </a:rPr>
              <a:t>1</a:t>
            </a:r>
            <a:endParaRPr lang="en-US" sz="1050" dirty="0"/>
          </a:p>
        </p:txBody>
      </p:sp>
      <p:sp>
        <p:nvSpPr>
          <p:cNvPr id="28" name="Text 25"/>
          <p:cNvSpPr/>
          <p:nvPr/>
        </p:nvSpPr>
        <p:spPr>
          <a:xfrm>
            <a:off x="7635240" y="4855464"/>
            <a:ext cx="356616" cy="182880"/>
          </a:xfrm>
          <a:prstGeom prst="rect">
            <a:avLst/>
          </a:prstGeom>
          <a:noFill/>
          <a:ln/>
        </p:spPr>
        <p:txBody>
          <a:bodyPr wrap="square" lIns="0" tIns="0" rIns="0" bIns="0" rtlCol="0" anchor="ctr">
            <a:normAutofit/>
          </a:bodyPr>
          <a:lstStyle/>
          <a:p>
            <a:pPr algn="ctr" indent="0" marL="0">
              <a:buNone/>
            </a:pPr>
            <a:r>
              <a:rPr lang="en-US" sz="1050" dirty="0">
                <a:solidFill>
                  <a:srgbClr val="AFBED0"/>
                </a:solidFill>
                <a:latin typeface="Aptos" pitchFamily="34" charset="0"/>
                <a:ea typeface="Aptos" pitchFamily="34" charset="-122"/>
                <a:cs typeface="Aptos" pitchFamily="34" charset="-120"/>
              </a:rPr>
              <a:t>2</a:t>
            </a:r>
            <a:endParaRPr lang="en-US" sz="1050" dirty="0"/>
          </a:p>
        </p:txBody>
      </p:sp>
      <p:sp>
        <p:nvSpPr>
          <p:cNvPr id="29" name="Text 26"/>
          <p:cNvSpPr/>
          <p:nvPr/>
        </p:nvSpPr>
        <p:spPr>
          <a:xfrm>
            <a:off x="8650224" y="4855464"/>
            <a:ext cx="356616" cy="182880"/>
          </a:xfrm>
          <a:prstGeom prst="rect">
            <a:avLst/>
          </a:prstGeom>
          <a:noFill/>
          <a:ln/>
        </p:spPr>
        <p:txBody>
          <a:bodyPr wrap="square" lIns="0" tIns="0" rIns="0" bIns="0" rtlCol="0" anchor="ctr">
            <a:normAutofit/>
          </a:bodyPr>
          <a:lstStyle/>
          <a:p>
            <a:pPr algn="ctr" indent="0" marL="0">
              <a:buNone/>
            </a:pPr>
            <a:r>
              <a:rPr lang="en-US" sz="1050" dirty="0">
                <a:solidFill>
                  <a:srgbClr val="AFBED0"/>
                </a:solidFill>
                <a:latin typeface="Aptos" pitchFamily="34" charset="0"/>
                <a:ea typeface="Aptos" pitchFamily="34" charset="-122"/>
                <a:cs typeface="Aptos" pitchFamily="34" charset="-120"/>
              </a:rPr>
              <a:t>3</a:t>
            </a:r>
            <a:endParaRPr lang="en-US" sz="1050" dirty="0"/>
          </a:p>
        </p:txBody>
      </p:sp>
      <p:sp>
        <p:nvSpPr>
          <p:cNvPr id="30" name="Text 27"/>
          <p:cNvSpPr/>
          <p:nvPr/>
        </p:nvSpPr>
        <p:spPr>
          <a:xfrm>
            <a:off x="9665208" y="4855464"/>
            <a:ext cx="356616" cy="182880"/>
          </a:xfrm>
          <a:prstGeom prst="rect">
            <a:avLst/>
          </a:prstGeom>
          <a:noFill/>
          <a:ln/>
        </p:spPr>
        <p:txBody>
          <a:bodyPr wrap="square" lIns="0" tIns="0" rIns="0" bIns="0" rtlCol="0" anchor="ctr">
            <a:normAutofit/>
          </a:bodyPr>
          <a:lstStyle/>
          <a:p>
            <a:pPr algn="ctr" indent="0" marL="0">
              <a:buNone/>
            </a:pPr>
            <a:r>
              <a:rPr lang="en-US" sz="1050" dirty="0">
                <a:solidFill>
                  <a:srgbClr val="AFBED0"/>
                </a:solidFill>
                <a:latin typeface="Aptos" pitchFamily="34" charset="0"/>
                <a:ea typeface="Aptos" pitchFamily="34" charset="-122"/>
                <a:cs typeface="Aptos" pitchFamily="34" charset="-120"/>
              </a:rPr>
              <a:t>4</a:t>
            </a:r>
            <a:endParaRPr lang="en-US" sz="1050" dirty="0"/>
          </a:p>
        </p:txBody>
      </p:sp>
      <p:sp>
        <p:nvSpPr>
          <p:cNvPr id="31" name="Text 28"/>
          <p:cNvSpPr/>
          <p:nvPr/>
        </p:nvSpPr>
        <p:spPr>
          <a:xfrm>
            <a:off x="10680192" y="4855464"/>
            <a:ext cx="356616" cy="182880"/>
          </a:xfrm>
          <a:prstGeom prst="rect">
            <a:avLst/>
          </a:prstGeom>
          <a:noFill/>
          <a:ln/>
        </p:spPr>
        <p:txBody>
          <a:bodyPr wrap="square" lIns="0" tIns="0" rIns="0" bIns="0" rtlCol="0" anchor="ctr">
            <a:normAutofit/>
          </a:bodyPr>
          <a:lstStyle/>
          <a:p>
            <a:pPr algn="ctr" indent="0" marL="0">
              <a:buNone/>
            </a:pPr>
            <a:r>
              <a:rPr lang="en-US" sz="1050" dirty="0">
                <a:solidFill>
                  <a:srgbClr val="AFBED0"/>
                </a:solidFill>
                <a:latin typeface="Aptos" pitchFamily="34" charset="0"/>
                <a:ea typeface="Aptos" pitchFamily="34" charset="-122"/>
                <a:cs typeface="Aptos" pitchFamily="34" charset="-120"/>
              </a:rPr>
              <a:t>5</a:t>
            </a:r>
            <a:endParaRPr lang="en-US" sz="1050" dirty="0"/>
          </a:p>
        </p:txBody>
      </p:sp>
      <p:sp>
        <p:nvSpPr>
          <p:cNvPr id="32" name="Text 29"/>
          <p:cNvSpPr/>
          <p:nvPr/>
        </p:nvSpPr>
        <p:spPr>
          <a:xfrm>
            <a:off x="8321040" y="5120640"/>
            <a:ext cx="1097280" cy="210312"/>
          </a:xfrm>
          <a:prstGeom prst="rect">
            <a:avLst/>
          </a:prstGeom>
          <a:noFill/>
          <a:ln/>
        </p:spPr>
        <p:txBody>
          <a:bodyPr wrap="square" lIns="0" tIns="0" rIns="0" bIns="0" rtlCol="0" anchor="ctr">
            <a:normAutofit/>
          </a:bodyPr>
          <a:lstStyle/>
          <a:p>
            <a:pPr indent="0" marL="0">
              <a:buNone/>
            </a:pPr>
            <a:r>
              <a:rPr lang="en-US" sz="1050" dirty="0">
                <a:solidFill>
                  <a:srgbClr val="AFBED0"/>
                </a:solidFill>
                <a:latin typeface="Aptos" pitchFamily="34" charset="0"/>
                <a:ea typeface="Aptos" pitchFamily="34" charset="-122"/>
                <a:cs typeface="Aptos" pitchFamily="34" charset="-120"/>
              </a:rPr>
              <a:t>Severity</a:t>
            </a:r>
            <a:endParaRPr lang="en-US" sz="1050" dirty="0"/>
          </a:p>
        </p:txBody>
      </p:sp>
      <p:sp>
        <p:nvSpPr>
          <p:cNvPr id="33" name="Text 30"/>
          <p:cNvSpPr/>
          <p:nvPr/>
        </p:nvSpPr>
        <p:spPr>
          <a:xfrm>
            <a:off x="6665976" y="3657600"/>
            <a:ext cx="4096512" cy="512064"/>
          </a:xfrm>
          <a:prstGeom prst="rect">
            <a:avLst/>
          </a:prstGeom>
          <a:noFill/>
          <a:ln/>
        </p:spPr>
        <p:txBody>
          <a:bodyPr wrap="square" lIns="0" tIns="0" rIns="0" bIns="0" rtlCol="0" anchor="ctr">
            <a:normAutofit/>
          </a:bodyPr>
          <a:lstStyle/>
          <a:p>
            <a:pPr algn="ctr" indent="0" marL="0">
              <a:buNone/>
            </a:pPr>
            <a:r>
              <a:rPr lang="en-US" sz="1410" b="1" dirty="0">
                <a:solidFill>
                  <a:srgbClr val="AFBED0"/>
                </a:solidFill>
                <a:latin typeface="Aptos" pitchFamily="34" charset="0"/>
                <a:ea typeface="Aptos" pitchFamily="34" charset="-122"/>
                <a:cs typeface="Aptos" pitchFamily="34" charset="-120"/>
              </a:rPr>
              <a:t>PLACEHOLDER — NO FINAL RESULTS YET</a:t>
            </a:r>
            <a:endParaRPr lang="en-US" sz="1410" dirty="0"/>
          </a:p>
        </p:txBody>
      </p:sp>
      <p:sp>
        <p:nvSpPr>
          <p:cNvPr id="34" name="Text 31"/>
          <p:cNvSpPr/>
          <p:nvPr/>
        </p:nvSpPr>
        <p:spPr>
          <a:xfrm>
            <a:off x="996696" y="5760720"/>
            <a:ext cx="10131552" cy="301752"/>
          </a:xfrm>
          <a:prstGeom prst="rect">
            <a:avLst/>
          </a:prstGeom>
          <a:noFill/>
          <a:ln/>
        </p:spPr>
        <p:txBody>
          <a:bodyPr wrap="square" lIns="0" tIns="0" rIns="0" bIns="0" rtlCol="0" anchor="ctr">
            <a:normAutofit/>
          </a:bodyPr>
          <a:lstStyle/>
          <a:p>
            <a:pPr indent="0" marL="0">
              <a:buNone/>
            </a:pPr>
            <a:r>
              <a:rPr lang="en-US" sz="1620" b="1" dirty="0">
                <a:solidFill>
                  <a:srgbClr val="F5BE70"/>
                </a:solidFill>
                <a:latin typeface="Aptos" pitchFamily="34" charset="0"/>
                <a:ea typeface="Aptos" pitchFamily="34" charset="-122"/>
                <a:cs typeface="Aptos" pitchFamily="34" charset="-120"/>
              </a:rPr>
              <a:t>Important limitation: corruption severity is not actual elapsed time.</a:t>
            </a:r>
            <a:endParaRPr lang="en-US" sz="16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426"/>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47DAC5"/>
          </a:solidFill>
          <a:ln w="12700">
            <a:solidFill>
              <a:srgbClr val="47DAC5">
                <a:alpha val="0"/>
              </a:srgbClr>
            </a:solidFill>
            <a:prstDash val="solid"/>
          </a:ln>
        </p:spPr>
      </p:sp>
      <p:sp>
        <p:nvSpPr>
          <p:cNvPr id="3" name="Shape 1"/>
          <p:cNvSpPr/>
          <p:nvPr/>
        </p:nvSpPr>
        <p:spPr>
          <a:xfrm>
            <a:off x="676656" y="457200"/>
            <a:ext cx="10844784" cy="0"/>
          </a:xfrm>
          <a:prstGeom prst="line">
            <a:avLst/>
          </a:prstGeom>
          <a:noFill/>
          <a:ln w="8890">
            <a:solidFill>
              <a:srgbClr val="304861"/>
            </a:solidFill>
            <a:prstDash val="solid"/>
          </a:ln>
        </p:spPr>
      </p:sp>
      <p:sp>
        <p:nvSpPr>
          <p:cNvPr id="4" name="Text 2"/>
          <p:cNvSpPr/>
          <p:nvPr/>
        </p:nvSpPr>
        <p:spPr>
          <a:xfrm>
            <a:off x="676656" y="182880"/>
            <a:ext cx="4572000" cy="201168"/>
          </a:xfrm>
          <a:prstGeom prst="rect">
            <a:avLst/>
          </a:prstGeom>
          <a:noFill/>
          <a:ln/>
        </p:spPr>
        <p:txBody>
          <a:bodyPr wrap="square" lIns="0" tIns="0" rIns="0" bIns="0" rtlCol="0" anchor="ctr">
            <a:normAutofit/>
          </a:bodyPr>
          <a:lstStyle/>
          <a:p>
            <a:pPr indent="0" marL="0">
              <a:buNone/>
            </a:pPr>
            <a:r>
              <a:rPr lang="en-US" sz="970" b="1" spc="120" kern="0" dirty="0">
                <a:solidFill>
                  <a:srgbClr val="AFBED0"/>
                </a:solidFill>
                <a:latin typeface="Aptos" pitchFamily="34" charset="0"/>
                <a:ea typeface="Aptos" pitchFamily="34" charset="-122"/>
                <a:cs typeface="Aptos" pitchFamily="34" charset="-120"/>
              </a:rPr>
              <a:t>DS 340W  /  GROUP 2</a:t>
            </a:r>
            <a:endParaRPr lang="en-US" sz="970" dirty="0"/>
          </a:p>
        </p:txBody>
      </p:sp>
      <p:sp>
        <p:nvSpPr>
          <p:cNvPr id="5" name="Text 3"/>
          <p:cNvSpPr/>
          <p:nvPr/>
        </p:nvSpPr>
        <p:spPr>
          <a:xfrm>
            <a:off x="9235440" y="201168"/>
            <a:ext cx="2212848" cy="164592"/>
          </a:xfrm>
          <a:prstGeom prst="rect">
            <a:avLst/>
          </a:prstGeom>
          <a:noFill/>
          <a:ln/>
        </p:spPr>
        <p:txBody>
          <a:bodyPr wrap="square" lIns="0" tIns="0" rIns="0" bIns="0" rtlCol="0" anchor="ctr">
            <a:normAutofit/>
          </a:bodyPr>
          <a:lstStyle/>
          <a:p>
            <a:pPr algn="r" indent="0" marL="0">
              <a:buNone/>
            </a:pPr>
            <a:r>
              <a:rPr lang="en-US" sz="920" b="1" dirty="0">
                <a:solidFill>
                  <a:srgbClr val="AFBED0"/>
                </a:solidFill>
                <a:latin typeface="Aptos" pitchFamily="34" charset="0"/>
                <a:ea typeface="Aptos" pitchFamily="34" charset="-122"/>
                <a:cs typeface="Aptos" pitchFamily="34" charset="-120"/>
              </a:rPr>
              <a:t>PART 2  /  NEXT STEPS</a:t>
            </a:r>
            <a:endParaRPr lang="en-US" sz="920" dirty="0"/>
          </a:p>
        </p:txBody>
      </p:sp>
      <p:sp>
        <p:nvSpPr>
          <p:cNvPr id="6" name="Shape 4"/>
          <p:cNvSpPr/>
          <p:nvPr/>
        </p:nvSpPr>
        <p:spPr>
          <a:xfrm>
            <a:off x="676656" y="6382512"/>
            <a:ext cx="10853928" cy="0"/>
          </a:xfrm>
          <a:prstGeom prst="line">
            <a:avLst/>
          </a:prstGeom>
          <a:noFill/>
          <a:ln w="8890">
            <a:solidFill>
              <a:srgbClr val="304861"/>
            </a:solidFill>
            <a:prstDash val="solid"/>
          </a:ln>
        </p:spPr>
      </p:sp>
      <p:sp>
        <p:nvSpPr>
          <p:cNvPr id="7" name="Text 5"/>
          <p:cNvSpPr/>
          <p:nvPr/>
        </p:nvSpPr>
        <p:spPr>
          <a:xfrm>
            <a:off x="694944" y="6519672"/>
            <a:ext cx="1188720" cy="155448"/>
          </a:xfrm>
          <a:prstGeom prst="rect">
            <a:avLst/>
          </a:prstGeom>
          <a:noFill/>
          <a:ln/>
        </p:spPr>
        <p:txBody>
          <a:bodyPr wrap="square" lIns="0" tIns="0" rIns="0" bIns="0" rtlCol="0" anchor="ctr">
            <a:normAutofit/>
          </a:bodyPr>
          <a:lstStyle/>
          <a:p>
            <a:pPr indent="0" marL="0">
              <a:buNone/>
            </a:pPr>
            <a:r>
              <a:rPr lang="en-US" sz="1000" b="1" dirty="0">
                <a:solidFill>
                  <a:srgbClr val="AFBED0"/>
                </a:solidFill>
                <a:latin typeface="Aptos" pitchFamily="34" charset="0"/>
                <a:ea typeface="Aptos" pitchFamily="34" charset="-122"/>
                <a:cs typeface="Aptos" pitchFamily="34" charset="-120"/>
              </a:rPr>
              <a:t>11 / 11</a:t>
            </a:r>
            <a:endParaRPr lang="en-US" sz="1000" dirty="0"/>
          </a:p>
        </p:txBody>
      </p:sp>
      <p:sp>
        <p:nvSpPr>
          <p:cNvPr id="8" name="Text 6"/>
          <p:cNvSpPr/>
          <p:nvPr/>
        </p:nvSpPr>
        <p:spPr>
          <a:xfrm>
            <a:off x="8503920" y="6510528"/>
            <a:ext cx="2971800" cy="173736"/>
          </a:xfrm>
          <a:prstGeom prst="rect">
            <a:avLst/>
          </a:prstGeom>
          <a:noFill/>
          <a:ln/>
        </p:spPr>
        <p:txBody>
          <a:bodyPr wrap="square" lIns="0" tIns="0" rIns="0" bIns="0" rtlCol="0" anchor="ctr">
            <a:normAutofit/>
          </a:bodyPr>
          <a:lstStyle/>
          <a:p>
            <a:pPr algn="r" indent="0" marL="0">
              <a:buNone/>
            </a:pPr>
            <a:r>
              <a:rPr lang="en-US" sz="970" b="1" dirty="0">
                <a:solidFill>
                  <a:srgbClr val="AFBED0"/>
                </a:solidFill>
                <a:latin typeface="Aptos" pitchFamily="34" charset="0"/>
                <a:ea typeface="Aptos" pitchFamily="34" charset="-122"/>
                <a:cs typeface="Aptos" pitchFamily="34" charset="-120"/>
              </a:rPr>
              <a:t>SPEAKER  JUNBO</a:t>
            </a:r>
            <a:endParaRPr lang="en-US" sz="970" dirty="0"/>
          </a:p>
        </p:txBody>
      </p:sp>
      <p:sp>
        <p:nvSpPr>
          <p:cNvPr id="10" name="Text 7"/>
          <p:cNvSpPr/>
          <p:nvPr/>
        </p:nvSpPr>
        <p:spPr>
          <a:xfrm>
            <a:off x="658368" y="621792"/>
            <a:ext cx="6400800" cy="201168"/>
          </a:xfrm>
          <a:prstGeom prst="rect">
            <a:avLst/>
          </a:prstGeom>
          <a:noFill/>
          <a:ln/>
        </p:spPr>
        <p:txBody>
          <a:bodyPr wrap="square" lIns="0" tIns="0" rIns="0" bIns="0" rtlCol="0" anchor="ctr">
            <a:normAutofit/>
          </a:bodyPr>
          <a:lstStyle/>
          <a:p>
            <a:pPr indent="0" marL="0">
              <a:buNone/>
            </a:pPr>
            <a:r>
              <a:rPr lang="en-US" sz="970" b="1" spc="120" kern="0" dirty="0">
                <a:solidFill>
                  <a:srgbClr val="47DAC5"/>
                </a:solidFill>
                <a:latin typeface="Aptos" pitchFamily="34" charset="0"/>
                <a:ea typeface="Aptos" pitchFamily="34" charset="-122"/>
                <a:cs typeface="Aptos" pitchFamily="34" charset="-120"/>
              </a:rPr>
              <a:t>NEXT STEPS AND TAKEAWAY</a:t>
            </a:r>
            <a:endParaRPr lang="en-US" sz="970" dirty="0"/>
          </a:p>
        </p:txBody>
      </p:sp>
      <p:sp>
        <p:nvSpPr>
          <p:cNvPr id="11" name="Text 8"/>
          <p:cNvSpPr/>
          <p:nvPr/>
        </p:nvSpPr>
        <p:spPr>
          <a:xfrm>
            <a:off x="658368" y="941832"/>
            <a:ext cx="10881360" cy="594360"/>
          </a:xfrm>
          <a:prstGeom prst="rect">
            <a:avLst/>
          </a:prstGeom>
          <a:noFill/>
          <a:ln/>
        </p:spPr>
        <p:txBody>
          <a:bodyPr wrap="square" lIns="0" tIns="0" rIns="0" bIns="0" rtlCol="0" anchor="ctr">
            <a:normAutofit/>
          </a:bodyPr>
          <a:lstStyle/>
          <a:p>
            <a:pPr indent="0" marL="0">
              <a:buNone/>
            </a:pPr>
            <a:r>
              <a:rPr lang="en-US" sz="3100" b="1" dirty="0">
                <a:solidFill>
                  <a:srgbClr val="F4F9FC"/>
                </a:solidFill>
                <a:latin typeface="Aptos" pitchFamily="34" charset="0"/>
                <a:ea typeface="Aptos" pitchFamily="34" charset="-122"/>
                <a:cs typeface="Aptos" pitchFamily="34" charset="-120"/>
              </a:rPr>
              <a:t>From working code to measured evidence.</a:t>
            </a:r>
            <a:endParaRPr lang="en-US" sz="3100" dirty="0"/>
          </a:p>
        </p:txBody>
      </p:sp>
      <p:sp>
        <p:nvSpPr>
          <p:cNvPr id="12" name="Text 9"/>
          <p:cNvSpPr/>
          <p:nvPr/>
        </p:nvSpPr>
        <p:spPr>
          <a:xfrm>
            <a:off x="676656" y="1627632"/>
            <a:ext cx="10698480" cy="585216"/>
          </a:xfrm>
          <a:prstGeom prst="rect">
            <a:avLst/>
          </a:prstGeom>
          <a:noFill/>
          <a:ln/>
        </p:spPr>
        <p:txBody>
          <a:bodyPr wrap="square" lIns="0" tIns="0" rIns="0" bIns="0" rtlCol="0" anchor="t">
            <a:normAutofit/>
          </a:bodyPr>
          <a:lstStyle/>
          <a:p>
            <a:pPr indent="0" marL="0">
              <a:buNone/>
            </a:pPr>
            <a:r>
              <a:rPr lang="en-US" sz="1630" dirty="0">
                <a:solidFill>
                  <a:srgbClr val="AFBED0"/>
                </a:solidFill>
                <a:latin typeface="Aptos" pitchFamily="34" charset="0"/>
                <a:ea typeface="Aptos" pitchFamily="34" charset="-122"/>
                <a:cs typeface="Aptos" pitchFamily="34" charset="-120"/>
              </a:rPr>
              <a:t>The value of our project will come from a clear, fair comparison.</a:t>
            </a:r>
            <a:endParaRPr lang="en-US" sz="1630" dirty="0"/>
          </a:p>
        </p:txBody>
      </p:sp>
      <p:sp>
        <p:nvSpPr>
          <p:cNvPr id="13" name="Shape 10"/>
          <p:cNvSpPr/>
          <p:nvPr/>
        </p:nvSpPr>
        <p:spPr>
          <a:xfrm>
            <a:off x="731520" y="2423160"/>
            <a:ext cx="5358384" cy="859536"/>
          </a:xfrm>
          <a:prstGeom prst="roundRect">
            <a:avLst>
              <a:gd name="adj" fmla="val 12766"/>
            </a:avLst>
          </a:prstGeom>
          <a:solidFill>
            <a:srgbClr val="14273F"/>
          </a:solidFill>
          <a:ln w="10795">
            <a:solidFill>
              <a:srgbClr val="304861"/>
            </a:solidFill>
            <a:prstDash val="solid"/>
          </a:ln>
        </p:spPr>
      </p:sp>
      <p:sp>
        <p:nvSpPr>
          <p:cNvPr id="14" name="Text 11"/>
          <p:cNvSpPr/>
          <p:nvPr/>
        </p:nvSpPr>
        <p:spPr>
          <a:xfrm>
            <a:off x="950976" y="2651760"/>
            <a:ext cx="457200" cy="301752"/>
          </a:xfrm>
          <a:prstGeom prst="rect">
            <a:avLst/>
          </a:prstGeom>
          <a:noFill/>
          <a:ln/>
        </p:spPr>
        <p:txBody>
          <a:bodyPr wrap="square" lIns="0" tIns="0" rIns="0" bIns="0" rtlCol="0" anchor="ctr">
            <a:normAutofit/>
          </a:bodyPr>
          <a:lstStyle/>
          <a:p>
            <a:pPr indent="0" marL="0">
              <a:buNone/>
            </a:pPr>
            <a:r>
              <a:rPr lang="en-US" sz="1700" b="1" dirty="0">
                <a:solidFill>
                  <a:srgbClr val="47DAC5"/>
                </a:solidFill>
                <a:latin typeface="Aptos" pitchFamily="34" charset="0"/>
                <a:ea typeface="Aptos" pitchFamily="34" charset="-122"/>
                <a:cs typeface="Aptos" pitchFamily="34" charset="-120"/>
              </a:rPr>
              <a:t>01</a:t>
            </a:r>
            <a:endParaRPr lang="en-US" sz="1700" dirty="0"/>
          </a:p>
        </p:txBody>
      </p:sp>
      <p:sp>
        <p:nvSpPr>
          <p:cNvPr id="15" name="Text 12"/>
          <p:cNvSpPr/>
          <p:nvPr/>
        </p:nvSpPr>
        <p:spPr>
          <a:xfrm>
            <a:off x="1527048" y="2624328"/>
            <a:ext cx="4297680" cy="338328"/>
          </a:xfrm>
          <a:prstGeom prst="rect">
            <a:avLst/>
          </a:prstGeom>
          <a:noFill/>
          <a:ln/>
        </p:spPr>
        <p:txBody>
          <a:bodyPr wrap="square" lIns="0" tIns="0" rIns="0" bIns="0" rtlCol="0" anchor="ctr">
            <a:normAutofit/>
          </a:bodyPr>
          <a:lstStyle/>
          <a:p>
            <a:pPr indent="0" marL="0">
              <a:buNone/>
            </a:pPr>
            <a:r>
              <a:rPr lang="en-US" sz="1810" b="1" dirty="0">
                <a:solidFill>
                  <a:srgbClr val="F4F9FC"/>
                </a:solidFill>
                <a:latin typeface="Aptos" pitchFamily="34" charset="0"/>
                <a:ea typeface="Aptos" pitchFamily="34" charset="-122"/>
                <a:cs typeface="Aptos" pitchFamily="34" charset="-120"/>
              </a:rPr>
              <a:t>Finish full training</a:t>
            </a:r>
            <a:endParaRPr lang="en-US" sz="1810" dirty="0"/>
          </a:p>
        </p:txBody>
      </p:sp>
      <p:sp>
        <p:nvSpPr>
          <p:cNvPr id="16" name="Shape 13"/>
          <p:cNvSpPr/>
          <p:nvPr/>
        </p:nvSpPr>
        <p:spPr>
          <a:xfrm>
            <a:off x="6419088" y="2423160"/>
            <a:ext cx="5358384" cy="859536"/>
          </a:xfrm>
          <a:prstGeom prst="roundRect">
            <a:avLst>
              <a:gd name="adj" fmla="val 12766"/>
            </a:avLst>
          </a:prstGeom>
          <a:solidFill>
            <a:srgbClr val="14273F"/>
          </a:solidFill>
          <a:ln w="10795">
            <a:solidFill>
              <a:srgbClr val="304861"/>
            </a:solidFill>
            <a:prstDash val="solid"/>
          </a:ln>
        </p:spPr>
      </p:sp>
      <p:sp>
        <p:nvSpPr>
          <p:cNvPr id="17" name="Text 14"/>
          <p:cNvSpPr/>
          <p:nvPr/>
        </p:nvSpPr>
        <p:spPr>
          <a:xfrm>
            <a:off x="6638544" y="2651760"/>
            <a:ext cx="457200" cy="301752"/>
          </a:xfrm>
          <a:prstGeom prst="rect">
            <a:avLst/>
          </a:prstGeom>
          <a:noFill/>
          <a:ln/>
        </p:spPr>
        <p:txBody>
          <a:bodyPr wrap="square" lIns="0" tIns="0" rIns="0" bIns="0" rtlCol="0" anchor="ctr">
            <a:normAutofit/>
          </a:bodyPr>
          <a:lstStyle/>
          <a:p>
            <a:pPr indent="0" marL="0">
              <a:buNone/>
            </a:pPr>
            <a:r>
              <a:rPr lang="en-US" sz="1700" b="1" dirty="0">
                <a:solidFill>
                  <a:srgbClr val="47DAC5"/>
                </a:solidFill>
                <a:latin typeface="Aptos" pitchFamily="34" charset="0"/>
                <a:ea typeface="Aptos" pitchFamily="34" charset="-122"/>
                <a:cs typeface="Aptos" pitchFamily="34" charset="-120"/>
              </a:rPr>
              <a:t>02</a:t>
            </a:r>
            <a:endParaRPr lang="en-US" sz="1700" dirty="0"/>
          </a:p>
        </p:txBody>
      </p:sp>
      <p:sp>
        <p:nvSpPr>
          <p:cNvPr id="18" name="Text 15"/>
          <p:cNvSpPr/>
          <p:nvPr/>
        </p:nvSpPr>
        <p:spPr>
          <a:xfrm>
            <a:off x="7214616" y="2624328"/>
            <a:ext cx="4297680" cy="338328"/>
          </a:xfrm>
          <a:prstGeom prst="rect">
            <a:avLst/>
          </a:prstGeom>
          <a:noFill/>
          <a:ln/>
        </p:spPr>
        <p:txBody>
          <a:bodyPr wrap="square" lIns="0" tIns="0" rIns="0" bIns="0" rtlCol="0" anchor="ctr">
            <a:normAutofit/>
          </a:bodyPr>
          <a:lstStyle/>
          <a:p>
            <a:pPr indent="0" marL="0">
              <a:buNone/>
            </a:pPr>
            <a:r>
              <a:rPr lang="en-US" sz="1810" b="1" dirty="0">
                <a:solidFill>
                  <a:srgbClr val="F4F9FC"/>
                </a:solidFill>
                <a:latin typeface="Aptos" pitchFamily="34" charset="0"/>
                <a:ea typeface="Aptos" pitchFamily="34" charset="-122"/>
                <a:cs typeface="Aptos" pitchFamily="34" charset="-120"/>
              </a:rPr>
              <a:t>Fit + check Risk Advisor</a:t>
            </a:r>
            <a:endParaRPr lang="en-US" sz="1810" dirty="0"/>
          </a:p>
        </p:txBody>
      </p:sp>
      <p:sp>
        <p:nvSpPr>
          <p:cNvPr id="19" name="Shape 16"/>
          <p:cNvSpPr/>
          <p:nvPr/>
        </p:nvSpPr>
        <p:spPr>
          <a:xfrm>
            <a:off x="731520" y="3465576"/>
            <a:ext cx="5358384" cy="859536"/>
          </a:xfrm>
          <a:prstGeom prst="roundRect">
            <a:avLst>
              <a:gd name="adj" fmla="val 12766"/>
            </a:avLst>
          </a:prstGeom>
          <a:solidFill>
            <a:srgbClr val="14273F"/>
          </a:solidFill>
          <a:ln w="10795">
            <a:solidFill>
              <a:srgbClr val="304861"/>
            </a:solidFill>
            <a:prstDash val="solid"/>
          </a:ln>
        </p:spPr>
      </p:sp>
      <p:sp>
        <p:nvSpPr>
          <p:cNvPr id="20" name="Text 17"/>
          <p:cNvSpPr/>
          <p:nvPr/>
        </p:nvSpPr>
        <p:spPr>
          <a:xfrm>
            <a:off x="950976" y="3694176"/>
            <a:ext cx="457200" cy="301752"/>
          </a:xfrm>
          <a:prstGeom prst="rect">
            <a:avLst/>
          </a:prstGeom>
          <a:noFill/>
          <a:ln/>
        </p:spPr>
        <p:txBody>
          <a:bodyPr wrap="square" lIns="0" tIns="0" rIns="0" bIns="0" rtlCol="0" anchor="ctr">
            <a:normAutofit/>
          </a:bodyPr>
          <a:lstStyle/>
          <a:p>
            <a:pPr indent="0" marL="0">
              <a:buNone/>
            </a:pPr>
            <a:r>
              <a:rPr lang="en-US" sz="1700" b="1" dirty="0">
                <a:solidFill>
                  <a:srgbClr val="47DAC5"/>
                </a:solidFill>
                <a:latin typeface="Aptos" pitchFamily="34" charset="0"/>
                <a:ea typeface="Aptos" pitchFamily="34" charset="-122"/>
                <a:cs typeface="Aptos" pitchFamily="34" charset="-120"/>
              </a:rPr>
              <a:t>03</a:t>
            </a:r>
            <a:endParaRPr lang="en-US" sz="1700" dirty="0"/>
          </a:p>
        </p:txBody>
      </p:sp>
      <p:sp>
        <p:nvSpPr>
          <p:cNvPr id="21" name="Text 18"/>
          <p:cNvSpPr/>
          <p:nvPr/>
        </p:nvSpPr>
        <p:spPr>
          <a:xfrm>
            <a:off x="1527048" y="3666744"/>
            <a:ext cx="4297680" cy="338328"/>
          </a:xfrm>
          <a:prstGeom prst="rect">
            <a:avLst/>
          </a:prstGeom>
          <a:noFill/>
          <a:ln/>
        </p:spPr>
        <p:txBody>
          <a:bodyPr wrap="square" lIns="0" tIns="0" rIns="0" bIns="0" rtlCol="0" anchor="ctr">
            <a:normAutofit/>
          </a:bodyPr>
          <a:lstStyle/>
          <a:p>
            <a:pPr indent="0" marL="0">
              <a:buNone/>
            </a:pPr>
            <a:r>
              <a:rPr lang="en-US" sz="1810" b="1" dirty="0">
                <a:solidFill>
                  <a:srgbClr val="F4F9FC"/>
                </a:solidFill>
                <a:latin typeface="Aptos" pitchFamily="34" charset="0"/>
                <a:ea typeface="Aptos" pitchFamily="34" charset="-122"/>
                <a:cs typeface="Aptos" pitchFamily="34" charset="-120"/>
              </a:rPr>
              <a:t>Run severity sweep</a:t>
            </a:r>
            <a:endParaRPr lang="en-US" sz="1810" dirty="0"/>
          </a:p>
        </p:txBody>
      </p:sp>
      <p:sp>
        <p:nvSpPr>
          <p:cNvPr id="22" name="Shape 19"/>
          <p:cNvSpPr/>
          <p:nvPr/>
        </p:nvSpPr>
        <p:spPr>
          <a:xfrm>
            <a:off x="6419088" y="3465576"/>
            <a:ext cx="5358384" cy="859536"/>
          </a:xfrm>
          <a:prstGeom prst="roundRect">
            <a:avLst>
              <a:gd name="adj" fmla="val 12766"/>
            </a:avLst>
          </a:prstGeom>
          <a:solidFill>
            <a:srgbClr val="14273F"/>
          </a:solidFill>
          <a:ln w="10795">
            <a:solidFill>
              <a:srgbClr val="304861"/>
            </a:solidFill>
            <a:prstDash val="solid"/>
          </a:ln>
        </p:spPr>
      </p:sp>
      <p:sp>
        <p:nvSpPr>
          <p:cNvPr id="23" name="Text 20"/>
          <p:cNvSpPr/>
          <p:nvPr/>
        </p:nvSpPr>
        <p:spPr>
          <a:xfrm>
            <a:off x="6638544" y="3694176"/>
            <a:ext cx="457200" cy="301752"/>
          </a:xfrm>
          <a:prstGeom prst="rect">
            <a:avLst/>
          </a:prstGeom>
          <a:noFill/>
          <a:ln/>
        </p:spPr>
        <p:txBody>
          <a:bodyPr wrap="square" lIns="0" tIns="0" rIns="0" bIns="0" rtlCol="0" anchor="ctr">
            <a:normAutofit/>
          </a:bodyPr>
          <a:lstStyle/>
          <a:p>
            <a:pPr indent="0" marL="0">
              <a:buNone/>
            </a:pPr>
            <a:r>
              <a:rPr lang="en-US" sz="1700" b="1" dirty="0">
                <a:solidFill>
                  <a:srgbClr val="47DAC5"/>
                </a:solidFill>
                <a:latin typeface="Aptos" pitchFamily="34" charset="0"/>
                <a:ea typeface="Aptos" pitchFamily="34" charset="-122"/>
                <a:cs typeface="Aptos" pitchFamily="34" charset="-120"/>
              </a:rPr>
              <a:t>04</a:t>
            </a:r>
            <a:endParaRPr lang="en-US" sz="1700" dirty="0"/>
          </a:p>
        </p:txBody>
      </p:sp>
      <p:sp>
        <p:nvSpPr>
          <p:cNvPr id="24" name="Text 21"/>
          <p:cNvSpPr/>
          <p:nvPr/>
        </p:nvSpPr>
        <p:spPr>
          <a:xfrm>
            <a:off x="7214616" y="3666744"/>
            <a:ext cx="4297680" cy="338328"/>
          </a:xfrm>
          <a:prstGeom prst="rect">
            <a:avLst/>
          </a:prstGeom>
          <a:noFill/>
          <a:ln/>
        </p:spPr>
        <p:txBody>
          <a:bodyPr wrap="square" lIns="0" tIns="0" rIns="0" bIns="0" rtlCol="0" anchor="ctr">
            <a:normAutofit/>
          </a:bodyPr>
          <a:lstStyle/>
          <a:p>
            <a:pPr indent="0" marL="0">
              <a:buNone/>
            </a:pPr>
            <a:r>
              <a:rPr lang="en-US" sz="1810" b="1" dirty="0">
                <a:solidFill>
                  <a:srgbClr val="F4F9FC"/>
                </a:solidFill>
                <a:latin typeface="Aptos" pitchFamily="34" charset="0"/>
                <a:ea typeface="Aptos" pitchFamily="34" charset="-122"/>
                <a:cs typeface="Aptos" pitchFamily="34" charset="-120"/>
              </a:rPr>
              <a:t>Publish results and code</a:t>
            </a:r>
            <a:endParaRPr lang="en-US" sz="1810" dirty="0"/>
          </a:p>
        </p:txBody>
      </p:sp>
      <p:sp>
        <p:nvSpPr>
          <p:cNvPr id="25" name="Shape 22"/>
          <p:cNvSpPr/>
          <p:nvPr/>
        </p:nvSpPr>
        <p:spPr>
          <a:xfrm>
            <a:off x="740664" y="4736592"/>
            <a:ext cx="10725912" cy="859536"/>
          </a:xfrm>
          <a:prstGeom prst="roundRect">
            <a:avLst>
              <a:gd name="adj" fmla="val 19149"/>
            </a:avLst>
          </a:prstGeom>
          <a:solidFill>
            <a:srgbClr val="111F34"/>
          </a:solidFill>
          <a:ln w="10795">
            <a:solidFill>
              <a:srgbClr val="47DAC5"/>
            </a:solidFill>
            <a:prstDash val="solid"/>
          </a:ln>
        </p:spPr>
      </p:sp>
      <p:sp>
        <p:nvSpPr>
          <p:cNvPr id="26" name="Text 23"/>
          <p:cNvSpPr/>
          <p:nvPr/>
        </p:nvSpPr>
        <p:spPr>
          <a:xfrm>
            <a:off x="1088136" y="4928616"/>
            <a:ext cx="9994392" cy="493776"/>
          </a:xfrm>
          <a:prstGeom prst="rect">
            <a:avLst/>
          </a:prstGeom>
          <a:noFill/>
          <a:ln/>
        </p:spPr>
        <p:txBody>
          <a:bodyPr wrap="square" lIns="0" tIns="0" rIns="0" bIns="0" rtlCol="0" anchor="ctr">
            <a:normAutofit/>
          </a:bodyPr>
          <a:lstStyle/>
          <a:p>
            <a:pPr algn="ctr" indent="0" marL="0">
              <a:buNone/>
            </a:pPr>
            <a:r>
              <a:rPr lang="en-US" sz="2300" b="1" dirty="0">
                <a:solidFill>
                  <a:srgbClr val="F4F9FC"/>
                </a:solidFill>
                <a:latin typeface="Aptos" pitchFamily="34" charset="0"/>
                <a:ea typeface="Aptos" pitchFamily="34" charset="-122"/>
                <a:cs typeface="Aptos" pitchFamily="34" charset="-120"/>
              </a:rPr>
              <a:t>Trustworthy AI should know when it may be wrong.</a:t>
            </a:r>
            <a:endParaRPr lang="en-US" sz="2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426"/>
        </a:solidFill>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47DAC5"/>
          </a:solidFill>
          <a:ln w="12700">
            <a:solidFill>
              <a:srgbClr val="47DAC5">
                <a:alpha val="0"/>
              </a:srgbClr>
            </a:solidFill>
            <a:prstDash val="solid"/>
          </a:ln>
        </p:spPr>
      </p:sp>
      <p:sp>
        <p:nvSpPr>
          <p:cNvPr id="3" name="Text 1"/>
          <p:cNvSpPr/>
          <p:nvPr/>
        </p:nvSpPr>
        <p:spPr>
          <a:xfrm>
            <a:off x="731520" y="777240"/>
            <a:ext cx="5486400" cy="201168"/>
          </a:xfrm>
          <a:prstGeom prst="rect">
            <a:avLst/>
          </a:prstGeom>
          <a:noFill/>
          <a:ln/>
        </p:spPr>
        <p:txBody>
          <a:bodyPr wrap="square" lIns="0" tIns="0" rIns="0" bIns="0" rtlCol="0" anchor="ctr">
            <a:normAutofit/>
          </a:bodyPr>
          <a:lstStyle/>
          <a:p>
            <a:pPr indent="0" marL="0">
              <a:buNone/>
            </a:pPr>
            <a:r>
              <a:rPr lang="en-US" sz="970" b="1" spc="120" kern="0" dirty="0">
                <a:solidFill>
                  <a:srgbClr val="AFBED0"/>
                </a:solidFill>
                <a:latin typeface="Aptos" pitchFamily="34" charset="0"/>
                <a:ea typeface="Aptos" pitchFamily="34" charset="-122"/>
                <a:cs typeface="Aptos" pitchFamily="34" charset="-120"/>
              </a:rPr>
              <a:t>BACKUP  /  NOT SPOKEN</a:t>
            </a:r>
            <a:endParaRPr lang="en-US" sz="970" dirty="0"/>
          </a:p>
        </p:txBody>
      </p:sp>
      <p:sp>
        <p:nvSpPr>
          <p:cNvPr id="4" name="Text 2"/>
          <p:cNvSpPr/>
          <p:nvPr/>
        </p:nvSpPr>
        <p:spPr>
          <a:xfrm>
            <a:off x="731520" y="1234440"/>
            <a:ext cx="10607040" cy="566928"/>
          </a:xfrm>
          <a:prstGeom prst="rect">
            <a:avLst/>
          </a:prstGeom>
          <a:noFill/>
          <a:ln/>
        </p:spPr>
        <p:txBody>
          <a:bodyPr wrap="square" lIns="0" tIns="0" rIns="0" bIns="0" rtlCol="0" anchor="ctr">
            <a:normAutofit/>
          </a:bodyPr>
          <a:lstStyle/>
          <a:p>
            <a:pPr indent="0" marL="0">
              <a:buNone/>
            </a:pPr>
            <a:r>
              <a:rPr lang="en-US" sz="3400" b="1" dirty="0">
                <a:solidFill>
                  <a:srgbClr val="F4F9FC"/>
                </a:solidFill>
                <a:latin typeface="Aptos" pitchFamily="34" charset="0"/>
                <a:ea typeface="Aptos" pitchFamily="34" charset="-122"/>
                <a:cs typeface="Aptos" pitchFamily="34" charset="-120"/>
              </a:rPr>
              <a:t>References &amp; attribution</a:t>
            </a:r>
            <a:endParaRPr lang="en-US" sz="3400" dirty="0"/>
          </a:p>
        </p:txBody>
      </p:sp>
      <p:sp>
        <p:nvSpPr>
          <p:cNvPr id="5" name="Shape 3"/>
          <p:cNvSpPr/>
          <p:nvPr/>
        </p:nvSpPr>
        <p:spPr>
          <a:xfrm>
            <a:off x="786384" y="2752344"/>
            <a:ext cx="10369296" cy="0"/>
          </a:xfrm>
          <a:prstGeom prst="line">
            <a:avLst/>
          </a:prstGeom>
          <a:noFill/>
          <a:ln w="6985">
            <a:solidFill>
              <a:srgbClr val="304861"/>
            </a:solidFill>
            <a:prstDash val="solid"/>
          </a:ln>
        </p:spPr>
      </p:sp>
      <p:sp>
        <p:nvSpPr>
          <p:cNvPr id="6" name="Text 4"/>
          <p:cNvSpPr/>
          <p:nvPr/>
        </p:nvSpPr>
        <p:spPr>
          <a:xfrm>
            <a:off x="822960" y="2048256"/>
            <a:ext cx="530352" cy="274320"/>
          </a:xfrm>
          <a:prstGeom prst="rect">
            <a:avLst/>
          </a:prstGeom>
          <a:noFill/>
          <a:ln/>
        </p:spPr>
        <p:txBody>
          <a:bodyPr wrap="square" lIns="0" tIns="0" rIns="0" bIns="0" rtlCol="0" anchor="ctr">
            <a:normAutofit/>
          </a:bodyPr>
          <a:lstStyle/>
          <a:p>
            <a:pPr indent="0" marL="0">
              <a:buNone/>
            </a:pPr>
            <a:r>
              <a:rPr lang="en-US" sz="1400" b="1" dirty="0">
                <a:solidFill>
                  <a:srgbClr val="47DAC5"/>
                </a:solidFill>
                <a:latin typeface="Aptos" pitchFamily="34" charset="0"/>
                <a:ea typeface="Aptos" pitchFamily="34" charset="-122"/>
                <a:cs typeface="Aptos" pitchFamily="34" charset="-120"/>
              </a:rPr>
              <a:t>01</a:t>
            </a:r>
            <a:endParaRPr lang="en-US" sz="1400" dirty="0"/>
          </a:p>
        </p:txBody>
      </p:sp>
      <p:sp>
        <p:nvSpPr>
          <p:cNvPr id="7" name="Text 5"/>
          <p:cNvSpPr/>
          <p:nvPr/>
        </p:nvSpPr>
        <p:spPr>
          <a:xfrm>
            <a:off x="1481328" y="2048256"/>
            <a:ext cx="3749040" cy="292608"/>
          </a:xfrm>
          <a:prstGeom prst="rect">
            <a:avLst/>
          </a:prstGeom>
          <a:noFill/>
          <a:ln/>
        </p:spPr>
        <p:txBody>
          <a:bodyPr wrap="square" lIns="0" tIns="0" rIns="0" bIns="0" rtlCol="0" anchor="ctr">
            <a:normAutofit/>
          </a:bodyPr>
          <a:lstStyle/>
          <a:p>
            <a:pPr indent="0" marL="0">
              <a:buNone/>
            </a:pPr>
            <a:r>
              <a:rPr lang="en-US" sz="1710" b="1" dirty="0">
                <a:solidFill>
                  <a:srgbClr val="F4F9FC"/>
                </a:solidFill>
                <a:latin typeface="Aptos" pitchFamily="34" charset="0"/>
                <a:ea typeface="Aptos" pitchFamily="34" charset="-122"/>
                <a:cs typeface="Aptos" pitchFamily="34" charset="-120"/>
              </a:rPr>
              <a:t>Zhu, Cheng, Zhang &amp; Liu</a:t>
            </a:r>
            <a:endParaRPr lang="en-US" sz="1710" dirty="0"/>
          </a:p>
        </p:txBody>
      </p:sp>
      <p:sp>
        <p:nvSpPr>
          <p:cNvPr id="8" name="Text 6"/>
          <p:cNvSpPr/>
          <p:nvPr/>
        </p:nvSpPr>
        <p:spPr>
          <a:xfrm>
            <a:off x="5010912" y="2048256"/>
            <a:ext cx="6181344" cy="566928"/>
          </a:xfrm>
          <a:prstGeom prst="rect">
            <a:avLst/>
          </a:prstGeom>
          <a:noFill/>
          <a:ln/>
        </p:spPr>
        <p:txBody>
          <a:bodyPr wrap="square" lIns="0" tIns="0" rIns="0" bIns="0" rtlCol="0" anchor="ctr">
            <a:normAutofit/>
          </a:bodyPr>
          <a:lstStyle/>
          <a:p>
            <a:pPr indent="0" marL="0">
              <a:buNone/>
            </a:pPr>
            <a:r>
              <a:rPr lang="en-US" sz="1310" dirty="0">
                <a:solidFill>
                  <a:srgbClr val="AFBED0"/>
                </a:solidFill>
                <a:latin typeface="Aptos" pitchFamily="34" charset="0"/>
                <a:ea typeface="Aptos" pitchFamily="34" charset="-122"/>
                <a:cs typeface="Aptos" pitchFamily="34" charset="-120"/>
              </a:rPr>
              <a:t>Rethinking Confidence Calibration for Failure Prediction · ECCV 2022</a:t>
            </a:r>
            <a:endParaRPr lang="en-US" sz="1310" dirty="0"/>
          </a:p>
        </p:txBody>
      </p:sp>
      <p:sp>
        <p:nvSpPr>
          <p:cNvPr id="9" name="Shape 7"/>
          <p:cNvSpPr/>
          <p:nvPr/>
        </p:nvSpPr>
        <p:spPr>
          <a:xfrm>
            <a:off x="786384" y="3584448"/>
            <a:ext cx="10369296" cy="0"/>
          </a:xfrm>
          <a:prstGeom prst="line">
            <a:avLst/>
          </a:prstGeom>
          <a:noFill/>
          <a:ln w="6985">
            <a:solidFill>
              <a:srgbClr val="304861"/>
            </a:solidFill>
            <a:prstDash val="solid"/>
          </a:ln>
        </p:spPr>
      </p:sp>
      <p:sp>
        <p:nvSpPr>
          <p:cNvPr id="10" name="Text 8"/>
          <p:cNvSpPr/>
          <p:nvPr/>
        </p:nvSpPr>
        <p:spPr>
          <a:xfrm>
            <a:off x="822960" y="2880360"/>
            <a:ext cx="530352" cy="274320"/>
          </a:xfrm>
          <a:prstGeom prst="rect">
            <a:avLst/>
          </a:prstGeom>
          <a:noFill/>
          <a:ln/>
        </p:spPr>
        <p:txBody>
          <a:bodyPr wrap="square" lIns="0" tIns="0" rIns="0" bIns="0" rtlCol="0" anchor="ctr">
            <a:normAutofit/>
          </a:bodyPr>
          <a:lstStyle/>
          <a:p>
            <a:pPr indent="0" marL="0">
              <a:buNone/>
            </a:pPr>
            <a:r>
              <a:rPr lang="en-US" sz="1400" b="1" dirty="0">
                <a:solidFill>
                  <a:srgbClr val="47DAC5"/>
                </a:solidFill>
                <a:latin typeface="Aptos" pitchFamily="34" charset="0"/>
                <a:ea typeface="Aptos" pitchFamily="34" charset="-122"/>
                <a:cs typeface="Aptos" pitchFamily="34" charset="-120"/>
              </a:rPr>
              <a:t>02</a:t>
            </a:r>
            <a:endParaRPr lang="en-US" sz="1400" dirty="0"/>
          </a:p>
        </p:txBody>
      </p:sp>
      <p:sp>
        <p:nvSpPr>
          <p:cNvPr id="11" name="Text 9"/>
          <p:cNvSpPr/>
          <p:nvPr/>
        </p:nvSpPr>
        <p:spPr>
          <a:xfrm>
            <a:off x="1481328" y="2880360"/>
            <a:ext cx="3749040" cy="292608"/>
          </a:xfrm>
          <a:prstGeom prst="rect">
            <a:avLst/>
          </a:prstGeom>
          <a:noFill/>
          <a:ln/>
        </p:spPr>
        <p:txBody>
          <a:bodyPr wrap="square" lIns="0" tIns="0" rIns="0" bIns="0" rtlCol="0" anchor="ctr">
            <a:normAutofit/>
          </a:bodyPr>
          <a:lstStyle/>
          <a:p>
            <a:pPr indent="0" marL="0">
              <a:buNone/>
            </a:pPr>
            <a:r>
              <a:rPr lang="en-US" sz="1710" b="1" dirty="0">
                <a:solidFill>
                  <a:srgbClr val="F4F9FC"/>
                </a:solidFill>
                <a:latin typeface="Aptos" pitchFamily="34" charset="0"/>
                <a:ea typeface="Aptos" pitchFamily="34" charset="-122"/>
                <a:cs typeface="Aptos" pitchFamily="34" charset="-120"/>
              </a:rPr>
              <a:t>Lahoti, Gummadi &amp; Weikum</a:t>
            </a:r>
            <a:endParaRPr lang="en-US" sz="1710" dirty="0"/>
          </a:p>
        </p:txBody>
      </p:sp>
      <p:sp>
        <p:nvSpPr>
          <p:cNvPr id="12" name="Text 10"/>
          <p:cNvSpPr/>
          <p:nvPr/>
        </p:nvSpPr>
        <p:spPr>
          <a:xfrm>
            <a:off x="5010912" y="2880360"/>
            <a:ext cx="6181344" cy="566928"/>
          </a:xfrm>
          <a:prstGeom prst="rect">
            <a:avLst/>
          </a:prstGeom>
          <a:noFill/>
          <a:ln/>
        </p:spPr>
        <p:txBody>
          <a:bodyPr wrap="square" lIns="0" tIns="0" rIns="0" bIns="0" rtlCol="0" anchor="ctr">
            <a:normAutofit/>
          </a:bodyPr>
          <a:lstStyle/>
          <a:p>
            <a:pPr indent="0" marL="0">
              <a:buNone/>
            </a:pPr>
            <a:r>
              <a:rPr lang="en-US" sz="1310" dirty="0">
                <a:solidFill>
                  <a:srgbClr val="AFBED0"/>
                </a:solidFill>
                <a:latin typeface="Aptos" pitchFamily="34" charset="0"/>
                <a:ea typeface="Aptos" pitchFamily="34" charset="-122"/>
                <a:cs typeface="Aptos" pitchFamily="34" charset="-120"/>
              </a:rPr>
              <a:t>Responsible Model Deployment via Model-Agnostic Uncertainty Learning · Machine Learning 2023</a:t>
            </a:r>
            <a:endParaRPr lang="en-US" sz="1310" dirty="0"/>
          </a:p>
        </p:txBody>
      </p:sp>
      <p:sp>
        <p:nvSpPr>
          <p:cNvPr id="13" name="Shape 11"/>
          <p:cNvSpPr/>
          <p:nvPr/>
        </p:nvSpPr>
        <p:spPr>
          <a:xfrm>
            <a:off x="786384" y="4416552"/>
            <a:ext cx="10369296" cy="0"/>
          </a:xfrm>
          <a:prstGeom prst="line">
            <a:avLst/>
          </a:prstGeom>
          <a:noFill/>
          <a:ln w="6985">
            <a:solidFill>
              <a:srgbClr val="304861"/>
            </a:solidFill>
            <a:prstDash val="solid"/>
          </a:ln>
        </p:spPr>
      </p:sp>
      <p:sp>
        <p:nvSpPr>
          <p:cNvPr id="14" name="Text 12"/>
          <p:cNvSpPr/>
          <p:nvPr/>
        </p:nvSpPr>
        <p:spPr>
          <a:xfrm>
            <a:off x="822960" y="3712464"/>
            <a:ext cx="530352" cy="274320"/>
          </a:xfrm>
          <a:prstGeom prst="rect">
            <a:avLst/>
          </a:prstGeom>
          <a:noFill/>
          <a:ln/>
        </p:spPr>
        <p:txBody>
          <a:bodyPr wrap="square" lIns="0" tIns="0" rIns="0" bIns="0" rtlCol="0" anchor="ctr">
            <a:normAutofit/>
          </a:bodyPr>
          <a:lstStyle/>
          <a:p>
            <a:pPr indent="0" marL="0">
              <a:buNone/>
            </a:pPr>
            <a:r>
              <a:rPr lang="en-US" sz="1400" b="1" dirty="0">
                <a:solidFill>
                  <a:srgbClr val="47DAC5"/>
                </a:solidFill>
                <a:latin typeface="Aptos" pitchFamily="34" charset="0"/>
                <a:ea typeface="Aptos" pitchFamily="34" charset="-122"/>
                <a:cs typeface="Aptos" pitchFamily="34" charset="-120"/>
              </a:rPr>
              <a:t>03</a:t>
            </a:r>
            <a:endParaRPr lang="en-US" sz="1400" dirty="0"/>
          </a:p>
        </p:txBody>
      </p:sp>
      <p:sp>
        <p:nvSpPr>
          <p:cNvPr id="15" name="Text 13"/>
          <p:cNvSpPr/>
          <p:nvPr/>
        </p:nvSpPr>
        <p:spPr>
          <a:xfrm>
            <a:off x="1481328" y="3712464"/>
            <a:ext cx="3749040" cy="292608"/>
          </a:xfrm>
          <a:prstGeom prst="rect">
            <a:avLst/>
          </a:prstGeom>
          <a:noFill/>
          <a:ln/>
        </p:spPr>
        <p:txBody>
          <a:bodyPr wrap="square" lIns="0" tIns="0" rIns="0" bIns="0" rtlCol="0" anchor="ctr">
            <a:normAutofit/>
          </a:bodyPr>
          <a:lstStyle/>
          <a:p>
            <a:pPr indent="0" marL="0">
              <a:buNone/>
            </a:pPr>
            <a:r>
              <a:rPr lang="en-US" sz="1710" b="1" dirty="0">
                <a:solidFill>
                  <a:srgbClr val="F4F9FC"/>
                </a:solidFill>
                <a:latin typeface="Aptos" pitchFamily="34" charset="0"/>
                <a:ea typeface="Aptos" pitchFamily="34" charset="-122"/>
                <a:cs typeface="Aptos" pitchFamily="34" charset="-120"/>
              </a:rPr>
              <a:t>Vela et al.</a:t>
            </a:r>
            <a:endParaRPr lang="en-US" sz="1710" dirty="0"/>
          </a:p>
        </p:txBody>
      </p:sp>
      <p:sp>
        <p:nvSpPr>
          <p:cNvPr id="16" name="Text 14"/>
          <p:cNvSpPr/>
          <p:nvPr/>
        </p:nvSpPr>
        <p:spPr>
          <a:xfrm>
            <a:off x="5010912" y="3712464"/>
            <a:ext cx="6181344" cy="566928"/>
          </a:xfrm>
          <a:prstGeom prst="rect">
            <a:avLst/>
          </a:prstGeom>
          <a:noFill/>
          <a:ln/>
        </p:spPr>
        <p:txBody>
          <a:bodyPr wrap="square" lIns="0" tIns="0" rIns="0" bIns="0" rtlCol="0" anchor="ctr">
            <a:normAutofit/>
          </a:bodyPr>
          <a:lstStyle/>
          <a:p>
            <a:pPr indent="0" marL="0">
              <a:buNone/>
            </a:pPr>
            <a:r>
              <a:rPr lang="en-US" sz="1310" dirty="0">
                <a:solidFill>
                  <a:srgbClr val="AFBED0"/>
                </a:solidFill>
                <a:latin typeface="Aptos" pitchFamily="34" charset="0"/>
                <a:ea typeface="Aptos" pitchFamily="34" charset="-122"/>
                <a:cs typeface="Aptos" pitchFamily="34" charset="-120"/>
              </a:rPr>
              <a:t>Temporal Quality Degradation in AI Models · Scientific Reports 2022</a:t>
            </a:r>
            <a:endParaRPr lang="en-US" sz="1310" dirty="0"/>
          </a:p>
        </p:txBody>
      </p:sp>
      <p:sp>
        <p:nvSpPr>
          <p:cNvPr id="17" name="Shape 15"/>
          <p:cNvSpPr/>
          <p:nvPr/>
        </p:nvSpPr>
        <p:spPr>
          <a:xfrm>
            <a:off x="786384" y="5248656"/>
            <a:ext cx="10369296" cy="0"/>
          </a:xfrm>
          <a:prstGeom prst="line">
            <a:avLst/>
          </a:prstGeom>
          <a:noFill/>
          <a:ln w="6985">
            <a:solidFill>
              <a:srgbClr val="304861"/>
            </a:solidFill>
            <a:prstDash val="solid"/>
          </a:ln>
        </p:spPr>
      </p:sp>
      <p:sp>
        <p:nvSpPr>
          <p:cNvPr id="18" name="Text 16"/>
          <p:cNvSpPr/>
          <p:nvPr/>
        </p:nvSpPr>
        <p:spPr>
          <a:xfrm>
            <a:off x="822960" y="4544568"/>
            <a:ext cx="530352" cy="274320"/>
          </a:xfrm>
          <a:prstGeom prst="rect">
            <a:avLst/>
          </a:prstGeom>
          <a:noFill/>
          <a:ln/>
        </p:spPr>
        <p:txBody>
          <a:bodyPr wrap="square" lIns="0" tIns="0" rIns="0" bIns="0" rtlCol="0" anchor="ctr">
            <a:normAutofit/>
          </a:bodyPr>
          <a:lstStyle/>
          <a:p>
            <a:pPr indent="0" marL="0">
              <a:buNone/>
            </a:pPr>
            <a:r>
              <a:rPr lang="en-US" sz="1400" b="1" dirty="0">
                <a:solidFill>
                  <a:srgbClr val="47DAC5"/>
                </a:solidFill>
                <a:latin typeface="Aptos" pitchFamily="34" charset="0"/>
                <a:ea typeface="Aptos" pitchFamily="34" charset="-122"/>
                <a:cs typeface="Aptos" pitchFamily="34" charset="-120"/>
              </a:rPr>
              <a:t>04</a:t>
            </a:r>
            <a:endParaRPr lang="en-US" sz="1400" dirty="0"/>
          </a:p>
        </p:txBody>
      </p:sp>
      <p:sp>
        <p:nvSpPr>
          <p:cNvPr id="19" name="Text 17"/>
          <p:cNvSpPr/>
          <p:nvPr/>
        </p:nvSpPr>
        <p:spPr>
          <a:xfrm>
            <a:off x="1481328" y="4544568"/>
            <a:ext cx="3749040" cy="292608"/>
          </a:xfrm>
          <a:prstGeom prst="rect">
            <a:avLst/>
          </a:prstGeom>
          <a:noFill/>
          <a:ln/>
        </p:spPr>
        <p:txBody>
          <a:bodyPr wrap="square" lIns="0" tIns="0" rIns="0" bIns="0" rtlCol="0" anchor="ctr">
            <a:normAutofit/>
          </a:bodyPr>
          <a:lstStyle/>
          <a:p>
            <a:pPr indent="0" marL="0">
              <a:buNone/>
            </a:pPr>
            <a:r>
              <a:rPr lang="en-US" sz="1710" b="1" dirty="0">
                <a:solidFill>
                  <a:srgbClr val="F4F9FC"/>
                </a:solidFill>
                <a:latin typeface="Aptos" pitchFamily="34" charset="0"/>
                <a:ea typeface="Aptos" pitchFamily="34" charset="-122"/>
                <a:cs typeface="Aptos" pitchFamily="34" charset="-120"/>
              </a:rPr>
              <a:t>Group 2 course documents</a:t>
            </a:r>
            <a:endParaRPr lang="en-US" sz="1710" dirty="0"/>
          </a:p>
        </p:txBody>
      </p:sp>
      <p:sp>
        <p:nvSpPr>
          <p:cNvPr id="20" name="Text 18"/>
          <p:cNvSpPr/>
          <p:nvPr/>
        </p:nvSpPr>
        <p:spPr>
          <a:xfrm>
            <a:off x="5010912" y="4544568"/>
            <a:ext cx="6181344" cy="566928"/>
          </a:xfrm>
          <a:prstGeom prst="rect">
            <a:avLst/>
          </a:prstGeom>
          <a:noFill/>
          <a:ln/>
        </p:spPr>
        <p:txBody>
          <a:bodyPr wrap="square" lIns="0" tIns="0" rIns="0" bIns="0" rtlCol="0" anchor="ctr">
            <a:normAutofit/>
          </a:bodyPr>
          <a:lstStyle/>
          <a:p>
            <a:pPr indent="0" marL="0">
              <a:buNone/>
            </a:pPr>
            <a:r>
              <a:rPr lang="en-US" sz="1310" dirty="0">
                <a:solidFill>
                  <a:srgbClr val="AFBED0"/>
                </a:solidFill>
                <a:latin typeface="Aptos" pitchFamily="34" charset="0"/>
                <a:ea typeface="Aptos" pitchFamily="34" charset="-122"/>
                <a:cs typeface="Aptos" pitchFamily="34" charset="-120"/>
              </a:rPr>
              <a:t>Parent paper briefs and Code Checkin / Code-Development 3rd Check-In</a:t>
            </a:r>
            <a:endParaRPr lang="en-US" sz="1310" dirty="0"/>
          </a:p>
        </p:txBody>
      </p:sp>
      <p:sp>
        <p:nvSpPr>
          <p:cNvPr id="21" name="Text 19"/>
          <p:cNvSpPr/>
          <p:nvPr/>
        </p:nvSpPr>
        <p:spPr>
          <a:xfrm>
            <a:off x="832104" y="5952744"/>
            <a:ext cx="10424160" cy="320040"/>
          </a:xfrm>
          <a:prstGeom prst="rect">
            <a:avLst/>
          </a:prstGeom>
          <a:noFill/>
          <a:ln/>
        </p:spPr>
        <p:txBody>
          <a:bodyPr wrap="square" lIns="0" tIns="0" rIns="0" bIns="0" rtlCol="0" anchor="ctr">
            <a:normAutofit/>
          </a:bodyPr>
          <a:lstStyle/>
          <a:p>
            <a:pPr indent="0" marL="0">
              <a:buNone/>
            </a:pPr>
            <a:r>
              <a:rPr lang="en-US" sz="1400" b="1" dirty="0">
                <a:solidFill>
                  <a:srgbClr val="F5BE70"/>
                </a:solidFill>
                <a:latin typeface="Aptos" pitchFamily="34" charset="0"/>
                <a:ea typeface="Aptos" pitchFamily="34" charset="-122"/>
                <a:cs typeface="Aptos" pitchFamily="34" charset="-120"/>
              </a:rPr>
              <a:t>Note: Our proposed CIFAR-10-C severity study does not reproduce real-time model aging.</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Penn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Reliable AI Failure Prediction Under Changing Data</dc:title>
  <dc:subject>Midterm: Reliable AI failure prediction</dc:subject>
  <dc:creator>DS 340W Group 2</dc:creator>
  <cp:lastModifiedBy>DS 340W Group 2</cp:lastModifiedBy>
  <cp:revision>1</cp:revision>
  <dcterms:created xsi:type="dcterms:W3CDTF">2026-10-23T02:51:58Z</dcterms:created>
  <dcterms:modified xsi:type="dcterms:W3CDTF">2026-10-23T02:51:58Z</dcterms:modified>
</cp:coreProperties>
</file>